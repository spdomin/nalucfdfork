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18"/>
  </p:notesMasterIdLst>
  <p:handoutMasterIdLst>
    <p:handoutMasterId r:id="rId19"/>
  </p:handoutMasterIdLst>
  <p:sldIdLst>
    <p:sldId id="256" r:id="rId2"/>
    <p:sldId id="1940" r:id="rId3"/>
    <p:sldId id="1986" r:id="rId4"/>
    <p:sldId id="1924" r:id="rId5"/>
    <p:sldId id="1988" r:id="rId6"/>
    <p:sldId id="1925" r:id="rId7"/>
    <p:sldId id="1989" r:id="rId8"/>
    <p:sldId id="1990" r:id="rId9"/>
    <p:sldId id="1991" r:id="rId10"/>
    <p:sldId id="1992" r:id="rId11"/>
    <p:sldId id="1993" r:id="rId12"/>
    <p:sldId id="1995" r:id="rId13"/>
    <p:sldId id="1994" r:id="rId14"/>
    <p:sldId id="1996" r:id="rId15"/>
    <p:sldId id="1997" r:id="rId16"/>
    <p:sldId id="1998" r:id="rId17"/>
  </p:sldIdLst>
  <p:sldSz cx="12192000" cy="6858000"/>
  <p:notesSz cx="6858000" cy="9144000"/>
  <p:embeddedFontLst>
    <p:embeddedFont>
      <p:font typeface="Open Sans" panose="020B0606030504020204" pitchFamily="34" charset="0"/>
      <p:regular r:id="rId20"/>
      <p:bold r:id="rId21"/>
      <p:italic r:id="rId22"/>
      <p:boldItalic r:id="rId23"/>
    </p:embeddedFont>
    <p:embeddedFont>
      <p:font typeface="Open Sans bold" panose="020B0706030804020204" pitchFamily="3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278F097-0A73-434B-97FE-ED3B8A0EF645}">
          <p14:sldIdLst>
            <p14:sldId id="256"/>
            <p14:sldId id="1940"/>
            <p14:sldId id="1986"/>
            <p14:sldId id="1924"/>
            <p14:sldId id="1988"/>
            <p14:sldId id="1925"/>
            <p14:sldId id="1989"/>
            <p14:sldId id="1990"/>
            <p14:sldId id="1991"/>
            <p14:sldId id="1992"/>
            <p14:sldId id="1993"/>
            <p14:sldId id="1995"/>
            <p14:sldId id="1994"/>
            <p14:sldId id="1996"/>
            <p14:sldId id="1997"/>
            <p14:sldId id="199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ott, Sarah Nicole" initials="SSN" lastIdx="5" clrIdx="0">
    <p:extLst>
      <p:ext uri="{19B8F6BF-5375-455C-9EA6-DF929625EA0E}">
        <p15:presenceInfo xmlns:p15="http://schemas.microsoft.com/office/powerpoint/2012/main" userId="S::snscott@sandia.gov::54896aa5-e1a9-4d47-b7f4-07892d7ea3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DD"/>
    <a:srgbClr val="00ACD5"/>
    <a:srgbClr val="339A2E"/>
    <a:srgbClr val="1A315D"/>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513" autoAdjust="0"/>
    <p:restoredTop sz="96327" autoAdjust="0"/>
  </p:normalViewPr>
  <p:slideViewPr>
    <p:cSldViewPr snapToGrid="0" showGuides="1">
      <p:cViewPr varScale="1">
        <p:scale>
          <a:sx n="83" d="100"/>
          <a:sy n="83" d="100"/>
        </p:scale>
        <p:origin x="208" y="1064"/>
      </p:cViewPr>
      <p:guideLst/>
    </p:cSldViewPr>
  </p:slideViewPr>
  <p:notesTextViewPr>
    <p:cViewPr>
      <p:scale>
        <a:sx n="85" d="100"/>
        <a:sy n="85" d="100"/>
      </p:scale>
      <p:origin x="0" y="0"/>
    </p:cViewPr>
  </p:notesTextViewPr>
  <p:sorterViewPr>
    <p:cViewPr>
      <p:scale>
        <a:sx n="1" d="1"/>
        <a:sy n="1" d="1"/>
      </p:scale>
      <p:origin x="0" y="0"/>
    </p:cViewPr>
  </p:sorterViewPr>
  <p:notesViewPr>
    <p:cSldViewPr snapToGrid="0" showGuides="1">
      <p:cViewPr varScale="1">
        <p:scale>
          <a:sx n="84" d="100"/>
          <a:sy n="84" d="100"/>
        </p:scale>
        <p:origin x="275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Open Sans" panose="020B0606030504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12B77-F7E2-4D68-A9CB-41B8CCDC9B29}" type="datetimeFigureOut">
              <a:rPr lang="en-US" smtClean="0">
                <a:latin typeface="Open Sans" panose="020B0606030504020204" pitchFamily="34" charset="0"/>
              </a:rPr>
              <a:t>4/18/24</a:t>
            </a:fld>
            <a:endParaRPr lang="en-US" dirty="0">
              <a:latin typeface="Open Sans" panose="020B0606030504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Open Sans" panose="020B0606030504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C23351-3FB3-4478-AE7D-BEC670948232}" type="slidenum">
              <a:rPr lang="en-US" smtClean="0">
                <a:latin typeface="Open Sans" panose="020B0606030504020204" pitchFamily="34" charset="0"/>
              </a:rPr>
              <a:t>‹#›</a:t>
            </a:fld>
            <a:endParaRPr lang="en-US" dirty="0">
              <a:latin typeface="Open Sans" panose="020B0606030504020204" pitchFamily="34" charset="0"/>
            </a:endParaRPr>
          </a:p>
        </p:txBody>
      </p:sp>
    </p:spTree>
    <p:extLst>
      <p:ext uri="{BB962C8B-B14F-4D97-AF65-F5344CB8AC3E}">
        <p14:creationId xmlns:p14="http://schemas.microsoft.com/office/powerpoint/2010/main" val="3910645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Open Sans" panose="020B0606030504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Open Sans" panose="020B0606030504020204" pitchFamily="34" charset="0"/>
              </a:defRPr>
            </a:lvl1pPr>
          </a:lstStyle>
          <a:p>
            <a:fld id="{896A8DF4-6A87-4F69-8212-F0A65870B2F2}" type="datetimeFigureOut">
              <a:rPr lang="en-US" smtClean="0"/>
              <a:pPr/>
              <a:t>4/18/24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Open Sans" panose="020B0606030504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Open Sans" panose="020B0606030504020204" pitchFamily="34" charset="0"/>
              </a:defRPr>
            </a:lvl1pPr>
          </a:lstStyle>
          <a:p>
            <a:fld id="{E21A7267-269F-4D26-9F96-B6358A06B982}" type="slidenum">
              <a:rPr lang="en-US" smtClean="0"/>
              <a:pPr/>
              <a:t>‹#›</a:t>
            </a:fld>
            <a:endParaRPr lang="en-US" dirty="0"/>
          </a:p>
        </p:txBody>
      </p:sp>
    </p:spTree>
    <p:extLst>
      <p:ext uri="{BB962C8B-B14F-4D97-AF65-F5344CB8AC3E}">
        <p14:creationId xmlns:p14="http://schemas.microsoft.com/office/powerpoint/2010/main" val="341071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panose="020B0606030504020204" pitchFamily="34" charset="0"/>
        <a:ea typeface="+mn-ea"/>
        <a:cs typeface="+mn-cs"/>
      </a:defRPr>
    </a:lvl1pPr>
    <a:lvl2pPr marL="457200" algn="l" defTabSz="914400" rtl="0" eaLnBrk="1" latinLnBrk="0" hangingPunct="1">
      <a:defRPr sz="1200" b="0" i="0" kern="1200">
        <a:solidFill>
          <a:schemeClr val="tx1"/>
        </a:solidFill>
        <a:latin typeface="Open Sans" panose="020B0606030504020204" pitchFamily="34" charset="0"/>
        <a:ea typeface="+mn-ea"/>
        <a:cs typeface="+mn-cs"/>
      </a:defRPr>
    </a:lvl2pPr>
    <a:lvl3pPr marL="914400" algn="l" defTabSz="914400" rtl="0" eaLnBrk="1" latinLnBrk="0" hangingPunct="1">
      <a:defRPr sz="1200" b="0" i="0" kern="1200">
        <a:solidFill>
          <a:schemeClr val="tx1"/>
        </a:solidFill>
        <a:latin typeface="Open Sans" panose="020B0606030504020204" pitchFamily="34" charset="0"/>
        <a:ea typeface="+mn-ea"/>
        <a:cs typeface="+mn-cs"/>
      </a:defRPr>
    </a:lvl3pPr>
    <a:lvl4pPr marL="1371600" algn="l" defTabSz="914400" rtl="0" eaLnBrk="1" latinLnBrk="0" hangingPunct="1">
      <a:defRPr sz="1200" b="0" i="0" kern="1200">
        <a:solidFill>
          <a:schemeClr val="tx1"/>
        </a:solidFill>
        <a:latin typeface="Open Sans" panose="020B0606030504020204" pitchFamily="34" charset="0"/>
        <a:ea typeface="+mn-ea"/>
        <a:cs typeface="+mn-cs"/>
      </a:defRPr>
    </a:lvl4pPr>
    <a:lvl5pPr marL="1828800" algn="l" defTabSz="914400" rtl="0" eaLnBrk="1" latinLnBrk="0" hangingPunct="1">
      <a:defRPr sz="1200" b="0" i="0" kern="1200">
        <a:solidFill>
          <a:schemeClr val="tx1"/>
        </a:solidFill>
        <a:latin typeface="Open Sans" panose="020B060603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1A7267-269F-4D26-9F96-B6358A06B982}" type="slidenum">
              <a:rPr lang="en-US" smtClean="0"/>
              <a:t>1</a:t>
            </a:fld>
            <a:endParaRPr lang="en-US"/>
          </a:p>
        </p:txBody>
      </p:sp>
    </p:spTree>
    <p:extLst>
      <p:ext uri="{BB962C8B-B14F-4D97-AF65-F5344CB8AC3E}">
        <p14:creationId xmlns:p14="http://schemas.microsoft.com/office/powerpoint/2010/main" val="3850189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energy.gov/downloads/doe-public-access-plan" TargetMode="Externa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0600" y="1575115"/>
            <a:ext cx="6165850" cy="1317382"/>
          </a:xfrm>
        </p:spPr>
        <p:txBody>
          <a:bodyPr anchor="b">
            <a:normAutofit/>
          </a:bodyPr>
          <a:lstStyle>
            <a:lvl1pPr algn="l">
              <a:defRPr sz="3600">
                <a:solidFill>
                  <a:schemeClr val="bg1"/>
                </a:solidFill>
              </a:defRPr>
            </a:lvl1pPr>
          </a:lstStyle>
          <a:p>
            <a:r>
              <a:rPr lang="en-US" dirty="0"/>
              <a:t>CLICK TO ADD TITLE</a:t>
            </a:r>
          </a:p>
        </p:txBody>
      </p:sp>
      <p:sp>
        <p:nvSpPr>
          <p:cNvPr id="3" name="Subtitle 2"/>
          <p:cNvSpPr>
            <a:spLocks noGrp="1"/>
          </p:cNvSpPr>
          <p:nvPr>
            <p:ph type="subTitle" idx="1" hasCustomPrompt="1"/>
          </p:nvPr>
        </p:nvSpPr>
        <p:spPr>
          <a:xfrm>
            <a:off x="990599" y="3719997"/>
            <a:ext cx="5243147" cy="667120"/>
          </a:xfrm>
          <a:prstGeom prst="rect">
            <a:avLst/>
          </a:prstGeom>
        </p:spPr>
        <p:txBody>
          <a:bodyPr anchor="ctr">
            <a:noAutofit/>
          </a:bodyPr>
          <a:lstStyle>
            <a:lvl1pPr marL="0" indent="0" algn="l">
              <a:buNone/>
              <a:defRPr sz="1600" b="0" spc="0">
                <a:solidFill>
                  <a:schemeClr val="tx2">
                    <a:lumMod val="40000"/>
                    <a:lumOff val="6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990600" y="3015777"/>
            <a:ext cx="6165850" cy="378587"/>
          </a:xfrm>
          <a:prstGeom prst="rect">
            <a:avLst/>
          </a:prstGeom>
        </p:spPr>
        <p:txBody>
          <a:bodyPr>
            <a:normAutofit/>
          </a:bodyPr>
          <a:lstStyle>
            <a:lvl1pPr marL="0" indent="0">
              <a:buNone/>
              <a:defRPr sz="2000">
                <a:solidFill>
                  <a:schemeClr val="bg2"/>
                </a:solidFill>
              </a:defRPr>
            </a:lvl1pPr>
          </a:lstStyle>
          <a:p>
            <a:pPr lvl="0"/>
            <a:r>
              <a:rPr lang="en-US" dirty="0"/>
              <a:t>Click to add subtitle</a:t>
            </a:r>
          </a:p>
        </p:txBody>
      </p:sp>
      <p:sp>
        <p:nvSpPr>
          <p:cNvPr id="20" name="Text Placeholder 24">
            <a:extLst>
              <a:ext uri="{FF2B5EF4-FFF2-40B4-BE49-F238E27FC236}">
                <a16:creationId xmlns:a16="http://schemas.microsoft.com/office/drawing/2014/main" id="{58F7247A-244D-6A48-BBB7-15233E751B35}"/>
              </a:ext>
            </a:extLst>
          </p:cNvPr>
          <p:cNvSpPr>
            <a:spLocks noGrp="1"/>
          </p:cNvSpPr>
          <p:nvPr>
            <p:ph type="body" sz="quarter" idx="15" hasCustomPrompt="1"/>
          </p:nvPr>
        </p:nvSpPr>
        <p:spPr>
          <a:xfrm>
            <a:off x="2588669" y="6296999"/>
            <a:ext cx="1828800" cy="136525"/>
          </a:xfrm>
          <a:prstGeom prst="rect">
            <a:avLst/>
          </a:prstGeom>
        </p:spPr>
        <p:txBody>
          <a:bodyPr lIns="0" tIns="0" rIns="0" bIns="0">
            <a:normAutofit/>
          </a:bodyPr>
          <a:lstStyle>
            <a:lvl1pPr marL="0" indent="0" algn="ctr">
              <a:buNone/>
              <a:defRPr sz="8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SAND XXXX-XXXX P</a:t>
            </a:r>
          </a:p>
        </p:txBody>
      </p:sp>
      <p:sp>
        <p:nvSpPr>
          <p:cNvPr id="22" name="Text Placeholder 4">
            <a:extLst>
              <a:ext uri="{FF2B5EF4-FFF2-40B4-BE49-F238E27FC236}">
                <a16:creationId xmlns:a16="http://schemas.microsoft.com/office/drawing/2014/main" id="{28DA6BE7-D5D1-5C4B-8879-A66353A8517F}"/>
              </a:ext>
            </a:extLst>
          </p:cNvPr>
          <p:cNvSpPr>
            <a:spLocks noGrp="1"/>
          </p:cNvSpPr>
          <p:nvPr>
            <p:ph type="body" sz="quarter" idx="22" hasCustomPrompt="1"/>
          </p:nvPr>
        </p:nvSpPr>
        <p:spPr>
          <a:xfrm>
            <a:off x="990600" y="4509920"/>
            <a:ext cx="4297393" cy="667120"/>
          </a:xfrm>
          <a:prstGeom prst="rect">
            <a:avLst/>
          </a:prstGeom>
        </p:spPr>
        <p:txBody>
          <a:bodyPr lIns="0" tIns="0" rIns="0" bIns="0"/>
          <a:lstStyle>
            <a:lvl1pPr>
              <a:buFontTx/>
              <a:buNone/>
              <a:defRPr sz="14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DATE, LOCATION, OR ADDITIONAL CONTENT</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966239" y="479998"/>
            <a:ext cx="1271441" cy="492365"/>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userDrawn="1"/>
        </p:nvSpPr>
        <p:spPr>
          <a:xfrm>
            <a:off x="912699" y="1056087"/>
            <a:ext cx="4710777" cy="307777"/>
          </a:xfrm>
          <a:prstGeom prst="rect">
            <a:avLst/>
          </a:prstGeom>
          <a:noFill/>
        </p:spPr>
        <p:txBody>
          <a:bodyPr wrap="none" rtlCol="0">
            <a:spAutoFit/>
          </a:bodyPr>
          <a:lstStyle/>
          <a:p>
            <a:r>
              <a:rPr lang="en-US" sz="1400" spc="150" baseline="0" dirty="0">
                <a:solidFill>
                  <a:schemeClr val="bg1"/>
                </a:solidFill>
                <a:latin typeface="+mj-lt"/>
              </a:rPr>
              <a:t>Exceptional service in the national interest</a:t>
            </a:r>
          </a:p>
        </p:txBody>
      </p:sp>
      <p:sp>
        <p:nvSpPr>
          <p:cNvPr id="19" name="TextBox 18">
            <a:extLst>
              <a:ext uri="{FF2B5EF4-FFF2-40B4-BE49-F238E27FC236}">
                <a16:creationId xmlns:a16="http://schemas.microsoft.com/office/drawing/2014/main" id="{1D369985-FB39-5049-971A-8BBBC56F2C4E}"/>
              </a:ext>
            </a:extLst>
          </p:cNvPr>
          <p:cNvSpPr txBox="1"/>
          <p:nvPr userDrawn="1"/>
        </p:nvSpPr>
        <p:spPr>
          <a:xfrm>
            <a:off x="4650056" y="5465549"/>
            <a:ext cx="7491081" cy="762516"/>
          </a:xfrm>
          <a:prstGeom prst="rect">
            <a:avLst/>
          </a:prstGeom>
          <a:noFill/>
        </p:spPr>
        <p:txBody>
          <a:bodyPr wrap="square" rtlCol="0">
            <a:spAutoFit/>
          </a:bodyPr>
          <a:lstStyle/>
          <a:p>
            <a:pPr algn="just">
              <a:lnSpc>
                <a:spcPct val="110000"/>
              </a:lnSpc>
            </a:pPr>
            <a:r>
              <a:rPr lang="en-US" sz="800" b="0" i="1" u="none" strike="noStrike" dirty="0">
                <a:solidFill>
                  <a:srgbClr val="000000"/>
                </a:solidFill>
                <a:effectLst/>
                <a:latin typeface="Calibri" panose="020F0502020204030204" pitchFamily="34" charset="0"/>
              </a:rPr>
              <a:t>This presentation has been authored by an employee of National Technology &amp; Engineering Solutions of Sandia, LLC under Contract No. DE-NA0003525 with the U.S. Department of Energy (DOE). The employee owns all right, title and interest in and to the presentation and is solely responsible for its contents. The United States Government retains and the publisher, by accepting the article for publication, acknowledges that the United States Government retains a non-exclusive, paid-up, irrevocable, world-wide license to publish or reproduce the published form of this article or allow others to do so, for United States Government purposes. The DOE will provide public access to these results of federally sponsored research in accordance with the DOE Public Access Plan </a:t>
            </a:r>
            <a:r>
              <a:rPr lang="en-US" sz="800" b="0" i="1" u="sng" strike="noStrike" dirty="0">
                <a:solidFill>
                  <a:srgbClr val="0563C1"/>
                </a:solidFill>
                <a:effectLst/>
                <a:latin typeface="Calibri" panose="020F0502020204030204" pitchFamily="34" charset="0"/>
                <a:hlinkClick r:id="rId4" tooltip="https://www.energy.gov/downloads/doe-public-access-plan"/>
              </a:rPr>
              <a:t>https://www.energy.gov/downloads/doe-public-access-plan</a:t>
            </a:r>
            <a:r>
              <a:rPr lang="en-US" sz="800" b="0" i="1" u="none" strike="noStrike" dirty="0">
                <a:solidFill>
                  <a:srgbClr val="000000"/>
                </a:solidFill>
                <a:effectLst/>
                <a:latin typeface="Calibri" panose="020F0502020204030204" pitchFamily="34" charset="0"/>
              </a:rPr>
              <a:t>.</a:t>
            </a:r>
            <a:endParaRPr lang="en-US" sz="800" b="0" i="0" dirty="0">
              <a:solidFill>
                <a:schemeClr val="bg2">
                  <a:lumMod val="50000"/>
                </a:schemeClr>
              </a:solidFill>
              <a:latin typeface="Open Sans" panose="020B0606030504020204" pitchFamily="34" charset="0"/>
            </a:endParaRPr>
          </a:p>
        </p:txBody>
      </p:sp>
      <p:pic>
        <p:nvPicPr>
          <p:cNvPr id="21" name="Picture 20">
            <a:extLst>
              <a:ext uri="{FF2B5EF4-FFF2-40B4-BE49-F238E27FC236}">
                <a16:creationId xmlns:a16="http://schemas.microsoft.com/office/drawing/2014/main" id="{5ADC7756-6766-FF46-BFDC-7CBCF88C2FB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965815" y="6362720"/>
            <a:ext cx="654939" cy="159193"/>
          </a:xfrm>
          <a:prstGeom prst="rect">
            <a:avLst/>
          </a:prstGeom>
        </p:spPr>
      </p:pic>
      <p:pic>
        <p:nvPicPr>
          <p:cNvPr id="23" name="Picture 22">
            <a:extLst>
              <a:ext uri="{FF2B5EF4-FFF2-40B4-BE49-F238E27FC236}">
                <a16:creationId xmlns:a16="http://schemas.microsoft.com/office/drawing/2014/main" id="{1B5135D8-0C79-D249-B01D-F828C9075378}"/>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1052075" y="6609587"/>
            <a:ext cx="463192" cy="134533"/>
          </a:xfrm>
          <a:prstGeom prst="rect">
            <a:avLst/>
          </a:prstGeom>
        </p:spPr>
      </p:pic>
    </p:spTree>
    <p:extLst>
      <p:ext uri="{BB962C8B-B14F-4D97-AF65-F5344CB8AC3E}">
        <p14:creationId xmlns:p14="http://schemas.microsoft.com/office/powerpoint/2010/main" val="18093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88423" y="2066192"/>
            <a:ext cx="3868616" cy="2795954"/>
          </a:xfrm>
        </p:spPr>
        <p:txBody>
          <a:bodyPr anchor="ctr">
            <a:normAutofit/>
          </a:bodyPr>
          <a:lstStyle>
            <a:lvl1pPr algn="ctr">
              <a:defRPr sz="4000">
                <a:solidFill>
                  <a:schemeClr val="bg1"/>
                </a:solidFill>
              </a:defRPr>
            </a:lvl1pPr>
          </a:lstStyle>
          <a:p>
            <a:r>
              <a:rPr lang="en-US" dirty="0"/>
              <a:t>CLICK TO ADD TITLE</a:t>
            </a:r>
          </a:p>
        </p:txBody>
      </p:sp>
    </p:spTree>
    <p:extLst>
      <p:ext uri="{BB962C8B-B14F-4D97-AF65-F5344CB8AC3E}">
        <p14:creationId xmlns:p14="http://schemas.microsoft.com/office/powerpoint/2010/main" val="415352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31985" y="2919047"/>
            <a:ext cx="4598377" cy="1767254"/>
          </a:xfrm>
        </p:spPr>
        <p:txBody>
          <a:bodyPr anchor="ctr">
            <a:normAutofit/>
          </a:bodyPr>
          <a:lstStyle>
            <a:lvl1pPr algn="l">
              <a:defRPr sz="3600">
                <a:solidFill>
                  <a:schemeClr val="bg1"/>
                </a:solidFill>
              </a:defRPr>
            </a:lvl1pPr>
          </a:lstStyle>
          <a:p>
            <a:r>
              <a:rPr lang="en-US" dirty="0"/>
              <a:t>CLICK TO ADD TITLE</a:t>
            </a:r>
          </a:p>
        </p:txBody>
      </p:sp>
    </p:spTree>
    <p:extLst>
      <p:ext uri="{BB962C8B-B14F-4D97-AF65-F5344CB8AC3E}">
        <p14:creationId xmlns:p14="http://schemas.microsoft.com/office/powerpoint/2010/main" val="3871361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27ED-C799-AA4A-BA7C-2FFFBEA251A4}"/>
              </a:ext>
            </a:extLst>
          </p:cNvPr>
          <p:cNvSpPr>
            <a:spLocks noGrp="1"/>
          </p:cNvSpPr>
          <p:nvPr>
            <p:ph type="title" hasCustomPrompt="1"/>
          </p:nvPr>
        </p:nvSpPr>
        <p:spPr/>
        <p:txBody>
          <a:bodyPr/>
          <a:lstStyle/>
          <a:p>
            <a:r>
              <a:rPr lang="en-US" dirty="0"/>
              <a:t>TITLE AND CONTENT - Click to add title</a:t>
            </a:r>
          </a:p>
        </p:txBody>
      </p:sp>
      <p:sp>
        <p:nvSpPr>
          <p:cNvPr id="3" name="Slide Number Placeholder 2">
            <a:extLst>
              <a:ext uri="{FF2B5EF4-FFF2-40B4-BE49-F238E27FC236}">
                <a16:creationId xmlns:a16="http://schemas.microsoft.com/office/drawing/2014/main" id="{87D4B9F0-F682-C847-A4A4-C8832F0065E1}"/>
              </a:ext>
            </a:extLst>
          </p:cNvPr>
          <p:cNvSpPr>
            <a:spLocks noGrp="1"/>
          </p:cNvSpPr>
          <p:nvPr>
            <p:ph type="sldNum" sz="quarter" idx="10"/>
          </p:nvPr>
        </p:nvSpPr>
        <p:spPr/>
        <p:txBody>
          <a:bodyPr/>
          <a:lstStyle/>
          <a:p>
            <a:fld id="{4FAB73BC-B049-4115-A692-8D63A059BFB8}" type="slidenum">
              <a:rPr lang="en-US" smtClean="0"/>
              <a:pPr/>
              <a:t>‹#›</a:t>
            </a:fld>
            <a:endParaRPr lang="en-US" dirty="0"/>
          </a:p>
        </p:txBody>
      </p:sp>
      <p:sp>
        <p:nvSpPr>
          <p:cNvPr id="5" name="Content Placeholder 4">
            <a:extLst>
              <a:ext uri="{FF2B5EF4-FFF2-40B4-BE49-F238E27FC236}">
                <a16:creationId xmlns:a16="http://schemas.microsoft.com/office/drawing/2014/main" id="{BAC6C40D-F7AE-5D42-B2A9-60C9F62ADE8A}"/>
              </a:ext>
            </a:extLst>
          </p:cNvPr>
          <p:cNvSpPr>
            <a:spLocks noGrp="1"/>
          </p:cNvSpPr>
          <p:nvPr>
            <p:ph sz="quarter" idx="11" hasCustomPrompt="1"/>
          </p:nvPr>
        </p:nvSpPr>
        <p:spPr>
          <a:xfrm>
            <a:off x="647700" y="1409700"/>
            <a:ext cx="11049000" cy="4610100"/>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879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Double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AND DOUBLE CONTENT - CLICK TO ADD TITLE</a:t>
            </a:r>
          </a:p>
        </p:txBody>
      </p:sp>
      <p:sp>
        <p:nvSpPr>
          <p:cNvPr id="3" name="Content Placeholder 2"/>
          <p:cNvSpPr>
            <a:spLocks noGrp="1"/>
          </p:cNvSpPr>
          <p:nvPr>
            <p:ph idx="1" hasCustomPrompt="1"/>
          </p:nvPr>
        </p:nvSpPr>
        <p:spPr>
          <a:xfrm>
            <a:off x="647700" y="1409701"/>
            <a:ext cx="5212412" cy="4610100"/>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Courier New" panose="02070309020205020404" pitchFamily="49" charset="0"/>
              <a:buChar char="o"/>
              <a:defRPr>
                <a:latin typeface="Open Sans" panose="020B0606030504020204" pitchFamily="34" charset="0"/>
              </a:defRPr>
            </a:lvl2pPr>
            <a:lvl3pPr>
              <a:lnSpc>
                <a:spcPct val="100000"/>
              </a:lnSpc>
              <a:buFont typeface="Courier New" panose="02070309020205020404" pitchFamily="49" charset="0"/>
              <a:buChar char="o"/>
              <a:defRPr>
                <a:latin typeface="Open Sans" panose="020B0606030504020204" pitchFamily="34" charset="0"/>
              </a:defRPr>
            </a:lvl3pPr>
            <a:lvl4pPr>
              <a:lnSpc>
                <a:spcPct val="100000"/>
              </a:lnSpc>
              <a:buFont typeface="Courier New" panose="02070309020205020404" pitchFamily="49" charset="0"/>
              <a:buChar char="o"/>
              <a:defRPr>
                <a:latin typeface="Open Sans" panose="020B0606030504020204" pitchFamily="34" charset="0"/>
              </a:defRPr>
            </a:lvl4pPr>
            <a:lvl5pPr>
              <a:lnSpc>
                <a:spcPct val="100000"/>
              </a:lnSpc>
              <a:buFont typeface="Courier New" panose="02070309020205020404" pitchFamily="49" charset="0"/>
              <a:buChar char="o"/>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6" name="Content Placeholder 2">
            <a:extLst>
              <a:ext uri="{FF2B5EF4-FFF2-40B4-BE49-F238E27FC236}">
                <a16:creationId xmlns:a16="http://schemas.microsoft.com/office/drawing/2014/main" id="{5D970262-8623-2B46-A712-FEE93CC93EDE}"/>
              </a:ext>
            </a:extLst>
          </p:cNvPr>
          <p:cNvSpPr>
            <a:spLocks noGrp="1"/>
          </p:cNvSpPr>
          <p:nvPr>
            <p:ph idx="10" hasCustomPrompt="1"/>
          </p:nvPr>
        </p:nvSpPr>
        <p:spPr>
          <a:xfrm>
            <a:off x="6331888" y="1409700"/>
            <a:ext cx="5364812" cy="4610101"/>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Wingdings" pitchFamily="2" charset="2"/>
              <a:buChar char="§"/>
              <a:defRPr>
                <a:latin typeface="Open Sans" panose="020B0606030504020204" pitchFamily="34" charset="0"/>
              </a:defRPr>
            </a:lvl2pPr>
            <a:lvl3pPr>
              <a:lnSpc>
                <a:spcPct val="100000"/>
              </a:lnSpc>
              <a:buFont typeface="Wingdings" pitchFamily="2" charset="2"/>
              <a:buChar char="§"/>
              <a:defRPr>
                <a:latin typeface="Open Sans" panose="020B0606030504020204" pitchFamily="34" charset="0"/>
              </a:defRPr>
            </a:lvl3pPr>
            <a:lvl4pPr>
              <a:lnSpc>
                <a:spcPct val="100000"/>
              </a:lnSpc>
              <a:buFont typeface="Wingdings" pitchFamily="2" charset="2"/>
              <a:buChar char="§"/>
              <a:defRPr>
                <a:latin typeface="Open Sans" panose="020B0606030504020204" pitchFamily="34" charset="0"/>
              </a:defRPr>
            </a:lvl4pPr>
            <a:lvl5pPr>
              <a:lnSpc>
                <a:spcPct val="100000"/>
              </a:lnSpc>
              <a:buFont typeface="Wingdings" pitchFamily="2" charset="2"/>
              <a:buChar char="§"/>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8" name="Slide Number Placeholder 5">
            <a:extLst>
              <a:ext uri="{FF2B5EF4-FFF2-40B4-BE49-F238E27FC236}">
                <a16:creationId xmlns:a16="http://schemas.microsoft.com/office/drawing/2014/main" id="{1CF5FC13-FF8A-8C4E-BA9B-B1FED8AA82E4}"/>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244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ONLY - CLICK TO ADD TITLE</a:t>
            </a:r>
          </a:p>
        </p:txBody>
      </p:sp>
      <p:sp>
        <p:nvSpPr>
          <p:cNvPr id="5" name="Slide Number Placeholder 5">
            <a:extLst>
              <a:ext uri="{FF2B5EF4-FFF2-40B4-BE49-F238E27FC236}">
                <a16:creationId xmlns:a16="http://schemas.microsoft.com/office/drawing/2014/main" id="{6E97028B-705D-5846-9BF6-441624A3FB9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0032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Slid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B71B262-AC2E-494D-B366-04431A29FCBF}"/>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80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0200" y="261257"/>
            <a:ext cx="10096500" cy="774779"/>
          </a:xfrm>
          <a:prstGeom prst="rect">
            <a:avLst/>
          </a:prstGeom>
        </p:spPr>
        <p:txBody>
          <a:bodyPr vert="horz" lIns="0" tIns="0" rIns="0" bIns="0" rtlCol="0" anchor="ctr">
            <a:normAutofit/>
          </a:bodyPr>
          <a:lstStyle/>
          <a:p>
            <a:r>
              <a:rPr lang="en-US" dirty="0"/>
              <a:t>CLICK TO EDIT MASTER TITLE STYLE</a:t>
            </a:r>
          </a:p>
        </p:txBody>
      </p:sp>
      <p:sp>
        <p:nvSpPr>
          <p:cNvPr id="9" name="Text Placeholder 2">
            <a:extLst>
              <a:ext uri="{FF2B5EF4-FFF2-40B4-BE49-F238E27FC236}">
                <a16:creationId xmlns:a16="http://schemas.microsoft.com/office/drawing/2014/main" id="{CAC4959A-AD2F-9049-854D-6985DFCF4E46}"/>
              </a:ext>
            </a:extLst>
          </p:cNvPr>
          <p:cNvSpPr>
            <a:spLocks noGrp="1"/>
          </p:cNvSpPr>
          <p:nvPr>
            <p:ph type="body" idx="1"/>
          </p:nvPr>
        </p:nvSpPr>
        <p:spPr>
          <a:xfrm>
            <a:off x="654222" y="1429233"/>
            <a:ext cx="11042478" cy="4590567"/>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17C06173-326E-C842-95A0-26D69A4B9AF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b="0" i="0">
                <a:solidFill>
                  <a:srgbClr val="FFFFFF"/>
                </a:solidFill>
                <a:latin typeface="Open Sans" panose="020B0606030504020204" pitchFamily="34" charset="0"/>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90262625"/>
      </p:ext>
    </p:extLst>
  </p:cSld>
  <p:clrMap bg1="lt1" tx1="dk1" bg2="lt2" tx2="dk2" accent1="accent1" accent2="accent2" accent3="accent3" accent4="accent4" accent5="accent5" accent6="accent6" hlink="hlink" folHlink="folHlink"/>
  <p:sldLayoutIdLst>
    <p:sldLayoutId id="2147483752" r:id="rId1"/>
    <p:sldLayoutId id="2147483733" r:id="rId2"/>
    <p:sldLayoutId id="2147483758" r:id="rId3"/>
    <p:sldLayoutId id="2147483763" r:id="rId4"/>
    <p:sldLayoutId id="2147483760" r:id="rId5"/>
    <p:sldLayoutId id="2147483761" r:id="rId6"/>
    <p:sldLayoutId id="214748376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defRPr>
      </a:lvl1pPr>
    </p:titleStyle>
    <p:body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4.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4.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4.xml"/><Relationship Id="rId5" Type="http://schemas.openxmlformats.org/officeDocument/2006/relationships/image" Target="../media/image15.emf"/><Relationship Id="rId4" Type="http://schemas.openxmlformats.org/officeDocument/2006/relationships/image" Target="../media/image14.emf"/></Relationships>
</file>

<file path=ppt/slides/_rels/slide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4.xml"/><Relationship Id="rId5" Type="http://schemas.openxmlformats.org/officeDocument/2006/relationships/image" Target="../media/image15.emf"/><Relationship Id="rId4" Type="http://schemas.openxmlformats.org/officeDocument/2006/relationships/image" Target="../media/image14.emf"/></Relationships>
</file>

<file path=ppt/slides/_rels/slide6.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image" Target="../media/image14.emf"/><Relationship Id="rId7" Type="http://schemas.openxmlformats.org/officeDocument/2006/relationships/image" Target="../media/image19.emf"/><Relationship Id="rId2" Type="http://schemas.openxmlformats.org/officeDocument/2006/relationships/image" Target="../media/image16.emf"/><Relationship Id="rId1" Type="http://schemas.openxmlformats.org/officeDocument/2006/relationships/slideLayout" Target="../slideLayouts/slideLayout4.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image" Target="../media/image14.emf"/><Relationship Id="rId7" Type="http://schemas.openxmlformats.org/officeDocument/2006/relationships/image" Target="../media/image19.emf"/><Relationship Id="rId2" Type="http://schemas.openxmlformats.org/officeDocument/2006/relationships/image" Target="../media/image16.emf"/><Relationship Id="rId1" Type="http://schemas.openxmlformats.org/officeDocument/2006/relationships/slideLayout" Target="../slideLayouts/slideLayout4.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4.xml"/><Relationship Id="rId4" Type="http://schemas.openxmlformats.org/officeDocument/2006/relationships/image" Target="../media/image23.emf"/></Relationships>
</file>

<file path=ppt/slides/_rels/slide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1.e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hyperlink" Target="https://nalu.readthedocs.io/en/latest/source/theory/boundaryConditions.html"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D23EA49-B5D0-1541-8EC1-3C4BE870D2BF}"/>
              </a:ext>
            </a:extLst>
          </p:cNvPr>
          <p:cNvSpPr>
            <a:spLocks noGrp="1"/>
          </p:cNvSpPr>
          <p:nvPr>
            <p:ph type="ctrTitle"/>
          </p:nvPr>
        </p:nvSpPr>
        <p:spPr>
          <a:xfrm>
            <a:off x="990600" y="1575114"/>
            <a:ext cx="8873836" cy="1853885"/>
          </a:xfrm>
        </p:spPr>
        <p:txBody>
          <a:bodyPr>
            <a:normAutofit/>
          </a:bodyPr>
          <a:lstStyle/>
          <a:p>
            <a:r>
              <a:rPr lang="en-US" sz="3000" dirty="0"/>
              <a:t>ME469: </a:t>
            </a:r>
            <a:r>
              <a:rPr lang="en-US" sz="2400" dirty="0"/>
              <a:t>Boundary Conditions</a:t>
            </a:r>
          </a:p>
        </p:txBody>
      </p:sp>
      <p:sp>
        <p:nvSpPr>
          <p:cNvPr id="33" name="TextBox 32">
            <a:extLst>
              <a:ext uri="{FF2B5EF4-FFF2-40B4-BE49-F238E27FC236}">
                <a16:creationId xmlns:a16="http://schemas.microsoft.com/office/drawing/2014/main" id="{13E54DF6-4A33-0F44-BFF9-3FDCAA65F7F8}"/>
              </a:ext>
            </a:extLst>
          </p:cNvPr>
          <p:cNvSpPr txBox="1"/>
          <p:nvPr/>
        </p:nvSpPr>
        <p:spPr>
          <a:xfrm>
            <a:off x="3438144" y="3596640"/>
            <a:ext cx="0" cy="0"/>
          </a:xfrm>
          <a:prstGeom prst="rect">
            <a:avLst/>
          </a:prstGeom>
        </p:spPr>
        <p:txBody>
          <a:bodyPr vert="horz" wrap="none" lIns="91440" tIns="45720" rIns="91440" bIns="45720" rtlCol="0">
            <a:noAutofit/>
          </a:bodyPr>
          <a:lstStyle/>
          <a:p>
            <a:pPr algn="l"/>
            <a:endParaRPr lang="en-US" dirty="0">
              <a:latin typeface="Open Sans" panose="020B0606030504020204" pitchFamily="34" charset="0"/>
            </a:endParaRPr>
          </a:p>
        </p:txBody>
      </p:sp>
      <p:sp>
        <p:nvSpPr>
          <p:cNvPr id="6" name="Subtitle 7">
            <a:extLst>
              <a:ext uri="{FF2B5EF4-FFF2-40B4-BE49-F238E27FC236}">
                <a16:creationId xmlns:a16="http://schemas.microsoft.com/office/drawing/2014/main" id="{0CDCAA58-6449-CBF2-366F-08ED9D5171DB}"/>
              </a:ext>
            </a:extLst>
          </p:cNvPr>
          <p:cNvSpPr>
            <a:spLocks noGrp="1"/>
          </p:cNvSpPr>
          <p:nvPr>
            <p:ph type="subTitle" idx="1"/>
          </p:nvPr>
        </p:nvSpPr>
        <p:spPr>
          <a:xfrm>
            <a:off x="990599" y="3719997"/>
            <a:ext cx="6300850" cy="667120"/>
          </a:xfrm>
        </p:spPr>
        <p:txBody>
          <a:bodyPr/>
          <a:lstStyle/>
          <a:p>
            <a:r>
              <a:rPr lang="en-US" dirty="0"/>
              <a:t>Stefan P. Domino</a:t>
            </a:r>
            <a:r>
              <a:rPr lang="en-US" baseline="30000" dirty="0"/>
              <a:t>1,2</a:t>
            </a:r>
            <a:r>
              <a:rPr lang="en-US" dirty="0"/>
              <a:t> </a:t>
            </a:r>
          </a:p>
          <a:p>
            <a:r>
              <a:rPr lang="en-US" sz="1100" baseline="30000" dirty="0"/>
              <a:t>1</a:t>
            </a:r>
            <a:r>
              <a:rPr lang="en-US" sz="1100" dirty="0"/>
              <a:t> Computational Thermal and Fluid Mechanics, Sandia National Laboratories</a:t>
            </a:r>
          </a:p>
          <a:p>
            <a:r>
              <a:rPr lang="en-US" sz="1100" baseline="30000" dirty="0"/>
              <a:t>2 </a:t>
            </a:r>
            <a:r>
              <a:rPr lang="en-US" sz="1100" dirty="0"/>
              <a:t>Institute for Computational and Mathematical Engineering, Stanford</a:t>
            </a:r>
          </a:p>
        </p:txBody>
      </p:sp>
      <p:sp>
        <p:nvSpPr>
          <p:cNvPr id="9" name="Text Placeholder 10">
            <a:extLst>
              <a:ext uri="{FF2B5EF4-FFF2-40B4-BE49-F238E27FC236}">
                <a16:creationId xmlns:a16="http://schemas.microsoft.com/office/drawing/2014/main" id="{F4EBD037-1C53-3EED-E7CC-D39EC221E301}"/>
              </a:ext>
            </a:extLst>
          </p:cNvPr>
          <p:cNvSpPr txBox="1">
            <a:spLocks/>
          </p:cNvSpPr>
          <p:nvPr/>
        </p:nvSpPr>
        <p:spPr>
          <a:xfrm>
            <a:off x="990600" y="4509920"/>
            <a:ext cx="5243146" cy="66712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Clr>
                <a:schemeClr val="accent1"/>
              </a:buClr>
              <a:buFontTx/>
              <a:buNone/>
              <a:defRPr sz="1400" b="0" i="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2EEBA8A3-0CE5-37E5-4BE4-C59032C4EC6F}"/>
              </a:ext>
            </a:extLst>
          </p:cNvPr>
          <p:cNvSpPr txBox="1"/>
          <p:nvPr/>
        </p:nvSpPr>
        <p:spPr>
          <a:xfrm>
            <a:off x="2062976" y="6501161"/>
            <a:ext cx="0" cy="0"/>
          </a:xfrm>
          <a:prstGeom prst="rect">
            <a:avLst/>
          </a:prstGeom>
        </p:spPr>
        <p:txBody>
          <a:bodyPr vert="horz" wrap="none" lIns="91440" tIns="45720" rIns="91440" bIns="45720" rtlCol="0">
            <a:noAutofit/>
          </a:bodyPr>
          <a:lstStyle/>
          <a:p>
            <a:pPr algn="l"/>
            <a:r>
              <a:rPr lang="de-DE" sz="1200" dirty="0">
                <a:solidFill>
                  <a:schemeClr val="bg2"/>
                </a:solidFill>
              </a:rPr>
              <a:t>SAND2018-4536 PE</a:t>
            </a:r>
            <a:endParaRPr lang="en-US" sz="14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8172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E8439960-EEF5-E86F-D9EA-0C69C2554848}"/>
              </a:ext>
            </a:extLst>
          </p:cNvPr>
          <p:cNvSpPr txBox="1">
            <a:spLocks/>
          </p:cNvSpPr>
          <p:nvPr/>
        </p:nvSpPr>
        <p:spPr>
          <a:xfrm>
            <a:off x="8453364" y="2514739"/>
            <a:ext cx="3648879" cy="4182291"/>
          </a:xfrm>
          <a:prstGeom prst="rect">
            <a:avLst/>
          </a:prstGeom>
        </p:spPr>
        <p:txBody>
          <a:bodyPr vert="horz" lIns="0" tIns="45720" rIns="0" bIns="45720" rtlCol="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Definition of an interpolation function: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       is the Lagrange function associated with node n</a:t>
            </a:r>
          </a:p>
          <a:p>
            <a:pPr marL="342900" indent="-342900">
              <a:buFont typeface="Arial" panose="020B0604020202020204" pitchFamily="34" charset="0"/>
              <a:buChar char="•"/>
            </a:pPr>
            <a:r>
              <a:rPr lang="en-US" dirty="0"/>
              <a:t>      is the value of the DOF at node n</a:t>
            </a:r>
          </a:p>
          <a:p>
            <a:pPr marL="342900" indent="-342900">
              <a:buFont typeface="Arial" panose="020B0604020202020204" pitchFamily="34" charset="0"/>
              <a:buChar char="•"/>
            </a:pPr>
            <a:r>
              <a:rPr lang="en-US" dirty="0"/>
              <a:t>The nodal basis functions obey equipartition of unity and satisfy,  </a:t>
            </a:r>
          </a:p>
        </p:txBody>
      </p:sp>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Review of Discretization Options: New, emphasis on boundaries…</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2</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p:txBody>
          <a:bodyPr/>
          <a:lstStyle/>
          <a:p>
            <a:pPr marL="342900" indent="-342900">
              <a:buFont typeface="Arial" panose="020B0604020202020204" pitchFamily="34" charset="0"/>
              <a:buChar char="•"/>
            </a:pPr>
            <a:r>
              <a:rPr lang="en-US" dirty="0"/>
              <a:t>Degree-of-freedom (DOF) for:</a:t>
            </a:r>
          </a:p>
          <a:p>
            <a:pPr marL="726948" lvl="1" indent="-342900">
              <a:buFont typeface="Arial" panose="020B0604020202020204" pitchFamily="34" charset="0"/>
              <a:buChar char="•"/>
            </a:pPr>
            <a:r>
              <a:rPr lang="en-US" dirty="0"/>
              <a:t>Cell-centered: Stencil is based on a </a:t>
            </a:r>
            <a:r>
              <a:rPr lang="en-US" dirty="0" err="1"/>
              <a:t>element:face:element</a:t>
            </a:r>
            <a:endParaRPr lang="en-US" dirty="0"/>
          </a:p>
          <a:p>
            <a:pPr marL="726948" lvl="1" indent="-342900">
              <a:buFont typeface="Arial" panose="020B0604020202020204" pitchFamily="34" charset="0"/>
              <a:buChar char="•"/>
            </a:pPr>
            <a:r>
              <a:rPr lang="en-US" dirty="0"/>
              <a:t>DOFs at vertices of elements, or “nodes”, </a:t>
            </a:r>
            <a:r>
              <a:rPr lang="en-US" dirty="0" err="1"/>
              <a:t>element:node</a:t>
            </a:r>
            <a:r>
              <a:rPr lang="en-US" dirty="0"/>
              <a:t> (CVFEM, FEM), </a:t>
            </a:r>
            <a:r>
              <a:rPr lang="en-US" dirty="0" err="1"/>
              <a:t>edge:node</a:t>
            </a:r>
            <a:r>
              <a:rPr lang="en-US" dirty="0"/>
              <a:t> (EBVC)</a:t>
            </a:r>
          </a:p>
        </p:txBody>
      </p:sp>
      <p:pic>
        <p:nvPicPr>
          <p:cNvPr id="9" name="Picture 8">
            <a:extLst>
              <a:ext uri="{FF2B5EF4-FFF2-40B4-BE49-F238E27FC236}">
                <a16:creationId xmlns:a16="http://schemas.microsoft.com/office/drawing/2014/main" id="{2E36E122-3C78-A9DD-E0C3-2B865F8ECF57}"/>
              </a:ext>
            </a:extLst>
          </p:cNvPr>
          <p:cNvPicPr>
            <a:picLocks noChangeAspect="1"/>
          </p:cNvPicPr>
          <p:nvPr/>
        </p:nvPicPr>
        <p:blipFill>
          <a:blip r:embed="rId2"/>
          <a:stretch>
            <a:fillRect/>
          </a:stretch>
        </p:blipFill>
        <p:spPr>
          <a:xfrm>
            <a:off x="512631" y="2603809"/>
            <a:ext cx="7912100" cy="3962400"/>
          </a:xfrm>
          <a:prstGeom prst="rect">
            <a:avLst/>
          </a:prstGeom>
        </p:spPr>
      </p:pic>
      <p:pic>
        <p:nvPicPr>
          <p:cNvPr id="5" name="Picture 4">
            <a:extLst>
              <a:ext uri="{FF2B5EF4-FFF2-40B4-BE49-F238E27FC236}">
                <a16:creationId xmlns:a16="http://schemas.microsoft.com/office/drawing/2014/main" id="{C473F1FE-DB08-0106-1DE7-E456233BDFA2}"/>
              </a:ext>
            </a:extLst>
          </p:cNvPr>
          <p:cNvPicPr>
            <a:picLocks noChangeAspect="1"/>
          </p:cNvPicPr>
          <p:nvPr/>
        </p:nvPicPr>
        <p:blipFill>
          <a:blip r:embed="rId3"/>
          <a:stretch>
            <a:fillRect/>
          </a:stretch>
        </p:blipFill>
        <p:spPr>
          <a:xfrm>
            <a:off x="9256148" y="3297311"/>
            <a:ext cx="1955800" cy="596900"/>
          </a:xfrm>
          <a:prstGeom prst="rect">
            <a:avLst/>
          </a:prstGeom>
        </p:spPr>
      </p:pic>
      <p:pic>
        <p:nvPicPr>
          <p:cNvPr id="7" name="Picture 6">
            <a:extLst>
              <a:ext uri="{FF2B5EF4-FFF2-40B4-BE49-F238E27FC236}">
                <a16:creationId xmlns:a16="http://schemas.microsoft.com/office/drawing/2014/main" id="{EEAB5F40-908C-098E-F794-6D49230135F8}"/>
              </a:ext>
            </a:extLst>
          </p:cNvPr>
          <p:cNvPicPr>
            <a:picLocks noChangeAspect="1"/>
          </p:cNvPicPr>
          <p:nvPr/>
        </p:nvPicPr>
        <p:blipFill>
          <a:blip r:embed="rId4"/>
          <a:stretch>
            <a:fillRect/>
          </a:stretch>
        </p:blipFill>
        <p:spPr>
          <a:xfrm>
            <a:off x="8737068" y="3971701"/>
            <a:ext cx="444500" cy="317500"/>
          </a:xfrm>
          <a:prstGeom prst="rect">
            <a:avLst/>
          </a:prstGeom>
        </p:spPr>
      </p:pic>
      <p:pic>
        <p:nvPicPr>
          <p:cNvPr id="8" name="Picture 7">
            <a:extLst>
              <a:ext uri="{FF2B5EF4-FFF2-40B4-BE49-F238E27FC236}">
                <a16:creationId xmlns:a16="http://schemas.microsoft.com/office/drawing/2014/main" id="{6D4B7A11-3201-0125-936E-1C326982CC5A}"/>
              </a:ext>
            </a:extLst>
          </p:cNvPr>
          <p:cNvPicPr>
            <a:picLocks noChangeAspect="1"/>
          </p:cNvPicPr>
          <p:nvPr/>
        </p:nvPicPr>
        <p:blipFill>
          <a:blip r:embed="rId5"/>
          <a:stretch>
            <a:fillRect/>
          </a:stretch>
        </p:blipFill>
        <p:spPr>
          <a:xfrm>
            <a:off x="8737068" y="4976704"/>
            <a:ext cx="292100" cy="266700"/>
          </a:xfrm>
          <a:prstGeom prst="rect">
            <a:avLst/>
          </a:prstGeom>
        </p:spPr>
      </p:pic>
      <p:pic>
        <p:nvPicPr>
          <p:cNvPr id="12" name="Picture 11">
            <a:extLst>
              <a:ext uri="{FF2B5EF4-FFF2-40B4-BE49-F238E27FC236}">
                <a16:creationId xmlns:a16="http://schemas.microsoft.com/office/drawing/2014/main" id="{0182AF51-F043-E9CC-FBAC-BC737A9DCC78}"/>
              </a:ext>
            </a:extLst>
          </p:cNvPr>
          <p:cNvPicPr>
            <a:picLocks noChangeAspect="1"/>
          </p:cNvPicPr>
          <p:nvPr/>
        </p:nvPicPr>
        <p:blipFill>
          <a:blip r:embed="rId6"/>
          <a:stretch>
            <a:fillRect/>
          </a:stretch>
        </p:blipFill>
        <p:spPr>
          <a:xfrm>
            <a:off x="10329303" y="6222367"/>
            <a:ext cx="1219200" cy="292100"/>
          </a:xfrm>
          <a:prstGeom prst="rect">
            <a:avLst/>
          </a:prstGeom>
        </p:spPr>
      </p:pic>
    </p:spTree>
    <p:extLst>
      <p:ext uri="{BB962C8B-B14F-4D97-AF65-F5344CB8AC3E}">
        <p14:creationId xmlns:p14="http://schemas.microsoft.com/office/powerpoint/2010/main" val="2405128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E8439960-EEF5-E86F-D9EA-0C69C2554848}"/>
              </a:ext>
            </a:extLst>
          </p:cNvPr>
          <p:cNvSpPr txBox="1">
            <a:spLocks/>
          </p:cNvSpPr>
          <p:nvPr/>
        </p:nvSpPr>
        <p:spPr>
          <a:xfrm>
            <a:off x="8453364" y="2514739"/>
            <a:ext cx="3648879" cy="4182291"/>
          </a:xfrm>
          <a:prstGeom prst="rect">
            <a:avLst/>
          </a:prstGeom>
        </p:spPr>
        <p:txBody>
          <a:bodyPr vert="horz" lIns="0" tIns="45720" rIns="0" bIns="45720" rtlCol="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Definition of an interpolation function: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       is the Lagrange function associated with node n</a:t>
            </a:r>
          </a:p>
          <a:p>
            <a:pPr marL="342900" indent="-342900">
              <a:buFont typeface="Arial" panose="020B0604020202020204" pitchFamily="34" charset="0"/>
              <a:buChar char="•"/>
            </a:pPr>
            <a:r>
              <a:rPr lang="en-US" dirty="0"/>
              <a:t>      is the value of the DOF at node n</a:t>
            </a:r>
          </a:p>
          <a:p>
            <a:pPr marL="342900" indent="-342900">
              <a:buFont typeface="Arial" panose="020B0604020202020204" pitchFamily="34" charset="0"/>
              <a:buChar char="•"/>
            </a:pPr>
            <a:r>
              <a:rPr lang="en-US" dirty="0"/>
              <a:t>The nodal basis functions obey equipartition of unity and satisfy,  </a:t>
            </a:r>
          </a:p>
        </p:txBody>
      </p:sp>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Review of Discretization Options: New, emphasis on boundaries…</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3</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p:txBody>
          <a:bodyPr/>
          <a:lstStyle/>
          <a:p>
            <a:pPr marL="342900" indent="-342900">
              <a:buFont typeface="Arial" panose="020B0604020202020204" pitchFamily="34" charset="0"/>
              <a:buChar char="•"/>
            </a:pPr>
            <a:r>
              <a:rPr lang="en-US" dirty="0"/>
              <a:t>Degree-of-freedom (DOF) for:</a:t>
            </a:r>
          </a:p>
          <a:p>
            <a:pPr marL="726948" lvl="1" indent="-342900">
              <a:buFont typeface="Arial" panose="020B0604020202020204" pitchFamily="34" charset="0"/>
              <a:buChar char="•"/>
            </a:pPr>
            <a:r>
              <a:rPr lang="en-US" dirty="0"/>
              <a:t>Cell-centered: Stencil is based on a </a:t>
            </a:r>
            <a:r>
              <a:rPr lang="en-US" dirty="0" err="1"/>
              <a:t>element:face:element</a:t>
            </a:r>
            <a:endParaRPr lang="en-US" dirty="0"/>
          </a:p>
          <a:p>
            <a:pPr marL="726948" lvl="1" indent="-342900">
              <a:buFont typeface="Arial" panose="020B0604020202020204" pitchFamily="34" charset="0"/>
              <a:buChar char="•"/>
            </a:pPr>
            <a:r>
              <a:rPr lang="en-US" dirty="0"/>
              <a:t>DOFs at vertices of elements, or “nodes”, </a:t>
            </a:r>
            <a:r>
              <a:rPr lang="en-US" dirty="0" err="1"/>
              <a:t>element:node</a:t>
            </a:r>
            <a:r>
              <a:rPr lang="en-US" dirty="0"/>
              <a:t> (CVFEM, FEM), </a:t>
            </a:r>
            <a:r>
              <a:rPr lang="en-US" dirty="0" err="1"/>
              <a:t>edge:node</a:t>
            </a:r>
            <a:r>
              <a:rPr lang="en-US" dirty="0"/>
              <a:t> (EBVC)</a:t>
            </a:r>
          </a:p>
        </p:txBody>
      </p:sp>
      <p:pic>
        <p:nvPicPr>
          <p:cNvPr id="9" name="Picture 8">
            <a:extLst>
              <a:ext uri="{FF2B5EF4-FFF2-40B4-BE49-F238E27FC236}">
                <a16:creationId xmlns:a16="http://schemas.microsoft.com/office/drawing/2014/main" id="{2E36E122-3C78-A9DD-E0C3-2B865F8ECF57}"/>
              </a:ext>
            </a:extLst>
          </p:cNvPr>
          <p:cNvPicPr>
            <a:picLocks noChangeAspect="1"/>
          </p:cNvPicPr>
          <p:nvPr/>
        </p:nvPicPr>
        <p:blipFill>
          <a:blip r:embed="rId2"/>
          <a:stretch>
            <a:fillRect/>
          </a:stretch>
        </p:blipFill>
        <p:spPr>
          <a:xfrm>
            <a:off x="512631" y="2603809"/>
            <a:ext cx="7912100" cy="3962400"/>
          </a:xfrm>
          <a:prstGeom prst="rect">
            <a:avLst/>
          </a:prstGeom>
        </p:spPr>
      </p:pic>
      <p:pic>
        <p:nvPicPr>
          <p:cNvPr id="5" name="Picture 4">
            <a:extLst>
              <a:ext uri="{FF2B5EF4-FFF2-40B4-BE49-F238E27FC236}">
                <a16:creationId xmlns:a16="http://schemas.microsoft.com/office/drawing/2014/main" id="{C473F1FE-DB08-0106-1DE7-E456233BDFA2}"/>
              </a:ext>
            </a:extLst>
          </p:cNvPr>
          <p:cNvPicPr>
            <a:picLocks noChangeAspect="1"/>
          </p:cNvPicPr>
          <p:nvPr/>
        </p:nvPicPr>
        <p:blipFill>
          <a:blip r:embed="rId3"/>
          <a:stretch>
            <a:fillRect/>
          </a:stretch>
        </p:blipFill>
        <p:spPr>
          <a:xfrm>
            <a:off x="9256148" y="3297311"/>
            <a:ext cx="1955800" cy="596900"/>
          </a:xfrm>
          <a:prstGeom prst="rect">
            <a:avLst/>
          </a:prstGeom>
        </p:spPr>
      </p:pic>
      <p:pic>
        <p:nvPicPr>
          <p:cNvPr id="7" name="Picture 6">
            <a:extLst>
              <a:ext uri="{FF2B5EF4-FFF2-40B4-BE49-F238E27FC236}">
                <a16:creationId xmlns:a16="http://schemas.microsoft.com/office/drawing/2014/main" id="{EEAB5F40-908C-098E-F794-6D49230135F8}"/>
              </a:ext>
            </a:extLst>
          </p:cNvPr>
          <p:cNvPicPr>
            <a:picLocks noChangeAspect="1"/>
          </p:cNvPicPr>
          <p:nvPr/>
        </p:nvPicPr>
        <p:blipFill>
          <a:blip r:embed="rId4"/>
          <a:stretch>
            <a:fillRect/>
          </a:stretch>
        </p:blipFill>
        <p:spPr>
          <a:xfrm>
            <a:off x="8737068" y="3971701"/>
            <a:ext cx="444500" cy="317500"/>
          </a:xfrm>
          <a:prstGeom prst="rect">
            <a:avLst/>
          </a:prstGeom>
        </p:spPr>
      </p:pic>
      <p:pic>
        <p:nvPicPr>
          <p:cNvPr id="8" name="Picture 7">
            <a:extLst>
              <a:ext uri="{FF2B5EF4-FFF2-40B4-BE49-F238E27FC236}">
                <a16:creationId xmlns:a16="http://schemas.microsoft.com/office/drawing/2014/main" id="{6D4B7A11-3201-0125-936E-1C326982CC5A}"/>
              </a:ext>
            </a:extLst>
          </p:cNvPr>
          <p:cNvPicPr>
            <a:picLocks noChangeAspect="1"/>
          </p:cNvPicPr>
          <p:nvPr/>
        </p:nvPicPr>
        <p:blipFill>
          <a:blip r:embed="rId5"/>
          <a:stretch>
            <a:fillRect/>
          </a:stretch>
        </p:blipFill>
        <p:spPr>
          <a:xfrm>
            <a:off x="8737068" y="4976704"/>
            <a:ext cx="292100" cy="266700"/>
          </a:xfrm>
          <a:prstGeom prst="rect">
            <a:avLst/>
          </a:prstGeom>
        </p:spPr>
      </p:pic>
      <p:pic>
        <p:nvPicPr>
          <p:cNvPr id="12" name="Picture 11">
            <a:extLst>
              <a:ext uri="{FF2B5EF4-FFF2-40B4-BE49-F238E27FC236}">
                <a16:creationId xmlns:a16="http://schemas.microsoft.com/office/drawing/2014/main" id="{0182AF51-F043-E9CC-FBAC-BC737A9DCC78}"/>
              </a:ext>
            </a:extLst>
          </p:cNvPr>
          <p:cNvPicPr>
            <a:picLocks noChangeAspect="1"/>
          </p:cNvPicPr>
          <p:nvPr/>
        </p:nvPicPr>
        <p:blipFill>
          <a:blip r:embed="rId6"/>
          <a:stretch>
            <a:fillRect/>
          </a:stretch>
        </p:blipFill>
        <p:spPr>
          <a:xfrm>
            <a:off x="10329303" y="6222367"/>
            <a:ext cx="1219200" cy="292100"/>
          </a:xfrm>
          <a:prstGeom prst="rect">
            <a:avLst/>
          </a:prstGeom>
        </p:spPr>
      </p:pic>
      <p:sp>
        <p:nvSpPr>
          <p:cNvPr id="10" name="Oval 9">
            <a:extLst>
              <a:ext uri="{FF2B5EF4-FFF2-40B4-BE49-F238E27FC236}">
                <a16:creationId xmlns:a16="http://schemas.microsoft.com/office/drawing/2014/main" id="{26DA1EFC-3015-A1E8-DFFC-204E8F54D4EB}"/>
              </a:ext>
            </a:extLst>
          </p:cNvPr>
          <p:cNvSpPr/>
          <p:nvPr/>
        </p:nvSpPr>
        <p:spPr>
          <a:xfrm>
            <a:off x="512631" y="2152185"/>
            <a:ext cx="2866189" cy="4319202"/>
          </a:xfrm>
          <a:prstGeom prst="ellipse">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87361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C3FF-6DAB-826A-6723-D6D56C4EC0D5}"/>
              </a:ext>
            </a:extLst>
          </p:cNvPr>
          <p:cNvSpPr>
            <a:spLocks noGrp="1"/>
          </p:cNvSpPr>
          <p:nvPr>
            <p:ph type="title"/>
          </p:nvPr>
        </p:nvSpPr>
        <p:spPr/>
        <p:txBody>
          <a:bodyPr/>
          <a:lstStyle/>
          <a:p>
            <a:r>
              <a:rPr lang="en-US" dirty="0"/>
              <a:t>Integration Over the Domain: </a:t>
            </a:r>
            <a:br>
              <a:rPr lang="en-US" dirty="0"/>
            </a:br>
            <a:r>
              <a:rPr lang="en-US" dirty="0"/>
              <a:t>The ”Finite” in Finite-Volume and Finite Element</a:t>
            </a:r>
          </a:p>
        </p:txBody>
      </p:sp>
      <p:sp>
        <p:nvSpPr>
          <p:cNvPr id="3" name="Slide Number Placeholder 2">
            <a:extLst>
              <a:ext uri="{FF2B5EF4-FFF2-40B4-BE49-F238E27FC236}">
                <a16:creationId xmlns:a16="http://schemas.microsoft.com/office/drawing/2014/main" id="{32892471-98E1-9717-FFCB-01A636864770}"/>
              </a:ext>
            </a:extLst>
          </p:cNvPr>
          <p:cNvSpPr>
            <a:spLocks noGrp="1"/>
          </p:cNvSpPr>
          <p:nvPr>
            <p:ph type="sldNum" sz="quarter" idx="10"/>
          </p:nvPr>
        </p:nvSpPr>
        <p:spPr/>
        <p:txBody>
          <a:bodyPr/>
          <a:lstStyle/>
          <a:p>
            <a:fld id="{4FAB73BC-B049-4115-A692-8D63A059BFB8}" type="slidenum">
              <a:rPr lang="en-US" smtClean="0"/>
              <a:pPr/>
              <a:t>4</a:t>
            </a:fld>
            <a:endParaRPr lang="en-US" dirty="0"/>
          </a:p>
        </p:txBody>
      </p:sp>
      <p:sp>
        <p:nvSpPr>
          <p:cNvPr id="4" name="Content Placeholder 3">
            <a:extLst>
              <a:ext uri="{FF2B5EF4-FFF2-40B4-BE49-F238E27FC236}">
                <a16:creationId xmlns:a16="http://schemas.microsoft.com/office/drawing/2014/main" id="{61CB413A-5FCA-49F0-E228-72AD98F08754}"/>
              </a:ext>
            </a:extLst>
          </p:cNvPr>
          <p:cNvSpPr>
            <a:spLocks noGrp="1"/>
          </p:cNvSpPr>
          <p:nvPr>
            <p:ph sz="quarter" idx="11"/>
          </p:nvPr>
        </p:nvSpPr>
        <p:spPr>
          <a:xfrm>
            <a:off x="647700" y="1409699"/>
            <a:ext cx="7154207" cy="5292183"/>
          </a:xfrm>
        </p:spPr>
        <p:txBody>
          <a:bodyPr/>
          <a:lstStyle/>
          <a:p>
            <a:pPr marL="342900" indent="-342900">
              <a:buFont typeface="Arial" panose="020B0604020202020204" pitchFamily="34" charset="0"/>
              <a:buChar char="•"/>
            </a:pPr>
            <a:r>
              <a:rPr lang="en-US" dirty="0"/>
              <a:t>Consider a simple model equation with the heart domain in mind: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Integrating over the entire domain, </a:t>
            </a:r>
            <a:r>
              <a:rPr lang="en-US" dirty="0">
                <a:latin typeface="Symbol" pitchFamily="2" charset="2"/>
              </a:rPr>
              <a:t>W</a:t>
            </a:r>
            <a:r>
              <a:rPr lang="en-US" dirty="0"/>
              <a:t>: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Without loss of generality, let us define a set of subdomains, </a:t>
            </a:r>
            <a:r>
              <a:rPr lang="en-US" dirty="0" err="1">
                <a:latin typeface="Symbol" pitchFamily="2" charset="2"/>
              </a:rPr>
              <a:t>W</a:t>
            </a:r>
            <a:r>
              <a:rPr lang="en-US" baseline="-25000" dirty="0" err="1"/>
              <a:t>k</a:t>
            </a:r>
            <a:r>
              <a:rPr lang="en-US" dirty="0"/>
              <a:t>:</a:t>
            </a: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r>
              <a:rPr lang="en-US" dirty="0"/>
              <a:t>As present, only volumetric integrals appear</a:t>
            </a:r>
          </a:p>
          <a:p>
            <a:endParaRPr lang="en-US" dirty="0"/>
          </a:p>
        </p:txBody>
      </p:sp>
      <p:pic>
        <p:nvPicPr>
          <p:cNvPr id="5" name="Picture 4">
            <a:extLst>
              <a:ext uri="{FF2B5EF4-FFF2-40B4-BE49-F238E27FC236}">
                <a16:creationId xmlns:a16="http://schemas.microsoft.com/office/drawing/2014/main" id="{E6B8D54B-6AD9-A98B-8721-092CE72EB46B}"/>
              </a:ext>
            </a:extLst>
          </p:cNvPr>
          <p:cNvPicPr>
            <a:picLocks noChangeAspect="1"/>
          </p:cNvPicPr>
          <p:nvPr/>
        </p:nvPicPr>
        <p:blipFill>
          <a:blip r:embed="rId2"/>
          <a:stretch>
            <a:fillRect/>
          </a:stretch>
        </p:blipFill>
        <p:spPr>
          <a:xfrm>
            <a:off x="7801907" y="2599718"/>
            <a:ext cx="4025189" cy="2264169"/>
          </a:xfrm>
          <a:prstGeom prst="rect">
            <a:avLst/>
          </a:prstGeom>
        </p:spPr>
      </p:pic>
      <p:sp>
        <p:nvSpPr>
          <p:cNvPr id="6" name="TextBox 5">
            <a:extLst>
              <a:ext uri="{FF2B5EF4-FFF2-40B4-BE49-F238E27FC236}">
                <a16:creationId xmlns:a16="http://schemas.microsoft.com/office/drawing/2014/main" id="{8F5F392F-3EE0-5778-74BA-4601C86001CB}"/>
              </a:ext>
            </a:extLst>
          </p:cNvPr>
          <p:cNvSpPr txBox="1"/>
          <p:nvPr/>
        </p:nvSpPr>
        <p:spPr>
          <a:xfrm>
            <a:off x="6783264" y="4969976"/>
            <a:ext cx="4761036" cy="1477328"/>
          </a:xfrm>
          <a:prstGeom prst="rect">
            <a:avLst/>
          </a:prstGeom>
          <a:noFill/>
        </p:spPr>
        <p:txBody>
          <a:bodyPr wrap="square" rtlCol="0">
            <a:spAutoFit/>
          </a:bodyPr>
          <a:lstStyle/>
          <a:p>
            <a:r>
              <a:rPr lang="en-US" dirty="0"/>
              <a:t>Note: </a:t>
            </a:r>
          </a:p>
          <a:p>
            <a:pPr marL="285750" indent="-285750">
              <a:buFont typeface="Arial" panose="020B0604020202020204" pitchFamily="34" charset="0"/>
              <a:buChar char="•"/>
            </a:pPr>
            <a:r>
              <a:rPr lang="en-US" dirty="0"/>
              <a:t>The formality of </a:t>
            </a:r>
            <a:r>
              <a:rPr lang="en-US" dirty="0" err="1">
                <a:latin typeface="Symbol" pitchFamily="2" charset="2"/>
              </a:rPr>
              <a:t>S</a:t>
            </a:r>
            <a:r>
              <a:rPr lang="en-US" baseline="-25000" dirty="0" err="1"/>
              <a:t>k</a:t>
            </a:r>
            <a:r>
              <a:rPr lang="en-US" dirty="0"/>
              <a:t> and </a:t>
            </a:r>
            <a:r>
              <a:rPr lang="en-US" dirty="0" err="1">
                <a:latin typeface="Symbol" pitchFamily="2" charset="2"/>
              </a:rPr>
              <a:t>W</a:t>
            </a:r>
            <a:r>
              <a:rPr lang="en-US" baseline="-25000" dirty="0" err="1"/>
              <a:t>k</a:t>
            </a:r>
            <a:r>
              <a:rPr lang="en-US" dirty="0"/>
              <a:t> is implied to exist over the full domain and is often times dropped – integral type implied by </a:t>
            </a:r>
            <a:r>
              <a:rPr lang="en-US" dirty="0" err="1"/>
              <a:t>dV</a:t>
            </a:r>
            <a:r>
              <a:rPr lang="en-US" dirty="0"/>
              <a:t> (volume) and </a:t>
            </a:r>
            <a:r>
              <a:rPr lang="en-US" dirty="0" err="1"/>
              <a:t>dS</a:t>
            </a:r>
            <a:r>
              <a:rPr lang="en-US" dirty="0"/>
              <a:t> (domain boundary)</a:t>
            </a:r>
          </a:p>
        </p:txBody>
      </p:sp>
      <p:pic>
        <p:nvPicPr>
          <p:cNvPr id="8" name="Picture 7">
            <a:extLst>
              <a:ext uri="{FF2B5EF4-FFF2-40B4-BE49-F238E27FC236}">
                <a16:creationId xmlns:a16="http://schemas.microsoft.com/office/drawing/2014/main" id="{D3DB4928-411F-AE8C-8BE3-2749A3E91186}"/>
              </a:ext>
            </a:extLst>
          </p:cNvPr>
          <p:cNvPicPr>
            <a:picLocks noChangeAspect="1"/>
          </p:cNvPicPr>
          <p:nvPr/>
        </p:nvPicPr>
        <p:blipFill>
          <a:blip r:embed="rId3"/>
          <a:stretch>
            <a:fillRect/>
          </a:stretch>
        </p:blipFill>
        <p:spPr>
          <a:xfrm>
            <a:off x="3298903" y="1943874"/>
            <a:ext cx="1066800" cy="673100"/>
          </a:xfrm>
          <a:prstGeom prst="rect">
            <a:avLst/>
          </a:prstGeom>
        </p:spPr>
      </p:pic>
      <p:sp>
        <p:nvSpPr>
          <p:cNvPr id="12" name="TextBox 11">
            <a:extLst>
              <a:ext uri="{FF2B5EF4-FFF2-40B4-BE49-F238E27FC236}">
                <a16:creationId xmlns:a16="http://schemas.microsoft.com/office/drawing/2014/main" id="{2B83AEBB-E68E-666A-D8E7-7AF64A218B66}"/>
              </a:ext>
            </a:extLst>
          </p:cNvPr>
          <p:cNvSpPr txBox="1"/>
          <p:nvPr/>
        </p:nvSpPr>
        <p:spPr>
          <a:xfrm>
            <a:off x="6936059" y="2096429"/>
            <a:ext cx="0" cy="0"/>
          </a:xfrm>
          <a:prstGeom prst="rect">
            <a:avLst/>
          </a:prstGeom>
        </p:spPr>
        <p:txBody>
          <a:bodyPr vert="horz" wrap="none" lIns="91440" tIns="45720" rIns="91440" bIns="45720" rtlCol="0">
            <a:noAutofit/>
          </a:bodyPr>
          <a:lstStyle/>
          <a:p>
            <a:pPr algn="l"/>
            <a:r>
              <a:rPr lang="en-US" dirty="0"/>
              <a:t>Where F</a:t>
            </a:r>
            <a:r>
              <a:rPr lang="en-US" baseline="-25000" dirty="0"/>
              <a:t>j</a:t>
            </a:r>
            <a:r>
              <a:rPr lang="en-US" dirty="0"/>
              <a:t> is a flux and S is a source term</a:t>
            </a:r>
          </a:p>
        </p:txBody>
      </p:sp>
      <p:pic>
        <p:nvPicPr>
          <p:cNvPr id="7" name="Picture 6">
            <a:extLst>
              <a:ext uri="{FF2B5EF4-FFF2-40B4-BE49-F238E27FC236}">
                <a16:creationId xmlns:a16="http://schemas.microsoft.com/office/drawing/2014/main" id="{A64523F0-49BA-2A1D-2EA7-4A998F66CEC7}"/>
              </a:ext>
            </a:extLst>
          </p:cNvPr>
          <p:cNvPicPr>
            <a:picLocks noChangeAspect="1"/>
          </p:cNvPicPr>
          <p:nvPr/>
        </p:nvPicPr>
        <p:blipFill>
          <a:blip r:embed="rId4"/>
          <a:stretch>
            <a:fillRect/>
          </a:stretch>
        </p:blipFill>
        <p:spPr>
          <a:xfrm>
            <a:off x="5680153" y="2681551"/>
            <a:ext cx="2514600" cy="673100"/>
          </a:xfrm>
          <a:prstGeom prst="rect">
            <a:avLst/>
          </a:prstGeom>
        </p:spPr>
      </p:pic>
      <p:pic>
        <p:nvPicPr>
          <p:cNvPr id="9" name="Picture 8">
            <a:extLst>
              <a:ext uri="{FF2B5EF4-FFF2-40B4-BE49-F238E27FC236}">
                <a16:creationId xmlns:a16="http://schemas.microsoft.com/office/drawing/2014/main" id="{4A03F63E-C2E3-2CB6-DB42-19E3CE6A4363}"/>
              </a:ext>
            </a:extLst>
          </p:cNvPr>
          <p:cNvPicPr>
            <a:picLocks noChangeAspect="1"/>
          </p:cNvPicPr>
          <p:nvPr/>
        </p:nvPicPr>
        <p:blipFill>
          <a:blip r:embed="rId5"/>
          <a:stretch>
            <a:fillRect/>
          </a:stretch>
        </p:blipFill>
        <p:spPr>
          <a:xfrm>
            <a:off x="1195962" y="4747110"/>
            <a:ext cx="3911600" cy="736600"/>
          </a:xfrm>
          <a:prstGeom prst="rect">
            <a:avLst/>
          </a:prstGeom>
        </p:spPr>
      </p:pic>
    </p:spTree>
    <p:extLst>
      <p:ext uri="{BB962C8B-B14F-4D97-AF65-F5344CB8AC3E}">
        <p14:creationId xmlns:p14="http://schemas.microsoft.com/office/powerpoint/2010/main" val="3609028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C3FF-6DAB-826A-6723-D6D56C4EC0D5}"/>
              </a:ext>
            </a:extLst>
          </p:cNvPr>
          <p:cNvSpPr>
            <a:spLocks noGrp="1"/>
          </p:cNvSpPr>
          <p:nvPr>
            <p:ph type="title"/>
          </p:nvPr>
        </p:nvSpPr>
        <p:spPr/>
        <p:txBody>
          <a:bodyPr/>
          <a:lstStyle/>
          <a:p>
            <a:r>
              <a:rPr lang="en-US" dirty="0"/>
              <a:t>Integration Over the Domain: </a:t>
            </a:r>
            <a:br>
              <a:rPr lang="en-US" dirty="0"/>
            </a:br>
            <a:r>
              <a:rPr lang="en-US" dirty="0"/>
              <a:t>The ”Finite” in Finite-Volume and Finite Element</a:t>
            </a:r>
          </a:p>
        </p:txBody>
      </p:sp>
      <p:sp>
        <p:nvSpPr>
          <p:cNvPr id="3" name="Slide Number Placeholder 2">
            <a:extLst>
              <a:ext uri="{FF2B5EF4-FFF2-40B4-BE49-F238E27FC236}">
                <a16:creationId xmlns:a16="http://schemas.microsoft.com/office/drawing/2014/main" id="{32892471-98E1-9717-FFCB-01A636864770}"/>
              </a:ext>
            </a:extLst>
          </p:cNvPr>
          <p:cNvSpPr>
            <a:spLocks noGrp="1"/>
          </p:cNvSpPr>
          <p:nvPr>
            <p:ph type="sldNum" sz="quarter" idx="10"/>
          </p:nvPr>
        </p:nvSpPr>
        <p:spPr/>
        <p:txBody>
          <a:bodyPr/>
          <a:lstStyle/>
          <a:p>
            <a:fld id="{4FAB73BC-B049-4115-A692-8D63A059BFB8}" type="slidenum">
              <a:rPr lang="en-US" smtClean="0"/>
              <a:pPr/>
              <a:t>5</a:t>
            </a:fld>
            <a:endParaRPr lang="en-US" dirty="0"/>
          </a:p>
        </p:txBody>
      </p:sp>
      <p:sp>
        <p:nvSpPr>
          <p:cNvPr id="4" name="Content Placeholder 3">
            <a:extLst>
              <a:ext uri="{FF2B5EF4-FFF2-40B4-BE49-F238E27FC236}">
                <a16:creationId xmlns:a16="http://schemas.microsoft.com/office/drawing/2014/main" id="{61CB413A-5FCA-49F0-E228-72AD98F08754}"/>
              </a:ext>
            </a:extLst>
          </p:cNvPr>
          <p:cNvSpPr>
            <a:spLocks noGrp="1"/>
          </p:cNvSpPr>
          <p:nvPr>
            <p:ph sz="quarter" idx="11"/>
          </p:nvPr>
        </p:nvSpPr>
        <p:spPr>
          <a:xfrm>
            <a:off x="647700" y="1409699"/>
            <a:ext cx="7154207" cy="5292183"/>
          </a:xfrm>
        </p:spPr>
        <p:txBody>
          <a:bodyPr/>
          <a:lstStyle/>
          <a:p>
            <a:pPr marL="342900" indent="-342900">
              <a:buFont typeface="Arial" panose="020B0604020202020204" pitchFamily="34" charset="0"/>
              <a:buChar char="•"/>
            </a:pPr>
            <a:r>
              <a:rPr lang="en-US" dirty="0"/>
              <a:t>Consider a simple model equation with the heart domain in mind: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Integrating over the entire domain, </a:t>
            </a:r>
            <a:r>
              <a:rPr lang="en-US" dirty="0">
                <a:latin typeface="Symbol" pitchFamily="2" charset="2"/>
              </a:rPr>
              <a:t>W</a:t>
            </a:r>
            <a:r>
              <a:rPr lang="en-US" dirty="0"/>
              <a:t>: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Without loss of generality, let us define a set of subdomains, </a:t>
            </a:r>
            <a:r>
              <a:rPr lang="en-US" dirty="0" err="1">
                <a:latin typeface="Symbol" pitchFamily="2" charset="2"/>
              </a:rPr>
              <a:t>W</a:t>
            </a:r>
            <a:r>
              <a:rPr lang="en-US" baseline="-25000" dirty="0" err="1"/>
              <a:t>k</a:t>
            </a:r>
            <a:r>
              <a:rPr lang="en-US" dirty="0"/>
              <a:t>:</a:t>
            </a: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endParaRPr lang="en-US" dirty="0">
              <a:latin typeface="Symbol" pitchFamily="2" charset="2"/>
            </a:endParaRPr>
          </a:p>
          <a:p>
            <a:pPr marL="342900" indent="-342900">
              <a:buFont typeface="Arial" panose="020B0604020202020204" pitchFamily="34" charset="0"/>
              <a:buChar char="•"/>
            </a:pPr>
            <a:r>
              <a:rPr lang="en-US" dirty="0"/>
              <a:t>As present, only volumetric integrals appear</a:t>
            </a:r>
          </a:p>
          <a:p>
            <a:endParaRPr lang="en-US" dirty="0"/>
          </a:p>
        </p:txBody>
      </p:sp>
      <p:pic>
        <p:nvPicPr>
          <p:cNvPr id="5" name="Picture 4">
            <a:extLst>
              <a:ext uri="{FF2B5EF4-FFF2-40B4-BE49-F238E27FC236}">
                <a16:creationId xmlns:a16="http://schemas.microsoft.com/office/drawing/2014/main" id="{E6B8D54B-6AD9-A98B-8721-092CE72EB46B}"/>
              </a:ext>
            </a:extLst>
          </p:cNvPr>
          <p:cNvPicPr>
            <a:picLocks noChangeAspect="1"/>
          </p:cNvPicPr>
          <p:nvPr/>
        </p:nvPicPr>
        <p:blipFill>
          <a:blip r:embed="rId2"/>
          <a:stretch>
            <a:fillRect/>
          </a:stretch>
        </p:blipFill>
        <p:spPr>
          <a:xfrm>
            <a:off x="7801907" y="2599718"/>
            <a:ext cx="4025189" cy="2264169"/>
          </a:xfrm>
          <a:prstGeom prst="rect">
            <a:avLst/>
          </a:prstGeom>
        </p:spPr>
      </p:pic>
      <p:sp>
        <p:nvSpPr>
          <p:cNvPr id="6" name="TextBox 5">
            <a:extLst>
              <a:ext uri="{FF2B5EF4-FFF2-40B4-BE49-F238E27FC236}">
                <a16:creationId xmlns:a16="http://schemas.microsoft.com/office/drawing/2014/main" id="{8F5F392F-3EE0-5778-74BA-4601C86001CB}"/>
              </a:ext>
            </a:extLst>
          </p:cNvPr>
          <p:cNvSpPr txBox="1"/>
          <p:nvPr/>
        </p:nvSpPr>
        <p:spPr>
          <a:xfrm>
            <a:off x="6783264" y="4969976"/>
            <a:ext cx="4761036" cy="1477328"/>
          </a:xfrm>
          <a:prstGeom prst="rect">
            <a:avLst/>
          </a:prstGeom>
          <a:noFill/>
        </p:spPr>
        <p:txBody>
          <a:bodyPr wrap="square" rtlCol="0">
            <a:spAutoFit/>
          </a:bodyPr>
          <a:lstStyle/>
          <a:p>
            <a:r>
              <a:rPr lang="en-US" dirty="0"/>
              <a:t>Note: </a:t>
            </a:r>
          </a:p>
          <a:p>
            <a:pPr marL="285750" indent="-285750">
              <a:buFont typeface="Arial" panose="020B0604020202020204" pitchFamily="34" charset="0"/>
              <a:buChar char="•"/>
            </a:pPr>
            <a:r>
              <a:rPr lang="en-US" dirty="0"/>
              <a:t>The formality of </a:t>
            </a:r>
            <a:r>
              <a:rPr lang="en-US" dirty="0" err="1">
                <a:latin typeface="Symbol" pitchFamily="2" charset="2"/>
              </a:rPr>
              <a:t>S</a:t>
            </a:r>
            <a:r>
              <a:rPr lang="en-US" baseline="-25000" dirty="0" err="1"/>
              <a:t>k</a:t>
            </a:r>
            <a:r>
              <a:rPr lang="en-US" dirty="0"/>
              <a:t> and </a:t>
            </a:r>
            <a:r>
              <a:rPr lang="en-US" dirty="0" err="1">
                <a:latin typeface="Symbol" pitchFamily="2" charset="2"/>
              </a:rPr>
              <a:t>W</a:t>
            </a:r>
            <a:r>
              <a:rPr lang="en-US" baseline="-25000" dirty="0" err="1"/>
              <a:t>k</a:t>
            </a:r>
            <a:r>
              <a:rPr lang="en-US" dirty="0"/>
              <a:t> is implied to exist over the full domain and is often times dropped – integral type implied by </a:t>
            </a:r>
            <a:r>
              <a:rPr lang="en-US" dirty="0" err="1"/>
              <a:t>dV</a:t>
            </a:r>
            <a:r>
              <a:rPr lang="en-US" dirty="0"/>
              <a:t> (volume) and </a:t>
            </a:r>
            <a:r>
              <a:rPr lang="en-US" dirty="0" err="1"/>
              <a:t>dS</a:t>
            </a:r>
            <a:r>
              <a:rPr lang="en-US" dirty="0"/>
              <a:t> (domain boundary)</a:t>
            </a:r>
          </a:p>
        </p:txBody>
      </p:sp>
      <p:pic>
        <p:nvPicPr>
          <p:cNvPr id="8" name="Picture 7">
            <a:extLst>
              <a:ext uri="{FF2B5EF4-FFF2-40B4-BE49-F238E27FC236}">
                <a16:creationId xmlns:a16="http://schemas.microsoft.com/office/drawing/2014/main" id="{D3DB4928-411F-AE8C-8BE3-2749A3E91186}"/>
              </a:ext>
            </a:extLst>
          </p:cNvPr>
          <p:cNvPicPr>
            <a:picLocks noChangeAspect="1"/>
          </p:cNvPicPr>
          <p:nvPr/>
        </p:nvPicPr>
        <p:blipFill>
          <a:blip r:embed="rId3"/>
          <a:stretch>
            <a:fillRect/>
          </a:stretch>
        </p:blipFill>
        <p:spPr>
          <a:xfrm>
            <a:off x="3298903" y="1943874"/>
            <a:ext cx="1066800" cy="673100"/>
          </a:xfrm>
          <a:prstGeom prst="rect">
            <a:avLst/>
          </a:prstGeom>
        </p:spPr>
      </p:pic>
      <p:sp>
        <p:nvSpPr>
          <p:cNvPr id="12" name="TextBox 11">
            <a:extLst>
              <a:ext uri="{FF2B5EF4-FFF2-40B4-BE49-F238E27FC236}">
                <a16:creationId xmlns:a16="http://schemas.microsoft.com/office/drawing/2014/main" id="{2B83AEBB-E68E-666A-D8E7-7AF64A218B66}"/>
              </a:ext>
            </a:extLst>
          </p:cNvPr>
          <p:cNvSpPr txBox="1"/>
          <p:nvPr/>
        </p:nvSpPr>
        <p:spPr>
          <a:xfrm>
            <a:off x="6936059" y="2096429"/>
            <a:ext cx="0" cy="0"/>
          </a:xfrm>
          <a:prstGeom prst="rect">
            <a:avLst/>
          </a:prstGeom>
        </p:spPr>
        <p:txBody>
          <a:bodyPr vert="horz" wrap="none" lIns="91440" tIns="45720" rIns="91440" bIns="45720" rtlCol="0">
            <a:noAutofit/>
          </a:bodyPr>
          <a:lstStyle/>
          <a:p>
            <a:pPr algn="l"/>
            <a:r>
              <a:rPr lang="en-US" dirty="0"/>
              <a:t>Where F</a:t>
            </a:r>
            <a:r>
              <a:rPr lang="en-US" baseline="-25000" dirty="0"/>
              <a:t>j</a:t>
            </a:r>
            <a:r>
              <a:rPr lang="en-US" dirty="0"/>
              <a:t> is a flux and S is a source term</a:t>
            </a:r>
          </a:p>
        </p:txBody>
      </p:sp>
      <p:pic>
        <p:nvPicPr>
          <p:cNvPr id="7" name="Picture 6">
            <a:extLst>
              <a:ext uri="{FF2B5EF4-FFF2-40B4-BE49-F238E27FC236}">
                <a16:creationId xmlns:a16="http://schemas.microsoft.com/office/drawing/2014/main" id="{A64523F0-49BA-2A1D-2EA7-4A998F66CEC7}"/>
              </a:ext>
            </a:extLst>
          </p:cNvPr>
          <p:cNvPicPr>
            <a:picLocks noChangeAspect="1"/>
          </p:cNvPicPr>
          <p:nvPr/>
        </p:nvPicPr>
        <p:blipFill>
          <a:blip r:embed="rId4"/>
          <a:stretch>
            <a:fillRect/>
          </a:stretch>
        </p:blipFill>
        <p:spPr>
          <a:xfrm>
            <a:off x="5680153" y="2681551"/>
            <a:ext cx="2514600" cy="673100"/>
          </a:xfrm>
          <a:prstGeom prst="rect">
            <a:avLst/>
          </a:prstGeom>
        </p:spPr>
      </p:pic>
      <p:pic>
        <p:nvPicPr>
          <p:cNvPr id="9" name="Picture 8">
            <a:extLst>
              <a:ext uri="{FF2B5EF4-FFF2-40B4-BE49-F238E27FC236}">
                <a16:creationId xmlns:a16="http://schemas.microsoft.com/office/drawing/2014/main" id="{4A03F63E-C2E3-2CB6-DB42-19E3CE6A4363}"/>
              </a:ext>
            </a:extLst>
          </p:cNvPr>
          <p:cNvPicPr>
            <a:picLocks noChangeAspect="1"/>
          </p:cNvPicPr>
          <p:nvPr/>
        </p:nvPicPr>
        <p:blipFill>
          <a:blip r:embed="rId5"/>
          <a:stretch>
            <a:fillRect/>
          </a:stretch>
        </p:blipFill>
        <p:spPr>
          <a:xfrm>
            <a:off x="1195962" y="4747110"/>
            <a:ext cx="3911600" cy="736600"/>
          </a:xfrm>
          <a:prstGeom prst="rect">
            <a:avLst/>
          </a:prstGeom>
        </p:spPr>
      </p:pic>
      <p:sp>
        <p:nvSpPr>
          <p:cNvPr id="10" name="&quot;No&quot; Symbol 9">
            <a:extLst>
              <a:ext uri="{FF2B5EF4-FFF2-40B4-BE49-F238E27FC236}">
                <a16:creationId xmlns:a16="http://schemas.microsoft.com/office/drawing/2014/main" id="{D4DECE28-0E10-B8D7-0579-96E7EBF64836}"/>
              </a:ext>
            </a:extLst>
          </p:cNvPr>
          <p:cNvSpPr/>
          <p:nvPr/>
        </p:nvSpPr>
        <p:spPr>
          <a:xfrm>
            <a:off x="8245322" y="5054686"/>
            <a:ext cx="1569179" cy="1498707"/>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218896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DC9E-FA0A-27F4-2D2B-FBD00D214C82}"/>
              </a:ext>
            </a:extLst>
          </p:cNvPr>
          <p:cNvSpPr>
            <a:spLocks noGrp="1"/>
          </p:cNvSpPr>
          <p:nvPr>
            <p:ph type="title"/>
          </p:nvPr>
        </p:nvSpPr>
        <p:spPr/>
        <p:txBody>
          <a:bodyPr/>
          <a:lstStyle/>
          <a:p>
            <a:r>
              <a:rPr lang="en-US" dirty="0"/>
              <a:t>Towards Boundary Contributions</a:t>
            </a:r>
          </a:p>
        </p:txBody>
      </p:sp>
      <p:sp>
        <p:nvSpPr>
          <p:cNvPr id="3" name="Slide Number Placeholder 2">
            <a:extLst>
              <a:ext uri="{FF2B5EF4-FFF2-40B4-BE49-F238E27FC236}">
                <a16:creationId xmlns:a16="http://schemas.microsoft.com/office/drawing/2014/main" id="{28A765F3-1D85-D67B-86D2-B9A04FD962A9}"/>
              </a:ext>
            </a:extLst>
          </p:cNvPr>
          <p:cNvSpPr>
            <a:spLocks noGrp="1"/>
          </p:cNvSpPr>
          <p:nvPr>
            <p:ph type="sldNum" sz="quarter" idx="10"/>
          </p:nvPr>
        </p:nvSpPr>
        <p:spPr/>
        <p:txBody>
          <a:bodyPr/>
          <a:lstStyle/>
          <a:p>
            <a:fld id="{4FAB73BC-B049-4115-A692-8D63A059BFB8}" type="slidenum">
              <a:rPr lang="en-US" smtClean="0"/>
              <a:pPr/>
              <a:t>6</a:t>
            </a:fld>
            <a:endParaRPr lang="en-US" dirty="0"/>
          </a:p>
        </p:txBody>
      </p:sp>
      <p:sp>
        <p:nvSpPr>
          <p:cNvPr id="4" name="Content Placeholder 3">
            <a:extLst>
              <a:ext uri="{FF2B5EF4-FFF2-40B4-BE49-F238E27FC236}">
                <a16:creationId xmlns:a16="http://schemas.microsoft.com/office/drawing/2014/main" id="{E1634530-3957-07A4-0874-B3558F1CE60D}"/>
              </a:ext>
            </a:extLst>
          </p:cNvPr>
          <p:cNvSpPr>
            <a:spLocks noGrp="1"/>
          </p:cNvSpPr>
          <p:nvPr>
            <p:ph sz="quarter" idx="11"/>
          </p:nvPr>
        </p:nvSpPr>
        <p:spPr/>
        <p:txBody>
          <a:bodyPr/>
          <a:lstStyle/>
          <a:p>
            <a:pPr marL="342900" indent="-342900">
              <a:buFont typeface="Arial" panose="020B0604020202020204" pitchFamily="34" charset="0"/>
              <a:buChar char="•"/>
            </a:pPr>
            <a:r>
              <a:rPr lang="en-US" dirty="0"/>
              <a:t>Given a partial differential equation (PDE) and associated volumetric form:</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Applying Gauss Divergence provides the standard finite volume form for fluxes in surface integral form (no distinction between internal control volume faces and boundary faces):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We can also multiple PDE by an arbitrary test function, w, and integrate over a volume,</a:t>
            </a:r>
          </a:p>
          <a:p>
            <a:endParaRPr lang="en-US" dirty="0"/>
          </a:p>
        </p:txBody>
      </p:sp>
      <p:pic>
        <p:nvPicPr>
          <p:cNvPr id="7" name="Picture 6">
            <a:extLst>
              <a:ext uri="{FF2B5EF4-FFF2-40B4-BE49-F238E27FC236}">
                <a16:creationId xmlns:a16="http://schemas.microsoft.com/office/drawing/2014/main" id="{C64904D1-F4FD-880E-3AF2-B71250B8A513}"/>
              </a:ext>
            </a:extLst>
          </p:cNvPr>
          <p:cNvPicPr>
            <a:picLocks noChangeAspect="1"/>
          </p:cNvPicPr>
          <p:nvPr/>
        </p:nvPicPr>
        <p:blipFill>
          <a:blip r:embed="rId2"/>
          <a:stretch>
            <a:fillRect/>
          </a:stretch>
        </p:blipFill>
        <p:spPr>
          <a:xfrm>
            <a:off x="9669006" y="3247909"/>
            <a:ext cx="2476500" cy="635000"/>
          </a:xfrm>
          <a:prstGeom prst="rect">
            <a:avLst/>
          </a:prstGeom>
        </p:spPr>
      </p:pic>
      <p:cxnSp>
        <p:nvCxnSpPr>
          <p:cNvPr id="8" name="Straight Arrow Connector 7">
            <a:extLst>
              <a:ext uri="{FF2B5EF4-FFF2-40B4-BE49-F238E27FC236}">
                <a16:creationId xmlns:a16="http://schemas.microsoft.com/office/drawing/2014/main" id="{EAB0F224-5B12-70BD-687E-21157D33087B}"/>
              </a:ext>
            </a:extLst>
          </p:cNvPr>
          <p:cNvCxnSpPr>
            <a:cxnSpLocks/>
          </p:cNvCxnSpPr>
          <p:nvPr/>
        </p:nvCxnSpPr>
        <p:spPr>
          <a:xfrm>
            <a:off x="4226439" y="3592317"/>
            <a:ext cx="5716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84D4C549-70BC-744B-1633-3D3A8DDDA194}"/>
              </a:ext>
            </a:extLst>
          </p:cNvPr>
          <p:cNvPicPr>
            <a:picLocks noChangeAspect="1"/>
          </p:cNvPicPr>
          <p:nvPr/>
        </p:nvPicPr>
        <p:blipFill>
          <a:blip r:embed="rId3"/>
          <a:stretch>
            <a:fillRect/>
          </a:stretch>
        </p:blipFill>
        <p:spPr>
          <a:xfrm>
            <a:off x="4396184" y="1827909"/>
            <a:ext cx="2514600" cy="673100"/>
          </a:xfrm>
          <a:prstGeom prst="rect">
            <a:avLst/>
          </a:prstGeom>
        </p:spPr>
      </p:pic>
      <p:pic>
        <p:nvPicPr>
          <p:cNvPr id="14" name="Picture 13">
            <a:extLst>
              <a:ext uri="{FF2B5EF4-FFF2-40B4-BE49-F238E27FC236}">
                <a16:creationId xmlns:a16="http://schemas.microsoft.com/office/drawing/2014/main" id="{66468501-CC4E-E7E9-F338-788345EF55D2}"/>
              </a:ext>
            </a:extLst>
          </p:cNvPr>
          <p:cNvPicPr>
            <a:picLocks noChangeAspect="1"/>
          </p:cNvPicPr>
          <p:nvPr/>
        </p:nvPicPr>
        <p:blipFill>
          <a:blip r:embed="rId4"/>
          <a:stretch>
            <a:fillRect/>
          </a:stretch>
        </p:blipFill>
        <p:spPr>
          <a:xfrm>
            <a:off x="143257" y="3287721"/>
            <a:ext cx="3911600" cy="736600"/>
          </a:xfrm>
          <a:prstGeom prst="rect">
            <a:avLst/>
          </a:prstGeom>
        </p:spPr>
      </p:pic>
      <p:pic>
        <p:nvPicPr>
          <p:cNvPr id="15" name="Picture 14">
            <a:extLst>
              <a:ext uri="{FF2B5EF4-FFF2-40B4-BE49-F238E27FC236}">
                <a16:creationId xmlns:a16="http://schemas.microsoft.com/office/drawing/2014/main" id="{4AE26401-CBBD-6B99-00A8-1DDEF483D607}"/>
              </a:ext>
            </a:extLst>
          </p:cNvPr>
          <p:cNvPicPr>
            <a:picLocks noChangeAspect="1"/>
          </p:cNvPicPr>
          <p:nvPr/>
        </p:nvPicPr>
        <p:blipFill>
          <a:blip r:embed="rId5"/>
          <a:stretch>
            <a:fillRect/>
          </a:stretch>
        </p:blipFill>
        <p:spPr>
          <a:xfrm>
            <a:off x="4969632" y="3247909"/>
            <a:ext cx="3784600" cy="723900"/>
          </a:xfrm>
          <a:prstGeom prst="rect">
            <a:avLst/>
          </a:prstGeom>
        </p:spPr>
      </p:pic>
      <p:cxnSp>
        <p:nvCxnSpPr>
          <p:cNvPr id="16" name="Straight Arrow Connector 15">
            <a:extLst>
              <a:ext uri="{FF2B5EF4-FFF2-40B4-BE49-F238E27FC236}">
                <a16:creationId xmlns:a16="http://schemas.microsoft.com/office/drawing/2014/main" id="{6634244A-6F67-BAFD-4888-9281107D7777}"/>
              </a:ext>
            </a:extLst>
          </p:cNvPr>
          <p:cNvCxnSpPr>
            <a:cxnSpLocks/>
          </p:cNvCxnSpPr>
          <p:nvPr/>
        </p:nvCxnSpPr>
        <p:spPr>
          <a:xfrm>
            <a:off x="8925814" y="3575034"/>
            <a:ext cx="5716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EF02A9A4-55F7-8C2D-8BDE-12A810D52B61}"/>
              </a:ext>
            </a:extLst>
          </p:cNvPr>
          <p:cNvPicPr>
            <a:picLocks noChangeAspect="1"/>
          </p:cNvPicPr>
          <p:nvPr/>
        </p:nvPicPr>
        <p:blipFill>
          <a:blip r:embed="rId6"/>
          <a:stretch>
            <a:fillRect/>
          </a:stretch>
        </p:blipFill>
        <p:spPr>
          <a:xfrm>
            <a:off x="1372452" y="4720738"/>
            <a:ext cx="2870200" cy="673100"/>
          </a:xfrm>
          <a:prstGeom prst="rect">
            <a:avLst/>
          </a:prstGeom>
        </p:spPr>
      </p:pic>
      <p:sp>
        <p:nvSpPr>
          <p:cNvPr id="36" name="TextBox 35">
            <a:extLst>
              <a:ext uri="{FF2B5EF4-FFF2-40B4-BE49-F238E27FC236}">
                <a16:creationId xmlns:a16="http://schemas.microsoft.com/office/drawing/2014/main" id="{8797400D-2DA1-2136-5275-DEB7862A3B1B}"/>
              </a:ext>
            </a:extLst>
          </p:cNvPr>
          <p:cNvSpPr txBox="1"/>
          <p:nvPr/>
        </p:nvSpPr>
        <p:spPr>
          <a:xfrm>
            <a:off x="6674936" y="4551042"/>
            <a:ext cx="4520057" cy="1200329"/>
          </a:xfrm>
          <a:prstGeom prst="rect">
            <a:avLst/>
          </a:prstGeom>
          <a:noFill/>
        </p:spPr>
        <p:txBody>
          <a:bodyPr wrap="square" rtlCol="0">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Next, integrate by parts and apply </a:t>
            </a:r>
          </a:p>
          <a:p>
            <a:r>
              <a:rPr lang="en-US" dirty="0">
                <a:latin typeface="Open Sans" panose="020B0606030504020204" pitchFamily="34" charset="0"/>
                <a:ea typeface="Open Sans" panose="020B0606030504020204" pitchFamily="34" charset="0"/>
                <a:cs typeface="Open Sans" panose="020B0606030504020204" pitchFamily="34" charset="0"/>
              </a:rPr>
              <a:t>Gauss-Divergence. Note, that test function must be differentiable – shown here, at least once..</a:t>
            </a:r>
          </a:p>
        </p:txBody>
      </p:sp>
      <p:sp>
        <p:nvSpPr>
          <p:cNvPr id="37" name="TextBox 36">
            <a:extLst>
              <a:ext uri="{FF2B5EF4-FFF2-40B4-BE49-F238E27FC236}">
                <a16:creationId xmlns:a16="http://schemas.microsoft.com/office/drawing/2014/main" id="{48417A1A-E61E-785F-5A64-81B83F53B4E6}"/>
              </a:ext>
            </a:extLst>
          </p:cNvPr>
          <p:cNvSpPr txBox="1"/>
          <p:nvPr/>
        </p:nvSpPr>
        <p:spPr>
          <a:xfrm>
            <a:off x="4324027" y="6540282"/>
            <a:ext cx="0" cy="0"/>
          </a:xfrm>
          <a:prstGeom prst="rect">
            <a:avLst/>
          </a:prstGeom>
        </p:spPr>
        <p:txBody>
          <a:bodyPr vert="horz" wrap="none" lIns="91440" tIns="45720" rIns="91440" bIns="45720" rtlCol="0">
            <a:noAutofit/>
          </a:bodyPr>
          <a:lstStyle/>
          <a:p>
            <a:pPr algn="l"/>
            <a:r>
              <a:rPr lang="en-US" dirty="0"/>
              <a:t>Interior 	</a:t>
            </a:r>
          </a:p>
        </p:txBody>
      </p:sp>
      <p:cxnSp>
        <p:nvCxnSpPr>
          <p:cNvPr id="38" name="Straight Arrow Connector 37">
            <a:extLst>
              <a:ext uri="{FF2B5EF4-FFF2-40B4-BE49-F238E27FC236}">
                <a16:creationId xmlns:a16="http://schemas.microsoft.com/office/drawing/2014/main" id="{7759F6BB-E218-9E85-C862-7EA14BF3E018}"/>
              </a:ext>
            </a:extLst>
          </p:cNvPr>
          <p:cNvCxnSpPr>
            <a:cxnSpLocks/>
          </p:cNvCxnSpPr>
          <p:nvPr/>
        </p:nvCxnSpPr>
        <p:spPr>
          <a:xfrm flipV="1">
            <a:off x="4286605" y="6323714"/>
            <a:ext cx="0" cy="21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53DD6C5-1E02-CDB4-B542-D2BF8C55CFCC}"/>
              </a:ext>
            </a:extLst>
          </p:cNvPr>
          <p:cNvSpPr txBox="1"/>
          <p:nvPr/>
        </p:nvSpPr>
        <p:spPr>
          <a:xfrm>
            <a:off x="6183824" y="6540282"/>
            <a:ext cx="0" cy="0"/>
          </a:xfrm>
          <a:prstGeom prst="rect">
            <a:avLst/>
          </a:prstGeom>
        </p:spPr>
        <p:txBody>
          <a:bodyPr vert="horz" wrap="none" lIns="91440" tIns="45720" rIns="91440" bIns="45720" rtlCol="0">
            <a:noAutofit/>
          </a:bodyPr>
          <a:lstStyle/>
          <a:p>
            <a:pPr algn="l"/>
            <a:r>
              <a:rPr lang="en-US" dirty="0"/>
              <a:t>Boundary</a:t>
            </a:r>
          </a:p>
        </p:txBody>
      </p:sp>
      <p:pic>
        <p:nvPicPr>
          <p:cNvPr id="40" name="Picture 39">
            <a:extLst>
              <a:ext uri="{FF2B5EF4-FFF2-40B4-BE49-F238E27FC236}">
                <a16:creationId xmlns:a16="http://schemas.microsoft.com/office/drawing/2014/main" id="{928B9B40-1EF0-CC13-CB17-3F44FCEAD29D}"/>
              </a:ext>
            </a:extLst>
          </p:cNvPr>
          <p:cNvPicPr>
            <a:picLocks noChangeAspect="1"/>
          </p:cNvPicPr>
          <p:nvPr/>
        </p:nvPicPr>
        <p:blipFill>
          <a:blip r:embed="rId7"/>
          <a:stretch>
            <a:fillRect/>
          </a:stretch>
        </p:blipFill>
        <p:spPr>
          <a:xfrm>
            <a:off x="128823" y="5620313"/>
            <a:ext cx="7429500" cy="673100"/>
          </a:xfrm>
          <a:prstGeom prst="rect">
            <a:avLst/>
          </a:prstGeom>
        </p:spPr>
      </p:pic>
      <p:pic>
        <p:nvPicPr>
          <p:cNvPr id="41" name="Picture 40">
            <a:extLst>
              <a:ext uri="{FF2B5EF4-FFF2-40B4-BE49-F238E27FC236}">
                <a16:creationId xmlns:a16="http://schemas.microsoft.com/office/drawing/2014/main" id="{5A85E84A-BE93-D33C-546F-C32769AB626A}"/>
              </a:ext>
            </a:extLst>
          </p:cNvPr>
          <p:cNvPicPr>
            <a:picLocks noChangeAspect="1"/>
          </p:cNvPicPr>
          <p:nvPr/>
        </p:nvPicPr>
        <p:blipFill>
          <a:blip r:embed="rId8"/>
          <a:stretch>
            <a:fillRect/>
          </a:stretch>
        </p:blipFill>
        <p:spPr>
          <a:xfrm>
            <a:off x="8775700" y="5817465"/>
            <a:ext cx="2921000" cy="673100"/>
          </a:xfrm>
          <a:prstGeom prst="rect">
            <a:avLst/>
          </a:prstGeom>
        </p:spPr>
      </p:pic>
      <p:cxnSp>
        <p:nvCxnSpPr>
          <p:cNvPr id="42" name="Straight Arrow Connector 41">
            <a:extLst>
              <a:ext uri="{FF2B5EF4-FFF2-40B4-BE49-F238E27FC236}">
                <a16:creationId xmlns:a16="http://schemas.microsoft.com/office/drawing/2014/main" id="{86623039-8E3D-F83E-13E6-D9527EC44214}"/>
              </a:ext>
            </a:extLst>
          </p:cNvPr>
          <p:cNvCxnSpPr>
            <a:cxnSpLocks/>
          </p:cNvCxnSpPr>
          <p:nvPr/>
        </p:nvCxnSpPr>
        <p:spPr>
          <a:xfrm flipV="1">
            <a:off x="6143821" y="6323714"/>
            <a:ext cx="0" cy="21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148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DC9E-FA0A-27F4-2D2B-FBD00D214C82}"/>
              </a:ext>
            </a:extLst>
          </p:cNvPr>
          <p:cNvSpPr>
            <a:spLocks noGrp="1"/>
          </p:cNvSpPr>
          <p:nvPr>
            <p:ph type="title"/>
          </p:nvPr>
        </p:nvSpPr>
        <p:spPr/>
        <p:txBody>
          <a:bodyPr/>
          <a:lstStyle/>
          <a:p>
            <a:r>
              <a:rPr lang="en-US" dirty="0"/>
              <a:t>Towards Boundary Contributions</a:t>
            </a:r>
          </a:p>
        </p:txBody>
      </p:sp>
      <p:sp>
        <p:nvSpPr>
          <p:cNvPr id="3" name="Slide Number Placeholder 2">
            <a:extLst>
              <a:ext uri="{FF2B5EF4-FFF2-40B4-BE49-F238E27FC236}">
                <a16:creationId xmlns:a16="http://schemas.microsoft.com/office/drawing/2014/main" id="{28A765F3-1D85-D67B-86D2-B9A04FD962A9}"/>
              </a:ext>
            </a:extLst>
          </p:cNvPr>
          <p:cNvSpPr>
            <a:spLocks noGrp="1"/>
          </p:cNvSpPr>
          <p:nvPr>
            <p:ph type="sldNum" sz="quarter" idx="10"/>
          </p:nvPr>
        </p:nvSpPr>
        <p:spPr/>
        <p:txBody>
          <a:bodyPr/>
          <a:lstStyle/>
          <a:p>
            <a:fld id="{4FAB73BC-B049-4115-A692-8D63A059BFB8}" type="slidenum">
              <a:rPr lang="en-US" smtClean="0"/>
              <a:pPr/>
              <a:t>7</a:t>
            </a:fld>
            <a:endParaRPr lang="en-US" dirty="0"/>
          </a:p>
        </p:txBody>
      </p:sp>
      <p:sp>
        <p:nvSpPr>
          <p:cNvPr id="4" name="Content Placeholder 3">
            <a:extLst>
              <a:ext uri="{FF2B5EF4-FFF2-40B4-BE49-F238E27FC236}">
                <a16:creationId xmlns:a16="http://schemas.microsoft.com/office/drawing/2014/main" id="{E1634530-3957-07A4-0874-B3558F1CE60D}"/>
              </a:ext>
            </a:extLst>
          </p:cNvPr>
          <p:cNvSpPr>
            <a:spLocks noGrp="1"/>
          </p:cNvSpPr>
          <p:nvPr>
            <p:ph sz="quarter" idx="11"/>
          </p:nvPr>
        </p:nvSpPr>
        <p:spPr/>
        <p:txBody>
          <a:bodyPr/>
          <a:lstStyle/>
          <a:p>
            <a:pPr marL="342900" indent="-342900">
              <a:buFont typeface="Arial" panose="020B0604020202020204" pitchFamily="34" charset="0"/>
              <a:buChar char="•"/>
            </a:pPr>
            <a:r>
              <a:rPr lang="en-US" dirty="0"/>
              <a:t>Given a partial differential equation (PDE) and associated volumetric form:</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Applying Gauss Divergence provides the standard finite volume form for fluxes in surface integral form (no distinction between internal control volume faces and boundary faces):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We can also multiple PDE by an arbitrary test function, w, and integrate over a volume,</a:t>
            </a:r>
          </a:p>
          <a:p>
            <a:endParaRPr lang="en-US" dirty="0"/>
          </a:p>
        </p:txBody>
      </p:sp>
      <p:pic>
        <p:nvPicPr>
          <p:cNvPr id="7" name="Picture 6">
            <a:extLst>
              <a:ext uri="{FF2B5EF4-FFF2-40B4-BE49-F238E27FC236}">
                <a16:creationId xmlns:a16="http://schemas.microsoft.com/office/drawing/2014/main" id="{C64904D1-F4FD-880E-3AF2-B71250B8A513}"/>
              </a:ext>
            </a:extLst>
          </p:cNvPr>
          <p:cNvPicPr>
            <a:picLocks noChangeAspect="1"/>
          </p:cNvPicPr>
          <p:nvPr/>
        </p:nvPicPr>
        <p:blipFill>
          <a:blip r:embed="rId2"/>
          <a:stretch>
            <a:fillRect/>
          </a:stretch>
        </p:blipFill>
        <p:spPr>
          <a:xfrm>
            <a:off x="9669006" y="3247909"/>
            <a:ext cx="2476500" cy="635000"/>
          </a:xfrm>
          <a:prstGeom prst="rect">
            <a:avLst/>
          </a:prstGeom>
        </p:spPr>
      </p:pic>
      <p:cxnSp>
        <p:nvCxnSpPr>
          <p:cNvPr id="8" name="Straight Arrow Connector 7">
            <a:extLst>
              <a:ext uri="{FF2B5EF4-FFF2-40B4-BE49-F238E27FC236}">
                <a16:creationId xmlns:a16="http://schemas.microsoft.com/office/drawing/2014/main" id="{EAB0F224-5B12-70BD-687E-21157D33087B}"/>
              </a:ext>
            </a:extLst>
          </p:cNvPr>
          <p:cNvCxnSpPr>
            <a:cxnSpLocks/>
          </p:cNvCxnSpPr>
          <p:nvPr/>
        </p:nvCxnSpPr>
        <p:spPr>
          <a:xfrm>
            <a:off x="4226439" y="3592317"/>
            <a:ext cx="5716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84D4C549-70BC-744B-1633-3D3A8DDDA194}"/>
              </a:ext>
            </a:extLst>
          </p:cNvPr>
          <p:cNvPicPr>
            <a:picLocks noChangeAspect="1"/>
          </p:cNvPicPr>
          <p:nvPr/>
        </p:nvPicPr>
        <p:blipFill>
          <a:blip r:embed="rId3"/>
          <a:stretch>
            <a:fillRect/>
          </a:stretch>
        </p:blipFill>
        <p:spPr>
          <a:xfrm>
            <a:off x="4396184" y="1827909"/>
            <a:ext cx="2514600" cy="673100"/>
          </a:xfrm>
          <a:prstGeom prst="rect">
            <a:avLst/>
          </a:prstGeom>
        </p:spPr>
      </p:pic>
      <p:pic>
        <p:nvPicPr>
          <p:cNvPr id="14" name="Picture 13">
            <a:extLst>
              <a:ext uri="{FF2B5EF4-FFF2-40B4-BE49-F238E27FC236}">
                <a16:creationId xmlns:a16="http://schemas.microsoft.com/office/drawing/2014/main" id="{66468501-CC4E-E7E9-F338-788345EF55D2}"/>
              </a:ext>
            </a:extLst>
          </p:cNvPr>
          <p:cNvPicPr>
            <a:picLocks noChangeAspect="1"/>
          </p:cNvPicPr>
          <p:nvPr/>
        </p:nvPicPr>
        <p:blipFill>
          <a:blip r:embed="rId4"/>
          <a:stretch>
            <a:fillRect/>
          </a:stretch>
        </p:blipFill>
        <p:spPr>
          <a:xfrm>
            <a:off x="143257" y="3287721"/>
            <a:ext cx="3911600" cy="736600"/>
          </a:xfrm>
          <a:prstGeom prst="rect">
            <a:avLst/>
          </a:prstGeom>
        </p:spPr>
      </p:pic>
      <p:pic>
        <p:nvPicPr>
          <p:cNvPr id="15" name="Picture 14">
            <a:extLst>
              <a:ext uri="{FF2B5EF4-FFF2-40B4-BE49-F238E27FC236}">
                <a16:creationId xmlns:a16="http://schemas.microsoft.com/office/drawing/2014/main" id="{4AE26401-CBBD-6B99-00A8-1DDEF483D607}"/>
              </a:ext>
            </a:extLst>
          </p:cNvPr>
          <p:cNvPicPr>
            <a:picLocks noChangeAspect="1"/>
          </p:cNvPicPr>
          <p:nvPr/>
        </p:nvPicPr>
        <p:blipFill>
          <a:blip r:embed="rId5"/>
          <a:stretch>
            <a:fillRect/>
          </a:stretch>
        </p:blipFill>
        <p:spPr>
          <a:xfrm>
            <a:off x="4969632" y="3247909"/>
            <a:ext cx="3784600" cy="723900"/>
          </a:xfrm>
          <a:prstGeom prst="rect">
            <a:avLst/>
          </a:prstGeom>
        </p:spPr>
      </p:pic>
      <p:cxnSp>
        <p:nvCxnSpPr>
          <p:cNvPr id="16" name="Straight Arrow Connector 15">
            <a:extLst>
              <a:ext uri="{FF2B5EF4-FFF2-40B4-BE49-F238E27FC236}">
                <a16:creationId xmlns:a16="http://schemas.microsoft.com/office/drawing/2014/main" id="{6634244A-6F67-BAFD-4888-9281107D7777}"/>
              </a:ext>
            </a:extLst>
          </p:cNvPr>
          <p:cNvCxnSpPr>
            <a:cxnSpLocks/>
          </p:cNvCxnSpPr>
          <p:nvPr/>
        </p:nvCxnSpPr>
        <p:spPr>
          <a:xfrm>
            <a:off x="8925814" y="3575034"/>
            <a:ext cx="5716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EF02A9A4-55F7-8C2D-8BDE-12A810D52B61}"/>
              </a:ext>
            </a:extLst>
          </p:cNvPr>
          <p:cNvPicPr>
            <a:picLocks noChangeAspect="1"/>
          </p:cNvPicPr>
          <p:nvPr/>
        </p:nvPicPr>
        <p:blipFill>
          <a:blip r:embed="rId6"/>
          <a:stretch>
            <a:fillRect/>
          </a:stretch>
        </p:blipFill>
        <p:spPr>
          <a:xfrm>
            <a:off x="1372452" y="4720738"/>
            <a:ext cx="2870200" cy="673100"/>
          </a:xfrm>
          <a:prstGeom prst="rect">
            <a:avLst/>
          </a:prstGeom>
        </p:spPr>
      </p:pic>
      <p:sp>
        <p:nvSpPr>
          <p:cNvPr id="36" name="TextBox 35">
            <a:extLst>
              <a:ext uri="{FF2B5EF4-FFF2-40B4-BE49-F238E27FC236}">
                <a16:creationId xmlns:a16="http://schemas.microsoft.com/office/drawing/2014/main" id="{8797400D-2DA1-2136-5275-DEB7862A3B1B}"/>
              </a:ext>
            </a:extLst>
          </p:cNvPr>
          <p:cNvSpPr txBox="1"/>
          <p:nvPr/>
        </p:nvSpPr>
        <p:spPr>
          <a:xfrm>
            <a:off x="6674936" y="4551042"/>
            <a:ext cx="4520057" cy="1200329"/>
          </a:xfrm>
          <a:prstGeom prst="rect">
            <a:avLst/>
          </a:prstGeom>
          <a:noFill/>
        </p:spPr>
        <p:txBody>
          <a:bodyPr wrap="square" rtlCol="0">
            <a:spAutoFit/>
          </a:bodyPr>
          <a:lstStyle/>
          <a:p>
            <a:r>
              <a:rPr lang="en-US" dirty="0">
                <a:latin typeface="Open Sans" panose="020B0606030504020204" pitchFamily="34" charset="0"/>
                <a:ea typeface="Open Sans" panose="020B0606030504020204" pitchFamily="34" charset="0"/>
                <a:cs typeface="Open Sans" panose="020B0606030504020204" pitchFamily="34" charset="0"/>
              </a:rPr>
              <a:t>Next, integrate by parts and apply </a:t>
            </a:r>
          </a:p>
          <a:p>
            <a:r>
              <a:rPr lang="en-US" dirty="0">
                <a:latin typeface="Open Sans" panose="020B0606030504020204" pitchFamily="34" charset="0"/>
                <a:ea typeface="Open Sans" panose="020B0606030504020204" pitchFamily="34" charset="0"/>
                <a:cs typeface="Open Sans" panose="020B0606030504020204" pitchFamily="34" charset="0"/>
              </a:rPr>
              <a:t>Gauss-Divergence. Note, that test function must be differentiable – shown here, at least once..</a:t>
            </a:r>
          </a:p>
        </p:txBody>
      </p:sp>
      <p:sp>
        <p:nvSpPr>
          <p:cNvPr id="37" name="TextBox 36">
            <a:extLst>
              <a:ext uri="{FF2B5EF4-FFF2-40B4-BE49-F238E27FC236}">
                <a16:creationId xmlns:a16="http://schemas.microsoft.com/office/drawing/2014/main" id="{48417A1A-E61E-785F-5A64-81B83F53B4E6}"/>
              </a:ext>
            </a:extLst>
          </p:cNvPr>
          <p:cNvSpPr txBox="1"/>
          <p:nvPr/>
        </p:nvSpPr>
        <p:spPr>
          <a:xfrm>
            <a:off x="4324027" y="6540282"/>
            <a:ext cx="0" cy="0"/>
          </a:xfrm>
          <a:prstGeom prst="rect">
            <a:avLst/>
          </a:prstGeom>
        </p:spPr>
        <p:txBody>
          <a:bodyPr vert="horz" wrap="none" lIns="91440" tIns="45720" rIns="91440" bIns="45720" rtlCol="0">
            <a:noAutofit/>
          </a:bodyPr>
          <a:lstStyle/>
          <a:p>
            <a:pPr algn="l"/>
            <a:r>
              <a:rPr lang="en-US" dirty="0"/>
              <a:t>Interior 	</a:t>
            </a:r>
          </a:p>
        </p:txBody>
      </p:sp>
      <p:cxnSp>
        <p:nvCxnSpPr>
          <p:cNvPr id="38" name="Straight Arrow Connector 37">
            <a:extLst>
              <a:ext uri="{FF2B5EF4-FFF2-40B4-BE49-F238E27FC236}">
                <a16:creationId xmlns:a16="http://schemas.microsoft.com/office/drawing/2014/main" id="{7759F6BB-E218-9E85-C862-7EA14BF3E018}"/>
              </a:ext>
            </a:extLst>
          </p:cNvPr>
          <p:cNvCxnSpPr>
            <a:cxnSpLocks/>
          </p:cNvCxnSpPr>
          <p:nvPr/>
        </p:nvCxnSpPr>
        <p:spPr>
          <a:xfrm flipV="1">
            <a:off x="4286605" y="6323714"/>
            <a:ext cx="0" cy="21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53DD6C5-1E02-CDB4-B542-D2BF8C55CFCC}"/>
              </a:ext>
            </a:extLst>
          </p:cNvPr>
          <p:cNvSpPr txBox="1"/>
          <p:nvPr/>
        </p:nvSpPr>
        <p:spPr>
          <a:xfrm>
            <a:off x="6183824" y="6540282"/>
            <a:ext cx="0" cy="0"/>
          </a:xfrm>
          <a:prstGeom prst="rect">
            <a:avLst/>
          </a:prstGeom>
        </p:spPr>
        <p:txBody>
          <a:bodyPr vert="horz" wrap="none" lIns="91440" tIns="45720" rIns="91440" bIns="45720" rtlCol="0">
            <a:noAutofit/>
          </a:bodyPr>
          <a:lstStyle/>
          <a:p>
            <a:pPr algn="l"/>
            <a:r>
              <a:rPr lang="en-US" dirty="0"/>
              <a:t>Boundary</a:t>
            </a:r>
          </a:p>
        </p:txBody>
      </p:sp>
      <p:pic>
        <p:nvPicPr>
          <p:cNvPr id="40" name="Picture 39">
            <a:extLst>
              <a:ext uri="{FF2B5EF4-FFF2-40B4-BE49-F238E27FC236}">
                <a16:creationId xmlns:a16="http://schemas.microsoft.com/office/drawing/2014/main" id="{928B9B40-1EF0-CC13-CB17-3F44FCEAD29D}"/>
              </a:ext>
            </a:extLst>
          </p:cNvPr>
          <p:cNvPicPr>
            <a:picLocks noChangeAspect="1"/>
          </p:cNvPicPr>
          <p:nvPr/>
        </p:nvPicPr>
        <p:blipFill>
          <a:blip r:embed="rId7"/>
          <a:stretch>
            <a:fillRect/>
          </a:stretch>
        </p:blipFill>
        <p:spPr>
          <a:xfrm>
            <a:off x="128823" y="5620313"/>
            <a:ext cx="7429500" cy="673100"/>
          </a:xfrm>
          <a:prstGeom prst="rect">
            <a:avLst/>
          </a:prstGeom>
        </p:spPr>
      </p:pic>
      <p:pic>
        <p:nvPicPr>
          <p:cNvPr id="41" name="Picture 40">
            <a:extLst>
              <a:ext uri="{FF2B5EF4-FFF2-40B4-BE49-F238E27FC236}">
                <a16:creationId xmlns:a16="http://schemas.microsoft.com/office/drawing/2014/main" id="{5A85E84A-BE93-D33C-546F-C32769AB626A}"/>
              </a:ext>
            </a:extLst>
          </p:cNvPr>
          <p:cNvPicPr>
            <a:picLocks noChangeAspect="1"/>
          </p:cNvPicPr>
          <p:nvPr/>
        </p:nvPicPr>
        <p:blipFill>
          <a:blip r:embed="rId8"/>
          <a:stretch>
            <a:fillRect/>
          </a:stretch>
        </p:blipFill>
        <p:spPr>
          <a:xfrm>
            <a:off x="8775700" y="5817465"/>
            <a:ext cx="2921000" cy="673100"/>
          </a:xfrm>
          <a:prstGeom prst="rect">
            <a:avLst/>
          </a:prstGeom>
        </p:spPr>
      </p:pic>
      <p:cxnSp>
        <p:nvCxnSpPr>
          <p:cNvPr id="42" name="Straight Arrow Connector 41">
            <a:extLst>
              <a:ext uri="{FF2B5EF4-FFF2-40B4-BE49-F238E27FC236}">
                <a16:creationId xmlns:a16="http://schemas.microsoft.com/office/drawing/2014/main" id="{86623039-8E3D-F83E-13E6-D9527EC44214}"/>
              </a:ext>
            </a:extLst>
          </p:cNvPr>
          <p:cNvCxnSpPr>
            <a:cxnSpLocks/>
          </p:cNvCxnSpPr>
          <p:nvPr/>
        </p:nvCxnSpPr>
        <p:spPr>
          <a:xfrm flipV="1">
            <a:off x="6143821" y="6323714"/>
            <a:ext cx="0" cy="210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3A38DC90-3712-0E5F-108A-358E475FB863}"/>
              </a:ext>
            </a:extLst>
          </p:cNvPr>
          <p:cNvSpPr/>
          <p:nvPr/>
        </p:nvSpPr>
        <p:spPr>
          <a:xfrm>
            <a:off x="6360143" y="5523609"/>
            <a:ext cx="914400" cy="914400"/>
          </a:xfrm>
          <a:prstGeom prst="ellipse">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2959FB8D-BADC-2781-1CDB-A7B1E755DBED}"/>
              </a:ext>
            </a:extLst>
          </p:cNvPr>
          <p:cNvSpPr/>
          <p:nvPr/>
        </p:nvSpPr>
        <p:spPr>
          <a:xfrm>
            <a:off x="9954999" y="3185055"/>
            <a:ext cx="914400" cy="914400"/>
          </a:xfrm>
          <a:prstGeom prst="ellipse">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65171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5AF1F-254E-57DF-DB12-6B613AF9E588}"/>
              </a:ext>
            </a:extLst>
          </p:cNvPr>
          <p:cNvSpPr>
            <a:spLocks noGrp="1"/>
          </p:cNvSpPr>
          <p:nvPr>
            <p:ph type="title"/>
          </p:nvPr>
        </p:nvSpPr>
        <p:spPr/>
        <p:txBody>
          <a:bodyPr/>
          <a:lstStyle/>
          <a:p>
            <a:r>
              <a:rPr lang="en-US" dirty="0"/>
              <a:t>Cell-Centered vs Vertex-Centered Differences</a:t>
            </a:r>
          </a:p>
        </p:txBody>
      </p:sp>
      <p:sp>
        <p:nvSpPr>
          <p:cNvPr id="3" name="Slide Number Placeholder 2">
            <a:extLst>
              <a:ext uri="{FF2B5EF4-FFF2-40B4-BE49-F238E27FC236}">
                <a16:creationId xmlns:a16="http://schemas.microsoft.com/office/drawing/2014/main" id="{67161F0D-0104-75A0-725F-A20D4E9A171A}"/>
              </a:ext>
            </a:extLst>
          </p:cNvPr>
          <p:cNvSpPr>
            <a:spLocks noGrp="1"/>
          </p:cNvSpPr>
          <p:nvPr>
            <p:ph type="sldNum" sz="quarter" idx="10"/>
          </p:nvPr>
        </p:nvSpPr>
        <p:spPr/>
        <p:txBody>
          <a:bodyPr/>
          <a:lstStyle/>
          <a:p>
            <a:fld id="{4FAB73BC-B049-4115-A692-8D63A059BFB8}" type="slidenum">
              <a:rPr lang="en-US" smtClean="0"/>
              <a:pPr/>
              <a:t>8</a:t>
            </a:fld>
            <a:endParaRPr lang="en-US" dirty="0"/>
          </a:p>
        </p:txBody>
      </p:sp>
      <p:pic>
        <p:nvPicPr>
          <p:cNvPr id="8" name="Picture 7">
            <a:extLst>
              <a:ext uri="{FF2B5EF4-FFF2-40B4-BE49-F238E27FC236}">
                <a16:creationId xmlns:a16="http://schemas.microsoft.com/office/drawing/2014/main" id="{9DBB4BEC-8EF2-C33F-BC40-2CA2429E24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044" y="2618030"/>
            <a:ext cx="4325932" cy="3657600"/>
          </a:xfrm>
          <a:prstGeom prst="rect">
            <a:avLst/>
          </a:prstGeom>
        </p:spPr>
      </p:pic>
      <p:sp>
        <p:nvSpPr>
          <p:cNvPr id="11" name="TextBox 10">
            <a:extLst>
              <a:ext uri="{FF2B5EF4-FFF2-40B4-BE49-F238E27FC236}">
                <a16:creationId xmlns:a16="http://schemas.microsoft.com/office/drawing/2014/main" id="{FEB36560-70BE-8A90-50D1-441C99FED41B}"/>
              </a:ext>
            </a:extLst>
          </p:cNvPr>
          <p:cNvSpPr txBox="1"/>
          <p:nvPr/>
        </p:nvSpPr>
        <p:spPr>
          <a:xfrm>
            <a:off x="11112285" y="2975675"/>
            <a:ext cx="0" cy="0"/>
          </a:xfrm>
          <a:prstGeom prst="rect">
            <a:avLst/>
          </a:prstGeom>
        </p:spPr>
        <p:txBody>
          <a:bodyPr vert="horz" wrap="none" lIns="91440" tIns="45720" rIns="91440" bIns="45720" rtlCol="0">
            <a:noAutofit/>
          </a:bodyPr>
          <a:lstStyle/>
          <a:p>
            <a:pPr algn="l"/>
            <a:endParaRPr lang="en-US" dirty="0"/>
          </a:p>
        </p:txBody>
      </p:sp>
      <p:sp>
        <p:nvSpPr>
          <p:cNvPr id="12" name="Content Placeholder 3">
            <a:extLst>
              <a:ext uri="{FF2B5EF4-FFF2-40B4-BE49-F238E27FC236}">
                <a16:creationId xmlns:a16="http://schemas.microsoft.com/office/drawing/2014/main" id="{8E90F397-926A-D905-8B95-8D312AA5A73E}"/>
              </a:ext>
            </a:extLst>
          </p:cNvPr>
          <p:cNvSpPr>
            <a:spLocks noGrp="1"/>
          </p:cNvSpPr>
          <p:nvPr>
            <p:ph sz="quarter" idx="11"/>
          </p:nvPr>
        </p:nvSpPr>
        <p:spPr>
          <a:xfrm>
            <a:off x="647700" y="1409700"/>
            <a:ext cx="11049000" cy="4610100"/>
          </a:xfrm>
        </p:spPr>
        <p:txBody>
          <a:bodyPr/>
          <a:lstStyle/>
          <a:p>
            <a:pPr marL="342900" indent="-342900">
              <a:buFont typeface="Arial" panose="020B0604020202020204" pitchFamily="34" charset="0"/>
              <a:buChar char="•"/>
            </a:pPr>
            <a:r>
              <a:rPr lang="en-US" dirty="0"/>
              <a:t>For a CC scheme, boundary condition is flux-based, while for VC and FEM, there is an option of flux-based, i.e., “weak”, or Dirichlet, i.e., “strong”</a:t>
            </a:r>
          </a:p>
        </p:txBody>
      </p:sp>
      <p:sp>
        <p:nvSpPr>
          <p:cNvPr id="13" name="TextBox 12">
            <a:extLst>
              <a:ext uri="{FF2B5EF4-FFF2-40B4-BE49-F238E27FC236}">
                <a16:creationId xmlns:a16="http://schemas.microsoft.com/office/drawing/2014/main" id="{D4262076-682F-2931-AB2F-D249FF93E39B}"/>
              </a:ext>
            </a:extLst>
          </p:cNvPr>
          <p:cNvSpPr txBox="1"/>
          <p:nvPr/>
        </p:nvSpPr>
        <p:spPr>
          <a:xfrm>
            <a:off x="945397" y="6478291"/>
            <a:ext cx="0" cy="0"/>
          </a:xfrm>
          <a:prstGeom prst="rect">
            <a:avLst/>
          </a:prstGeom>
        </p:spPr>
        <p:txBody>
          <a:bodyPr vert="horz" wrap="none" lIns="91440" tIns="45720" rIns="91440" bIns="45720" rtlCol="0">
            <a:noAutofit/>
          </a:bodyPr>
          <a:lstStyle/>
          <a:p>
            <a:pPr algn="l"/>
            <a:r>
              <a:rPr lang="en-US" dirty="0"/>
              <a:t>CC</a:t>
            </a:r>
          </a:p>
        </p:txBody>
      </p:sp>
      <p:sp>
        <p:nvSpPr>
          <p:cNvPr id="14" name="TextBox 13">
            <a:extLst>
              <a:ext uri="{FF2B5EF4-FFF2-40B4-BE49-F238E27FC236}">
                <a16:creationId xmlns:a16="http://schemas.microsoft.com/office/drawing/2014/main" id="{2F2A7DD6-D168-A250-731C-7A333F7ABDBA}"/>
              </a:ext>
            </a:extLst>
          </p:cNvPr>
          <p:cNvSpPr txBox="1"/>
          <p:nvPr/>
        </p:nvSpPr>
        <p:spPr>
          <a:xfrm>
            <a:off x="5982347" y="6478291"/>
            <a:ext cx="0" cy="0"/>
          </a:xfrm>
          <a:prstGeom prst="rect">
            <a:avLst/>
          </a:prstGeom>
        </p:spPr>
        <p:txBody>
          <a:bodyPr vert="horz" wrap="none" lIns="91440" tIns="45720" rIns="91440" bIns="45720" rtlCol="0">
            <a:noAutofit/>
          </a:bodyPr>
          <a:lstStyle/>
          <a:p>
            <a:pPr algn="l"/>
            <a:r>
              <a:rPr lang="en-US" dirty="0"/>
              <a:t>VC</a:t>
            </a:r>
          </a:p>
        </p:txBody>
      </p:sp>
      <p:sp>
        <p:nvSpPr>
          <p:cNvPr id="15" name="TextBox 14">
            <a:extLst>
              <a:ext uri="{FF2B5EF4-FFF2-40B4-BE49-F238E27FC236}">
                <a16:creationId xmlns:a16="http://schemas.microsoft.com/office/drawing/2014/main" id="{180E4367-6C78-1743-36D9-80B2908F0570}"/>
              </a:ext>
            </a:extLst>
          </p:cNvPr>
          <p:cNvSpPr txBox="1"/>
          <p:nvPr/>
        </p:nvSpPr>
        <p:spPr>
          <a:xfrm>
            <a:off x="9701940" y="6478291"/>
            <a:ext cx="0" cy="0"/>
          </a:xfrm>
          <a:prstGeom prst="rect">
            <a:avLst/>
          </a:prstGeom>
        </p:spPr>
        <p:txBody>
          <a:bodyPr vert="horz" wrap="none" lIns="91440" tIns="45720" rIns="91440" bIns="45720" rtlCol="0">
            <a:noAutofit/>
          </a:bodyPr>
          <a:lstStyle/>
          <a:p>
            <a:pPr algn="l"/>
            <a:r>
              <a:rPr lang="en-US" dirty="0"/>
              <a:t>FEM</a:t>
            </a:r>
          </a:p>
        </p:txBody>
      </p:sp>
      <p:pic>
        <p:nvPicPr>
          <p:cNvPr id="17" name="Picture 16">
            <a:extLst>
              <a:ext uri="{FF2B5EF4-FFF2-40B4-BE49-F238E27FC236}">
                <a16:creationId xmlns:a16="http://schemas.microsoft.com/office/drawing/2014/main" id="{97FD5F48-2314-BEA3-6B30-9DDC20E77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2892" y="2618030"/>
            <a:ext cx="4325932" cy="3657600"/>
          </a:xfrm>
          <a:prstGeom prst="rect">
            <a:avLst/>
          </a:prstGeom>
        </p:spPr>
      </p:pic>
      <p:pic>
        <p:nvPicPr>
          <p:cNvPr id="6" name="Picture 5">
            <a:extLst>
              <a:ext uri="{FF2B5EF4-FFF2-40B4-BE49-F238E27FC236}">
                <a16:creationId xmlns:a16="http://schemas.microsoft.com/office/drawing/2014/main" id="{44B021AF-3DF5-733A-EA0A-76DFB45995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8740" y="2618030"/>
            <a:ext cx="4325932" cy="3657600"/>
          </a:xfrm>
          <a:prstGeom prst="rect">
            <a:avLst/>
          </a:prstGeom>
        </p:spPr>
      </p:pic>
      <p:sp>
        <p:nvSpPr>
          <p:cNvPr id="4" name="Triangle 3">
            <a:extLst>
              <a:ext uri="{FF2B5EF4-FFF2-40B4-BE49-F238E27FC236}">
                <a16:creationId xmlns:a16="http://schemas.microsoft.com/office/drawing/2014/main" id="{0AB6497F-CAA7-1264-9D9C-BF394F8B6A9E}"/>
              </a:ext>
            </a:extLst>
          </p:cNvPr>
          <p:cNvSpPr/>
          <p:nvPr/>
        </p:nvSpPr>
        <p:spPr>
          <a:xfrm>
            <a:off x="8440299" y="3198699"/>
            <a:ext cx="91440" cy="91440"/>
          </a:xfrm>
          <a:prstGeom prst="triangle">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7E028BF5-5C2B-45D8-AC31-A2B60DC8B8A1}"/>
              </a:ext>
            </a:extLst>
          </p:cNvPr>
          <p:cNvSpPr/>
          <p:nvPr/>
        </p:nvSpPr>
        <p:spPr>
          <a:xfrm>
            <a:off x="8298233" y="4033024"/>
            <a:ext cx="91440" cy="91440"/>
          </a:xfrm>
          <a:prstGeom prst="triangle">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737C7330-D3D1-57EC-461A-C98110DB976C}"/>
              </a:ext>
            </a:extLst>
          </p:cNvPr>
          <p:cNvSpPr/>
          <p:nvPr/>
        </p:nvSpPr>
        <p:spPr>
          <a:xfrm>
            <a:off x="8158748" y="4714952"/>
            <a:ext cx="91440" cy="91440"/>
          </a:xfrm>
          <a:prstGeom prst="triangle">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angle 8">
            <a:extLst>
              <a:ext uri="{FF2B5EF4-FFF2-40B4-BE49-F238E27FC236}">
                <a16:creationId xmlns:a16="http://schemas.microsoft.com/office/drawing/2014/main" id="{5748CDA0-BEF1-4471-9475-D544BAA74A97}"/>
              </a:ext>
            </a:extLst>
          </p:cNvPr>
          <p:cNvSpPr/>
          <p:nvPr/>
        </p:nvSpPr>
        <p:spPr>
          <a:xfrm>
            <a:off x="7985686" y="5549277"/>
            <a:ext cx="91440" cy="91440"/>
          </a:xfrm>
          <a:prstGeom prst="triangle">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5280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5AF1F-254E-57DF-DB12-6B613AF9E588}"/>
              </a:ext>
            </a:extLst>
          </p:cNvPr>
          <p:cNvSpPr>
            <a:spLocks noGrp="1"/>
          </p:cNvSpPr>
          <p:nvPr>
            <p:ph type="title"/>
          </p:nvPr>
        </p:nvSpPr>
        <p:spPr/>
        <p:txBody>
          <a:bodyPr/>
          <a:lstStyle/>
          <a:p>
            <a:r>
              <a:rPr lang="en-US" dirty="0"/>
              <a:t>For Example, a Cell-Centered Inflow Boundary</a:t>
            </a:r>
          </a:p>
        </p:txBody>
      </p:sp>
      <p:sp>
        <p:nvSpPr>
          <p:cNvPr id="3" name="Slide Number Placeholder 2">
            <a:extLst>
              <a:ext uri="{FF2B5EF4-FFF2-40B4-BE49-F238E27FC236}">
                <a16:creationId xmlns:a16="http://schemas.microsoft.com/office/drawing/2014/main" id="{67161F0D-0104-75A0-725F-A20D4E9A171A}"/>
              </a:ext>
            </a:extLst>
          </p:cNvPr>
          <p:cNvSpPr>
            <a:spLocks noGrp="1"/>
          </p:cNvSpPr>
          <p:nvPr>
            <p:ph type="sldNum" sz="quarter" idx="10"/>
          </p:nvPr>
        </p:nvSpPr>
        <p:spPr/>
        <p:txBody>
          <a:bodyPr/>
          <a:lstStyle/>
          <a:p>
            <a:fld id="{4FAB73BC-B049-4115-A692-8D63A059BFB8}" type="slidenum">
              <a:rPr lang="en-US" smtClean="0"/>
              <a:pPr/>
              <a:t>9</a:t>
            </a:fld>
            <a:endParaRPr lang="en-US" dirty="0"/>
          </a:p>
        </p:txBody>
      </p:sp>
      <p:pic>
        <p:nvPicPr>
          <p:cNvPr id="8" name="Picture 7">
            <a:extLst>
              <a:ext uri="{FF2B5EF4-FFF2-40B4-BE49-F238E27FC236}">
                <a16:creationId xmlns:a16="http://schemas.microsoft.com/office/drawing/2014/main" id="{9DBB4BEC-8EF2-C33F-BC40-2CA2429E24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3511" y="2587994"/>
            <a:ext cx="4325932" cy="3657600"/>
          </a:xfrm>
          <a:prstGeom prst="rect">
            <a:avLst/>
          </a:prstGeom>
        </p:spPr>
      </p:pic>
      <p:sp>
        <p:nvSpPr>
          <p:cNvPr id="11" name="TextBox 10">
            <a:extLst>
              <a:ext uri="{FF2B5EF4-FFF2-40B4-BE49-F238E27FC236}">
                <a16:creationId xmlns:a16="http://schemas.microsoft.com/office/drawing/2014/main" id="{FEB36560-70BE-8A90-50D1-441C99FED41B}"/>
              </a:ext>
            </a:extLst>
          </p:cNvPr>
          <p:cNvSpPr txBox="1"/>
          <p:nvPr/>
        </p:nvSpPr>
        <p:spPr>
          <a:xfrm>
            <a:off x="11112285" y="2975675"/>
            <a:ext cx="0" cy="0"/>
          </a:xfrm>
          <a:prstGeom prst="rect">
            <a:avLst/>
          </a:prstGeom>
        </p:spPr>
        <p:txBody>
          <a:bodyPr vert="horz" wrap="none" lIns="91440" tIns="45720" rIns="91440" bIns="45720" rtlCol="0">
            <a:noAutofit/>
          </a:bodyPr>
          <a:lstStyle/>
          <a:p>
            <a:pPr algn="l"/>
            <a:endParaRPr lang="en-US" dirty="0"/>
          </a:p>
        </p:txBody>
      </p:sp>
      <p:sp>
        <p:nvSpPr>
          <p:cNvPr id="12" name="Content Placeholder 3">
            <a:extLst>
              <a:ext uri="{FF2B5EF4-FFF2-40B4-BE49-F238E27FC236}">
                <a16:creationId xmlns:a16="http://schemas.microsoft.com/office/drawing/2014/main" id="{8E90F397-926A-D905-8B95-8D312AA5A73E}"/>
              </a:ext>
            </a:extLst>
          </p:cNvPr>
          <p:cNvSpPr>
            <a:spLocks noGrp="1"/>
          </p:cNvSpPr>
          <p:nvPr>
            <p:ph sz="quarter" idx="11"/>
          </p:nvPr>
        </p:nvSpPr>
        <p:spPr>
          <a:xfrm>
            <a:off x="647700" y="1409700"/>
            <a:ext cx="11049000" cy="4610100"/>
          </a:xfrm>
        </p:spPr>
        <p:txBody>
          <a:bodyPr/>
          <a:lstStyle/>
          <a:p>
            <a:r>
              <a:rPr lang="en-US" dirty="0"/>
              <a:t>Consider an inflow boundary condition where the advection term is of interest</a:t>
            </a:r>
          </a:p>
          <a:p>
            <a:pPr marL="342900" indent="-342900">
              <a:buFont typeface="Arial" panose="020B0604020202020204" pitchFamily="34" charset="0"/>
              <a:buChar char="•"/>
            </a:pPr>
            <a:r>
              <a:rPr lang="en-US" dirty="0"/>
              <a:t>You may have a pipe flow with a given inflow velocity to match a Reynolds number:</a:t>
            </a:r>
          </a:p>
          <a:p>
            <a:pPr marL="342900" indent="-342900">
              <a:buFont typeface="Arial" panose="020B0604020202020204" pitchFamily="34" charset="0"/>
              <a:buChar char="•"/>
            </a:pPr>
            <a:r>
              <a:rPr lang="en-US" dirty="0"/>
              <a:t>A well-posed condition provides the inlet density, velocity and scalar values</a:t>
            </a:r>
          </a:p>
        </p:txBody>
      </p:sp>
      <p:sp>
        <p:nvSpPr>
          <p:cNvPr id="7" name="Striped Right Arrow 6">
            <a:extLst>
              <a:ext uri="{FF2B5EF4-FFF2-40B4-BE49-F238E27FC236}">
                <a16:creationId xmlns:a16="http://schemas.microsoft.com/office/drawing/2014/main" id="{041DAFB7-0BF6-DA1C-2C7C-F4A932098DE4}"/>
              </a:ext>
            </a:extLst>
          </p:cNvPr>
          <p:cNvSpPr/>
          <p:nvPr/>
        </p:nvSpPr>
        <p:spPr>
          <a:xfrm rot="730750">
            <a:off x="4983107" y="3443088"/>
            <a:ext cx="821410" cy="208886"/>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2D971F3-AEAF-2D81-124C-E490B670AC0F}"/>
              </a:ext>
            </a:extLst>
          </p:cNvPr>
          <p:cNvSpPr txBox="1"/>
          <p:nvPr/>
        </p:nvSpPr>
        <p:spPr>
          <a:xfrm>
            <a:off x="4231037" y="3285641"/>
            <a:ext cx="0" cy="0"/>
          </a:xfrm>
          <a:prstGeom prst="rect">
            <a:avLst/>
          </a:prstGeom>
        </p:spPr>
        <p:txBody>
          <a:bodyPr vert="horz" wrap="none" lIns="91440" tIns="45720" rIns="91440" bIns="45720" rtlCol="0">
            <a:noAutofit/>
          </a:bodyPr>
          <a:lstStyle/>
          <a:p>
            <a:pPr algn="l"/>
            <a:r>
              <a:rPr lang="en-US" dirty="0"/>
              <a:t>Inflow</a:t>
            </a:r>
          </a:p>
        </p:txBody>
      </p:sp>
      <p:pic>
        <p:nvPicPr>
          <p:cNvPr id="10" name="Picture 9">
            <a:extLst>
              <a:ext uri="{FF2B5EF4-FFF2-40B4-BE49-F238E27FC236}">
                <a16:creationId xmlns:a16="http://schemas.microsoft.com/office/drawing/2014/main" id="{CBFA15FD-E316-B4FA-12F4-1D20136C6CBD}"/>
              </a:ext>
            </a:extLst>
          </p:cNvPr>
          <p:cNvPicPr>
            <a:picLocks noChangeAspect="1"/>
          </p:cNvPicPr>
          <p:nvPr/>
        </p:nvPicPr>
        <p:blipFill>
          <a:blip r:embed="rId3"/>
          <a:stretch>
            <a:fillRect/>
          </a:stretch>
        </p:blipFill>
        <p:spPr>
          <a:xfrm>
            <a:off x="507785" y="3909638"/>
            <a:ext cx="4140200" cy="762000"/>
          </a:xfrm>
          <a:prstGeom prst="rect">
            <a:avLst/>
          </a:prstGeom>
        </p:spPr>
      </p:pic>
    </p:spTree>
    <p:extLst>
      <p:ext uri="{BB962C8B-B14F-4D97-AF65-F5344CB8AC3E}">
        <p14:creationId xmlns:p14="http://schemas.microsoft.com/office/powerpoint/2010/main" val="52365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FBCF40-AA68-CBA1-127D-89E2B96F2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5267" y="2587994"/>
            <a:ext cx="4325932" cy="3657600"/>
          </a:xfrm>
          <a:prstGeom prst="rect">
            <a:avLst/>
          </a:prstGeom>
        </p:spPr>
      </p:pic>
      <p:sp>
        <p:nvSpPr>
          <p:cNvPr id="2" name="Title 1">
            <a:extLst>
              <a:ext uri="{FF2B5EF4-FFF2-40B4-BE49-F238E27FC236}">
                <a16:creationId xmlns:a16="http://schemas.microsoft.com/office/drawing/2014/main" id="{1F45AF1F-254E-57DF-DB12-6B613AF9E588}"/>
              </a:ext>
            </a:extLst>
          </p:cNvPr>
          <p:cNvSpPr>
            <a:spLocks noGrp="1"/>
          </p:cNvSpPr>
          <p:nvPr>
            <p:ph type="title"/>
          </p:nvPr>
        </p:nvSpPr>
        <p:spPr/>
        <p:txBody>
          <a:bodyPr/>
          <a:lstStyle/>
          <a:p>
            <a:r>
              <a:rPr lang="en-US" dirty="0"/>
              <a:t>For Example, a Vertex-Centered (EBVC/CVFEM) Inflow Boundary</a:t>
            </a:r>
            <a:br>
              <a:rPr lang="en-US" dirty="0"/>
            </a:br>
            <a:r>
              <a:rPr lang="en-US" dirty="0"/>
              <a:t>Flux-based (Weak treatment)</a:t>
            </a:r>
          </a:p>
        </p:txBody>
      </p:sp>
      <p:sp>
        <p:nvSpPr>
          <p:cNvPr id="3" name="Slide Number Placeholder 2">
            <a:extLst>
              <a:ext uri="{FF2B5EF4-FFF2-40B4-BE49-F238E27FC236}">
                <a16:creationId xmlns:a16="http://schemas.microsoft.com/office/drawing/2014/main" id="{67161F0D-0104-75A0-725F-A20D4E9A171A}"/>
              </a:ext>
            </a:extLst>
          </p:cNvPr>
          <p:cNvSpPr>
            <a:spLocks noGrp="1"/>
          </p:cNvSpPr>
          <p:nvPr>
            <p:ph type="sldNum" sz="quarter" idx="10"/>
          </p:nvPr>
        </p:nvSpPr>
        <p:spPr/>
        <p:txBody>
          <a:bodyPr/>
          <a:lstStyle/>
          <a:p>
            <a:fld id="{4FAB73BC-B049-4115-A692-8D63A059BFB8}" type="slidenum">
              <a:rPr lang="en-US" smtClean="0"/>
              <a:pPr/>
              <a:t>10</a:t>
            </a:fld>
            <a:endParaRPr lang="en-US" dirty="0"/>
          </a:p>
        </p:txBody>
      </p:sp>
      <p:sp>
        <p:nvSpPr>
          <p:cNvPr id="11" name="TextBox 10">
            <a:extLst>
              <a:ext uri="{FF2B5EF4-FFF2-40B4-BE49-F238E27FC236}">
                <a16:creationId xmlns:a16="http://schemas.microsoft.com/office/drawing/2014/main" id="{FEB36560-70BE-8A90-50D1-441C99FED41B}"/>
              </a:ext>
            </a:extLst>
          </p:cNvPr>
          <p:cNvSpPr txBox="1"/>
          <p:nvPr/>
        </p:nvSpPr>
        <p:spPr>
          <a:xfrm>
            <a:off x="11112285" y="2975675"/>
            <a:ext cx="0" cy="0"/>
          </a:xfrm>
          <a:prstGeom prst="rect">
            <a:avLst/>
          </a:prstGeom>
        </p:spPr>
        <p:txBody>
          <a:bodyPr vert="horz" wrap="none" lIns="91440" tIns="45720" rIns="91440" bIns="45720" rtlCol="0">
            <a:noAutofit/>
          </a:bodyPr>
          <a:lstStyle/>
          <a:p>
            <a:pPr algn="l"/>
            <a:endParaRPr lang="en-US" dirty="0"/>
          </a:p>
        </p:txBody>
      </p:sp>
      <p:sp>
        <p:nvSpPr>
          <p:cNvPr id="12" name="Content Placeholder 3">
            <a:extLst>
              <a:ext uri="{FF2B5EF4-FFF2-40B4-BE49-F238E27FC236}">
                <a16:creationId xmlns:a16="http://schemas.microsoft.com/office/drawing/2014/main" id="{8E90F397-926A-D905-8B95-8D312AA5A73E}"/>
              </a:ext>
            </a:extLst>
          </p:cNvPr>
          <p:cNvSpPr>
            <a:spLocks noGrp="1"/>
          </p:cNvSpPr>
          <p:nvPr>
            <p:ph sz="quarter" idx="11"/>
          </p:nvPr>
        </p:nvSpPr>
        <p:spPr>
          <a:xfrm>
            <a:off x="647700" y="1409700"/>
            <a:ext cx="11049000" cy="4610100"/>
          </a:xfrm>
        </p:spPr>
        <p:txBody>
          <a:bodyPr/>
          <a:lstStyle/>
          <a:p>
            <a:r>
              <a:rPr lang="en-US" dirty="0"/>
              <a:t>Consider an inflow boundary condition where the advection term is of interest</a:t>
            </a:r>
          </a:p>
          <a:p>
            <a:pPr marL="342900" indent="-342900">
              <a:buFont typeface="Arial" panose="020B0604020202020204" pitchFamily="34" charset="0"/>
              <a:buChar char="•"/>
            </a:pPr>
            <a:r>
              <a:rPr lang="en-US" dirty="0"/>
              <a:t>You may have a pipe flow with a given inflow velocity to match a Reynolds number:</a:t>
            </a:r>
          </a:p>
          <a:p>
            <a:pPr marL="342900" indent="-342900">
              <a:buFont typeface="Arial" panose="020B0604020202020204" pitchFamily="34" charset="0"/>
              <a:buChar char="•"/>
            </a:pPr>
            <a:r>
              <a:rPr lang="en-US" dirty="0"/>
              <a:t>A well-posed condition provides the inlet density, velocity and scalar values</a:t>
            </a:r>
          </a:p>
        </p:txBody>
      </p:sp>
      <p:sp>
        <p:nvSpPr>
          <p:cNvPr id="7" name="Striped Right Arrow 6">
            <a:extLst>
              <a:ext uri="{FF2B5EF4-FFF2-40B4-BE49-F238E27FC236}">
                <a16:creationId xmlns:a16="http://schemas.microsoft.com/office/drawing/2014/main" id="{041DAFB7-0BF6-DA1C-2C7C-F4A932098DE4}"/>
              </a:ext>
            </a:extLst>
          </p:cNvPr>
          <p:cNvSpPr/>
          <p:nvPr/>
        </p:nvSpPr>
        <p:spPr>
          <a:xfrm rot="730750">
            <a:off x="4890118" y="3784048"/>
            <a:ext cx="821410" cy="208886"/>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2D971F3-AEAF-2D81-124C-E490B670AC0F}"/>
              </a:ext>
            </a:extLst>
          </p:cNvPr>
          <p:cNvSpPr txBox="1"/>
          <p:nvPr/>
        </p:nvSpPr>
        <p:spPr>
          <a:xfrm>
            <a:off x="4107051" y="3611104"/>
            <a:ext cx="0" cy="0"/>
          </a:xfrm>
          <a:prstGeom prst="rect">
            <a:avLst/>
          </a:prstGeom>
        </p:spPr>
        <p:txBody>
          <a:bodyPr vert="horz" wrap="none" lIns="91440" tIns="45720" rIns="91440" bIns="45720" rtlCol="0">
            <a:noAutofit/>
          </a:bodyPr>
          <a:lstStyle/>
          <a:p>
            <a:pPr algn="l"/>
            <a:r>
              <a:rPr lang="en-US" dirty="0"/>
              <a:t>Inflow</a:t>
            </a:r>
          </a:p>
        </p:txBody>
      </p:sp>
      <p:pic>
        <p:nvPicPr>
          <p:cNvPr id="10" name="Picture 9">
            <a:extLst>
              <a:ext uri="{FF2B5EF4-FFF2-40B4-BE49-F238E27FC236}">
                <a16:creationId xmlns:a16="http://schemas.microsoft.com/office/drawing/2014/main" id="{CBFA15FD-E316-B4FA-12F4-1D20136C6CBD}"/>
              </a:ext>
            </a:extLst>
          </p:cNvPr>
          <p:cNvPicPr>
            <a:picLocks noChangeAspect="1"/>
          </p:cNvPicPr>
          <p:nvPr/>
        </p:nvPicPr>
        <p:blipFill>
          <a:blip r:embed="rId3"/>
          <a:stretch>
            <a:fillRect/>
          </a:stretch>
        </p:blipFill>
        <p:spPr>
          <a:xfrm>
            <a:off x="507785" y="3909638"/>
            <a:ext cx="4140200" cy="762000"/>
          </a:xfrm>
          <a:prstGeom prst="rect">
            <a:avLst/>
          </a:prstGeom>
        </p:spPr>
      </p:pic>
      <p:sp>
        <p:nvSpPr>
          <p:cNvPr id="6" name="Striped Right Arrow 5">
            <a:extLst>
              <a:ext uri="{FF2B5EF4-FFF2-40B4-BE49-F238E27FC236}">
                <a16:creationId xmlns:a16="http://schemas.microsoft.com/office/drawing/2014/main" id="{26F4C0FD-2CC9-E697-F5B5-689DB3FC51DD}"/>
              </a:ext>
            </a:extLst>
          </p:cNvPr>
          <p:cNvSpPr/>
          <p:nvPr/>
        </p:nvSpPr>
        <p:spPr>
          <a:xfrm rot="730750">
            <a:off x="4732551" y="4525385"/>
            <a:ext cx="821410" cy="208886"/>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5078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FBCF40-AA68-CBA1-127D-89E2B96F2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5267" y="2587994"/>
            <a:ext cx="4325932" cy="3657600"/>
          </a:xfrm>
          <a:prstGeom prst="rect">
            <a:avLst/>
          </a:prstGeom>
        </p:spPr>
      </p:pic>
      <p:sp>
        <p:nvSpPr>
          <p:cNvPr id="2" name="Title 1">
            <a:extLst>
              <a:ext uri="{FF2B5EF4-FFF2-40B4-BE49-F238E27FC236}">
                <a16:creationId xmlns:a16="http://schemas.microsoft.com/office/drawing/2014/main" id="{1F45AF1F-254E-57DF-DB12-6B613AF9E588}"/>
              </a:ext>
            </a:extLst>
          </p:cNvPr>
          <p:cNvSpPr>
            <a:spLocks noGrp="1"/>
          </p:cNvSpPr>
          <p:nvPr>
            <p:ph type="title"/>
          </p:nvPr>
        </p:nvSpPr>
        <p:spPr/>
        <p:txBody>
          <a:bodyPr/>
          <a:lstStyle/>
          <a:p>
            <a:r>
              <a:rPr lang="en-US" dirty="0"/>
              <a:t>For Example, a Vertex-Centered (EBVC/CVFEM) Inflow Boundary</a:t>
            </a:r>
            <a:br>
              <a:rPr lang="en-US" dirty="0"/>
            </a:br>
            <a:r>
              <a:rPr lang="en-US" dirty="0"/>
              <a:t>Dirichlet-based (Strong treatment)</a:t>
            </a:r>
          </a:p>
        </p:txBody>
      </p:sp>
      <p:sp>
        <p:nvSpPr>
          <p:cNvPr id="3" name="Slide Number Placeholder 2">
            <a:extLst>
              <a:ext uri="{FF2B5EF4-FFF2-40B4-BE49-F238E27FC236}">
                <a16:creationId xmlns:a16="http://schemas.microsoft.com/office/drawing/2014/main" id="{67161F0D-0104-75A0-725F-A20D4E9A171A}"/>
              </a:ext>
            </a:extLst>
          </p:cNvPr>
          <p:cNvSpPr>
            <a:spLocks noGrp="1"/>
          </p:cNvSpPr>
          <p:nvPr>
            <p:ph type="sldNum" sz="quarter" idx="10"/>
          </p:nvPr>
        </p:nvSpPr>
        <p:spPr/>
        <p:txBody>
          <a:bodyPr/>
          <a:lstStyle/>
          <a:p>
            <a:fld id="{4FAB73BC-B049-4115-A692-8D63A059BFB8}" type="slidenum">
              <a:rPr lang="en-US" smtClean="0"/>
              <a:pPr/>
              <a:t>11</a:t>
            </a:fld>
            <a:endParaRPr lang="en-US" dirty="0"/>
          </a:p>
        </p:txBody>
      </p:sp>
      <p:sp>
        <p:nvSpPr>
          <p:cNvPr id="11" name="TextBox 10">
            <a:extLst>
              <a:ext uri="{FF2B5EF4-FFF2-40B4-BE49-F238E27FC236}">
                <a16:creationId xmlns:a16="http://schemas.microsoft.com/office/drawing/2014/main" id="{FEB36560-70BE-8A90-50D1-441C99FED41B}"/>
              </a:ext>
            </a:extLst>
          </p:cNvPr>
          <p:cNvSpPr txBox="1"/>
          <p:nvPr/>
        </p:nvSpPr>
        <p:spPr>
          <a:xfrm>
            <a:off x="11112285" y="2975675"/>
            <a:ext cx="0" cy="0"/>
          </a:xfrm>
          <a:prstGeom prst="rect">
            <a:avLst/>
          </a:prstGeom>
        </p:spPr>
        <p:txBody>
          <a:bodyPr vert="horz" wrap="none" lIns="91440" tIns="45720" rIns="91440" bIns="45720" rtlCol="0">
            <a:noAutofit/>
          </a:bodyPr>
          <a:lstStyle/>
          <a:p>
            <a:pPr algn="l"/>
            <a:endParaRPr lang="en-US" dirty="0"/>
          </a:p>
        </p:txBody>
      </p:sp>
      <p:sp>
        <p:nvSpPr>
          <p:cNvPr id="12" name="Content Placeholder 3">
            <a:extLst>
              <a:ext uri="{FF2B5EF4-FFF2-40B4-BE49-F238E27FC236}">
                <a16:creationId xmlns:a16="http://schemas.microsoft.com/office/drawing/2014/main" id="{8E90F397-926A-D905-8B95-8D312AA5A73E}"/>
              </a:ext>
            </a:extLst>
          </p:cNvPr>
          <p:cNvSpPr>
            <a:spLocks noGrp="1"/>
          </p:cNvSpPr>
          <p:nvPr>
            <p:ph sz="quarter" idx="11"/>
          </p:nvPr>
        </p:nvSpPr>
        <p:spPr>
          <a:xfrm>
            <a:off x="647700" y="1409700"/>
            <a:ext cx="11049000" cy="4610100"/>
          </a:xfrm>
        </p:spPr>
        <p:txBody>
          <a:bodyPr/>
          <a:lstStyle/>
          <a:p>
            <a:r>
              <a:rPr lang="en-US" dirty="0"/>
              <a:t>Consider an inflow boundary condition where the advection term is of interest</a:t>
            </a:r>
          </a:p>
          <a:p>
            <a:pPr marL="342900" indent="-342900">
              <a:buFont typeface="Arial" panose="020B0604020202020204" pitchFamily="34" charset="0"/>
              <a:buChar char="•"/>
            </a:pPr>
            <a:r>
              <a:rPr lang="en-US" dirty="0"/>
              <a:t>You may have a pipe flow with a given inflow velocity to match a Reynolds number:</a:t>
            </a:r>
          </a:p>
          <a:p>
            <a:pPr marL="342900" indent="-342900">
              <a:buFont typeface="Arial" panose="020B0604020202020204" pitchFamily="34" charset="0"/>
              <a:buChar char="•"/>
            </a:pPr>
            <a:r>
              <a:rPr lang="en-US" dirty="0"/>
              <a:t>A well-posed condition provides the inlet density, velocity and scalar values</a:t>
            </a:r>
          </a:p>
        </p:txBody>
      </p:sp>
      <p:sp>
        <p:nvSpPr>
          <p:cNvPr id="9" name="TextBox 8">
            <a:extLst>
              <a:ext uri="{FF2B5EF4-FFF2-40B4-BE49-F238E27FC236}">
                <a16:creationId xmlns:a16="http://schemas.microsoft.com/office/drawing/2014/main" id="{92D971F3-AEAF-2D81-124C-E490B670AC0F}"/>
              </a:ext>
            </a:extLst>
          </p:cNvPr>
          <p:cNvSpPr txBox="1"/>
          <p:nvPr/>
        </p:nvSpPr>
        <p:spPr>
          <a:xfrm>
            <a:off x="4107051" y="3611104"/>
            <a:ext cx="0" cy="0"/>
          </a:xfrm>
          <a:prstGeom prst="rect">
            <a:avLst/>
          </a:prstGeom>
        </p:spPr>
        <p:txBody>
          <a:bodyPr vert="horz" wrap="none" lIns="91440" tIns="45720" rIns="91440" bIns="45720" rtlCol="0">
            <a:noAutofit/>
          </a:bodyPr>
          <a:lstStyle/>
          <a:p>
            <a:pPr algn="l"/>
            <a:r>
              <a:rPr lang="en-US" dirty="0"/>
              <a:t>Inflow</a:t>
            </a:r>
          </a:p>
        </p:txBody>
      </p:sp>
      <p:pic>
        <p:nvPicPr>
          <p:cNvPr id="4" name="Picture 3">
            <a:extLst>
              <a:ext uri="{FF2B5EF4-FFF2-40B4-BE49-F238E27FC236}">
                <a16:creationId xmlns:a16="http://schemas.microsoft.com/office/drawing/2014/main" id="{01300884-1935-0792-93B6-E1D53DC25757}"/>
              </a:ext>
            </a:extLst>
          </p:cNvPr>
          <p:cNvPicPr>
            <a:picLocks noChangeAspect="1"/>
          </p:cNvPicPr>
          <p:nvPr/>
        </p:nvPicPr>
        <p:blipFill>
          <a:blip r:embed="rId3"/>
          <a:stretch>
            <a:fillRect/>
          </a:stretch>
        </p:blipFill>
        <p:spPr>
          <a:xfrm>
            <a:off x="4204346" y="4150094"/>
            <a:ext cx="1117600" cy="266700"/>
          </a:xfrm>
          <a:prstGeom prst="rect">
            <a:avLst/>
          </a:prstGeom>
        </p:spPr>
      </p:pic>
      <p:sp>
        <p:nvSpPr>
          <p:cNvPr id="8" name="TextBox 7">
            <a:extLst>
              <a:ext uri="{FF2B5EF4-FFF2-40B4-BE49-F238E27FC236}">
                <a16:creationId xmlns:a16="http://schemas.microsoft.com/office/drawing/2014/main" id="{601B5AF6-BA3D-E5B5-4F07-9DD62EB68D90}"/>
              </a:ext>
            </a:extLst>
          </p:cNvPr>
          <p:cNvSpPr txBox="1"/>
          <p:nvPr/>
        </p:nvSpPr>
        <p:spPr>
          <a:xfrm>
            <a:off x="898902" y="4572000"/>
            <a:ext cx="0" cy="0"/>
          </a:xfrm>
          <a:prstGeom prst="rect">
            <a:avLst/>
          </a:prstGeom>
        </p:spPr>
        <p:txBody>
          <a:bodyPr vert="horz" wrap="none" lIns="91440" tIns="45720" rIns="91440" bIns="45720" rtlCol="0">
            <a:noAutofit/>
          </a:bodyPr>
          <a:lstStyle/>
          <a:p>
            <a:pPr algn="l"/>
            <a:r>
              <a:rPr lang="en-US" dirty="0" err="1"/>
              <a:t>Dirichelt</a:t>
            </a:r>
            <a:r>
              <a:rPr lang="en-US" dirty="0"/>
              <a:t> conditions are applied when you </a:t>
            </a:r>
          </a:p>
          <a:p>
            <a:pPr algn="l"/>
            <a:r>
              <a:rPr lang="en-US" dirty="0"/>
              <a:t>know the precise value at the boundary, </a:t>
            </a:r>
          </a:p>
          <a:p>
            <a:pPr algn="l"/>
            <a:r>
              <a:rPr lang="en-US" dirty="0"/>
              <a:t>i.e., an inflow, or a wall</a:t>
            </a:r>
          </a:p>
          <a:p>
            <a:pPr algn="l"/>
            <a:endParaRPr lang="en-US" dirty="0"/>
          </a:p>
          <a:p>
            <a:pPr algn="l"/>
            <a:r>
              <a:rPr lang="en-US" dirty="0"/>
              <a:t>Often times, boundary conditions are</a:t>
            </a:r>
          </a:p>
          <a:p>
            <a:pPr algn="l"/>
            <a:r>
              <a:rPr lang="en-US" dirty="0"/>
              <a:t>naturally flux-based, e.g., at an adiabatic</a:t>
            </a:r>
          </a:p>
          <a:p>
            <a:pPr algn="l"/>
            <a:r>
              <a:rPr lang="en-US" dirty="0"/>
              <a:t>wall you know the heat flux, open-</a:t>
            </a:r>
            <a:r>
              <a:rPr lang="en-US" dirty="0" err="1"/>
              <a:t>bc</a:t>
            </a:r>
            <a:r>
              <a:rPr lang="en-US" dirty="0"/>
              <a:t> </a:t>
            </a:r>
          </a:p>
          <a:p>
            <a:pPr algn="l"/>
            <a:r>
              <a:rPr lang="en-US" dirty="0"/>
              <a:t>(zero flux), etc.</a:t>
            </a:r>
          </a:p>
        </p:txBody>
      </p:sp>
    </p:spTree>
    <p:extLst>
      <p:ext uri="{BB962C8B-B14F-4D97-AF65-F5344CB8AC3E}">
        <p14:creationId xmlns:p14="http://schemas.microsoft.com/office/powerpoint/2010/main" val="1583470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D2986-4928-73C0-602D-1F896282415D}"/>
              </a:ext>
            </a:extLst>
          </p:cNvPr>
          <p:cNvSpPr>
            <a:spLocks noGrp="1"/>
          </p:cNvSpPr>
          <p:nvPr>
            <p:ph type="title"/>
          </p:nvPr>
        </p:nvSpPr>
        <p:spPr/>
        <p:txBody>
          <a:bodyPr/>
          <a:lstStyle/>
          <a:p>
            <a:r>
              <a:rPr lang="en-US" dirty="0"/>
              <a:t>Weak vs Strong: A Practical Heat Conduction Example</a:t>
            </a:r>
          </a:p>
        </p:txBody>
      </p:sp>
      <p:sp>
        <p:nvSpPr>
          <p:cNvPr id="3" name="Slide Number Placeholder 2">
            <a:extLst>
              <a:ext uri="{FF2B5EF4-FFF2-40B4-BE49-F238E27FC236}">
                <a16:creationId xmlns:a16="http://schemas.microsoft.com/office/drawing/2014/main" id="{D44ACCFC-386B-73DF-3010-8C6FF20618FA}"/>
              </a:ext>
            </a:extLst>
          </p:cNvPr>
          <p:cNvSpPr>
            <a:spLocks noGrp="1"/>
          </p:cNvSpPr>
          <p:nvPr>
            <p:ph type="sldNum" sz="quarter" idx="10"/>
          </p:nvPr>
        </p:nvSpPr>
        <p:spPr/>
        <p:txBody>
          <a:bodyPr/>
          <a:lstStyle/>
          <a:p>
            <a:fld id="{4FAB73BC-B049-4115-A692-8D63A059BFB8}" type="slidenum">
              <a:rPr lang="en-US" smtClean="0"/>
              <a:pPr/>
              <a:t>12</a:t>
            </a:fld>
            <a:endParaRPr lang="en-US" dirty="0"/>
          </a:p>
        </p:txBody>
      </p:sp>
      <p:sp>
        <p:nvSpPr>
          <p:cNvPr id="4" name="Content Placeholder 3">
            <a:extLst>
              <a:ext uri="{FF2B5EF4-FFF2-40B4-BE49-F238E27FC236}">
                <a16:creationId xmlns:a16="http://schemas.microsoft.com/office/drawing/2014/main" id="{B59AAB12-9ADC-0B99-59A2-C1B56A712669}"/>
              </a:ext>
            </a:extLst>
          </p:cNvPr>
          <p:cNvSpPr>
            <a:spLocks noGrp="1"/>
          </p:cNvSpPr>
          <p:nvPr>
            <p:ph sz="quarter" idx="11"/>
          </p:nvPr>
        </p:nvSpPr>
        <p:spPr>
          <a:xfrm>
            <a:off x="647700" y="1409699"/>
            <a:ext cx="4951370" cy="5187043"/>
          </a:xfrm>
        </p:spPr>
        <p:txBody>
          <a:bodyPr/>
          <a:lstStyle/>
          <a:p>
            <a:r>
              <a:rPr lang="en-US" dirty="0"/>
              <a:t>Consider a simple heat conduction solution in which temperature is known at the boundaries, T = </a:t>
            </a:r>
            <a:r>
              <a:rPr lang="en-US" dirty="0" err="1"/>
              <a:t>T</a:t>
            </a:r>
            <a:r>
              <a:rPr lang="en-US" baseline="30000" dirty="0" err="1"/>
              <a:t>spec</a:t>
            </a:r>
            <a:endParaRPr lang="en-US" baseline="30000" dirty="0"/>
          </a:p>
          <a:p>
            <a:pPr marL="342900" indent="-342900">
              <a:buFont typeface="Arial" panose="020B0604020202020204" pitchFamily="34" charset="0"/>
              <a:buChar char="•"/>
            </a:pPr>
            <a:r>
              <a:rPr lang="en-US" dirty="0"/>
              <a:t>Governing Equation:</a:t>
            </a:r>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r>
              <a:rPr lang="en-US" dirty="0"/>
              <a:t>It can be shown (see </a:t>
            </a:r>
            <a:r>
              <a:rPr lang="en-US" dirty="0" err="1"/>
              <a:t>Svard</a:t>
            </a:r>
            <a:r>
              <a:rPr lang="en-US" dirty="0"/>
              <a:t> and Nordstrom, JCP, 2008) that a stable and accurate weak BC implementation is provided by:</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Consider the MMS temperature solution (and convergence to the right): </a:t>
            </a:r>
          </a:p>
          <a:p>
            <a:endParaRPr lang="en-US" dirty="0"/>
          </a:p>
        </p:txBody>
      </p:sp>
      <p:pic>
        <p:nvPicPr>
          <p:cNvPr id="5" name="Picture 4">
            <a:extLst>
              <a:ext uri="{FF2B5EF4-FFF2-40B4-BE49-F238E27FC236}">
                <a16:creationId xmlns:a16="http://schemas.microsoft.com/office/drawing/2014/main" id="{7C60064B-4197-D58F-E7F1-6AED3829DCB7}"/>
              </a:ext>
            </a:extLst>
          </p:cNvPr>
          <p:cNvPicPr>
            <a:picLocks noChangeAspect="1"/>
          </p:cNvPicPr>
          <p:nvPr/>
        </p:nvPicPr>
        <p:blipFill rotWithShape="1">
          <a:blip r:embed="rId2">
            <a:extLst>
              <a:ext uri="{28A0092B-C50C-407E-A947-70E740481C1C}">
                <a14:useLocalDpi xmlns:a14="http://schemas.microsoft.com/office/drawing/2010/main" val="0"/>
              </a:ext>
            </a:extLst>
          </a:blip>
          <a:srcRect l="10787" t="3036" r="8094" b="5455"/>
          <a:stretch/>
        </p:blipFill>
        <p:spPr>
          <a:xfrm>
            <a:off x="7268705" y="866756"/>
            <a:ext cx="4020292" cy="5869091"/>
          </a:xfrm>
          <a:prstGeom prst="rect">
            <a:avLst/>
          </a:prstGeom>
        </p:spPr>
      </p:pic>
      <p:pic>
        <p:nvPicPr>
          <p:cNvPr id="6" name="Picture 5">
            <a:extLst>
              <a:ext uri="{FF2B5EF4-FFF2-40B4-BE49-F238E27FC236}">
                <a16:creationId xmlns:a16="http://schemas.microsoft.com/office/drawing/2014/main" id="{EB1563C7-2C24-7AD2-65A0-1552BE0D17F4}"/>
              </a:ext>
            </a:extLst>
          </p:cNvPr>
          <p:cNvPicPr>
            <a:picLocks noChangeAspect="1"/>
          </p:cNvPicPr>
          <p:nvPr/>
        </p:nvPicPr>
        <p:blipFill>
          <a:blip r:embed="rId3"/>
          <a:stretch>
            <a:fillRect/>
          </a:stretch>
        </p:blipFill>
        <p:spPr>
          <a:xfrm>
            <a:off x="8219837" y="4937297"/>
            <a:ext cx="1758818" cy="1257267"/>
          </a:xfrm>
          <a:prstGeom prst="rect">
            <a:avLst/>
          </a:prstGeom>
        </p:spPr>
      </p:pic>
      <p:pic>
        <p:nvPicPr>
          <p:cNvPr id="7" name="Picture 6">
            <a:extLst>
              <a:ext uri="{FF2B5EF4-FFF2-40B4-BE49-F238E27FC236}">
                <a16:creationId xmlns:a16="http://schemas.microsoft.com/office/drawing/2014/main" id="{43E2DEDB-7A0E-D12C-7E66-33B05EF7A37C}"/>
              </a:ext>
            </a:extLst>
          </p:cNvPr>
          <p:cNvPicPr>
            <a:picLocks noChangeAspect="1"/>
          </p:cNvPicPr>
          <p:nvPr/>
        </p:nvPicPr>
        <p:blipFill>
          <a:blip r:embed="rId4"/>
          <a:stretch>
            <a:fillRect/>
          </a:stretch>
        </p:blipFill>
        <p:spPr>
          <a:xfrm>
            <a:off x="1706475" y="6000599"/>
            <a:ext cx="5778500" cy="584200"/>
          </a:xfrm>
          <a:prstGeom prst="rect">
            <a:avLst/>
          </a:prstGeom>
        </p:spPr>
      </p:pic>
      <p:pic>
        <p:nvPicPr>
          <p:cNvPr id="8" name="Picture 7">
            <a:extLst>
              <a:ext uri="{FF2B5EF4-FFF2-40B4-BE49-F238E27FC236}">
                <a16:creationId xmlns:a16="http://schemas.microsoft.com/office/drawing/2014/main" id="{BE1E5020-53CB-3BE6-9D0E-023ED15E01B8}"/>
              </a:ext>
            </a:extLst>
          </p:cNvPr>
          <p:cNvPicPr>
            <a:picLocks noChangeAspect="1"/>
          </p:cNvPicPr>
          <p:nvPr/>
        </p:nvPicPr>
        <p:blipFill>
          <a:blip r:embed="rId5"/>
          <a:stretch>
            <a:fillRect/>
          </a:stretch>
        </p:blipFill>
        <p:spPr>
          <a:xfrm>
            <a:off x="1349001" y="2797986"/>
            <a:ext cx="4038600" cy="673100"/>
          </a:xfrm>
          <a:prstGeom prst="rect">
            <a:avLst/>
          </a:prstGeom>
        </p:spPr>
      </p:pic>
      <p:pic>
        <p:nvPicPr>
          <p:cNvPr id="9" name="Picture 8">
            <a:extLst>
              <a:ext uri="{FF2B5EF4-FFF2-40B4-BE49-F238E27FC236}">
                <a16:creationId xmlns:a16="http://schemas.microsoft.com/office/drawing/2014/main" id="{517B9C5C-E7DB-73C4-346D-C145971FCF67}"/>
              </a:ext>
            </a:extLst>
          </p:cNvPr>
          <p:cNvPicPr>
            <a:picLocks noChangeAspect="1"/>
          </p:cNvPicPr>
          <p:nvPr/>
        </p:nvPicPr>
        <p:blipFill>
          <a:blip r:embed="rId6"/>
          <a:stretch>
            <a:fillRect/>
          </a:stretch>
        </p:blipFill>
        <p:spPr>
          <a:xfrm>
            <a:off x="2621873" y="4513568"/>
            <a:ext cx="3987800" cy="673100"/>
          </a:xfrm>
          <a:prstGeom prst="rect">
            <a:avLst/>
          </a:prstGeom>
        </p:spPr>
      </p:pic>
    </p:spTree>
    <p:extLst>
      <p:ext uri="{BB962C8B-B14F-4D97-AF65-F5344CB8AC3E}">
        <p14:creationId xmlns:p14="http://schemas.microsoft.com/office/powerpoint/2010/main" val="88780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5AF1F-254E-57DF-DB12-6B613AF9E588}"/>
              </a:ext>
            </a:extLst>
          </p:cNvPr>
          <p:cNvSpPr>
            <a:spLocks noGrp="1"/>
          </p:cNvSpPr>
          <p:nvPr>
            <p:ph type="title"/>
          </p:nvPr>
        </p:nvSpPr>
        <p:spPr/>
        <p:txBody>
          <a:bodyPr/>
          <a:lstStyle/>
          <a:p>
            <a:r>
              <a:rPr lang="en-US" dirty="0"/>
              <a:t>Types of Boundary Conditions in Practical CFD</a:t>
            </a:r>
          </a:p>
        </p:txBody>
      </p:sp>
      <p:sp>
        <p:nvSpPr>
          <p:cNvPr id="3" name="Slide Number Placeholder 2">
            <a:extLst>
              <a:ext uri="{FF2B5EF4-FFF2-40B4-BE49-F238E27FC236}">
                <a16:creationId xmlns:a16="http://schemas.microsoft.com/office/drawing/2014/main" id="{67161F0D-0104-75A0-725F-A20D4E9A171A}"/>
              </a:ext>
            </a:extLst>
          </p:cNvPr>
          <p:cNvSpPr>
            <a:spLocks noGrp="1"/>
          </p:cNvSpPr>
          <p:nvPr>
            <p:ph type="sldNum" sz="quarter" idx="10"/>
          </p:nvPr>
        </p:nvSpPr>
        <p:spPr/>
        <p:txBody>
          <a:bodyPr/>
          <a:lstStyle/>
          <a:p>
            <a:fld id="{4FAB73BC-B049-4115-A692-8D63A059BFB8}" type="slidenum">
              <a:rPr lang="en-US" smtClean="0"/>
              <a:pPr/>
              <a:t>13</a:t>
            </a:fld>
            <a:endParaRPr lang="en-US" dirty="0"/>
          </a:p>
        </p:txBody>
      </p:sp>
      <p:sp>
        <p:nvSpPr>
          <p:cNvPr id="11" name="TextBox 10">
            <a:extLst>
              <a:ext uri="{FF2B5EF4-FFF2-40B4-BE49-F238E27FC236}">
                <a16:creationId xmlns:a16="http://schemas.microsoft.com/office/drawing/2014/main" id="{FEB36560-70BE-8A90-50D1-441C99FED41B}"/>
              </a:ext>
            </a:extLst>
          </p:cNvPr>
          <p:cNvSpPr txBox="1"/>
          <p:nvPr/>
        </p:nvSpPr>
        <p:spPr>
          <a:xfrm>
            <a:off x="11112285" y="2975675"/>
            <a:ext cx="0" cy="0"/>
          </a:xfrm>
          <a:prstGeom prst="rect">
            <a:avLst/>
          </a:prstGeom>
        </p:spPr>
        <p:txBody>
          <a:bodyPr vert="horz" wrap="none" lIns="91440" tIns="45720" rIns="91440" bIns="45720" rtlCol="0">
            <a:noAutofit/>
          </a:bodyPr>
          <a:lstStyle/>
          <a:p>
            <a:pPr algn="l"/>
            <a:endParaRPr lang="en-US" dirty="0"/>
          </a:p>
        </p:txBody>
      </p:sp>
      <p:sp>
        <p:nvSpPr>
          <p:cNvPr id="12" name="Content Placeholder 3">
            <a:extLst>
              <a:ext uri="{FF2B5EF4-FFF2-40B4-BE49-F238E27FC236}">
                <a16:creationId xmlns:a16="http://schemas.microsoft.com/office/drawing/2014/main" id="{8E90F397-926A-D905-8B95-8D312AA5A73E}"/>
              </a:ext>
            </a:extLst>
          </p:cNvPr>
          <p:cNvSpPr>
            <a:spLocks noGrp="1"/>
          </p:cNvSpPr>
          <p:nvPr>
            <p:ph sz="quarter" idx="11"/>
          </p:nvPr>
        </p:nvSpPr>
        <p:spPr>
          <a:xfrm>
            <a:off x="647700" y="1409700"/>
            <a:ext cx="11049000" cy="4610100"/>
          </a:xfrm>
        </p:spPr>
        <p:txBody>
          <a:bodyPr/>
          <a:lstStyle/>
          <a:p>
            <a:r>
              <a:rPr lang="en-US" dirty="0"/>
              <a:t>Flow-past a heated cylinder</a:t>
            </a:r>
          </a:p>
        </p:txBody>
      </p:sp>
      <p:pic>
        <p:nvPicPr>
          <p:cNvPr id="6" name="Picture 5" descr="naluP2_s002.0003.png">
            <a:extLst>
              <a:ext uri="{FF2B5EF4-FFF2-40B4-BE49-F238E27FC236}">
                <a16:creationId xmlns:a16="http://schemas.microsoft.com/office/drawing/2014/main" id="{26F181E1-3429-CC8C-BA20-F67C455CDD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5507" y="2238510"/>
            <a:ext cx="3255439" cy="2067644"/>
          </a:xfrm>
          <a:prstGeom prst="rect">
            <a:avLst/>
          </a:prstGeom>
        </p:spPr>
      </p:pic>
      <p:sp>
        <p:nvSpPr>
          <p:cNvPr id="7" name="TextBox 6">
            <a:extLst>
              <a:ext uri="{FF2B5EF4-FFF2-40B4-BE49-F238E27FC236}">
                <a16:creationId xmlns:a16="http://schemas.microsoft.com/office/drawing/2014/main" id="{7F7721AA-C0FE-E35E-D1EB-82170E557D25}"/>
              </a:ext>
            </a:extLst>
          </p:cNvPr>
          <p:cNvSpPr txBox="1"/>
          <p:nvPr/>
        </p:nvSpPr>
        <p:spPr>
          <a:xfrm>
            <a:off x="6125950" y="4365400"/>
            <a:ext cx="2494273" cy="369332"/>
          </a:xfrm>
          <a:prstGeom prst="rect">
            <a:avLst/>
          </a:prstGeom>
          <a:noFill/>
        </p:spPr>
        <p:txBody>
          <a:bodyPr wrap="none" rtlCol="0">
            <a:spAutoFit/>
          </a:bodyPr>
          <a:lstStyle/>
          <a:p>
            <a:r>
              <a:rPr lang="en-US" dirty="0"/>
              <a:t>Wall (known T and </a:t>
            </a:r>
            <a:r>
              <a:rPr lang="en-US" dirty="0" err="1"/>
              <a:t>u</a:t>
            </a:r>
            <a:r>
              <a:rPr lang="en-US" baseline="-25000" dirty="0" err="1"/>
              <a:t>i</a:t>
            </a:r>
            <a:r>
              <a:rPr lang="en-US" dirty="0"/>
              <a:t>)</a:t>
            </a:r>
          </a:p>
        </p:txBody>
      </p:sp>
      <p:cxnSp>
        <p:nvCxnSpPr>
          <p:cNvPr id="10" name="Straight Arrow Connector 9">
            <a:extLst>
              <a:ext uri="{FF2B5EF4-FFF2-40B4-BE49-F238E27FC236}">
                <a16:creationId xmlns:a16="http://schemas.microsoft.com/office/drawing/2014/main" id="{8750AABC-0CE2-E07C-0FD2-130676830E31}"/>
              </a:ext>
            </a:extLst>
          </p:cNvPr>
          <p:cNvCxnSpPr/>
          <p:nvPr/>
        </p:nvCxnSpPr>
        <p:spPr>
          <a:xfrm flipH="1" flipV="1">
            <a:off x="5657839" y="3976250"/>
            <a:ext cx="609842" cy="440289"/>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B00BD17-EC23-4CD0-5CEE-6897C11B6FB2}"/>
              </a:ext>
            </a:extLst>
          </p:cNvPr>
          <p:cNvCxnSpPr/>
          <p:nvPr/>
        </p:nvCxnSpPr>
        <p:spPr>
          <a:xfrm flipH="1" flipV="1">
            <a:off x="6177861" y="3700388"/>
            <a:ext cx="885874" cy="73994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7BCD349-1475-EEA4-07A4-590DABF82228}"/>
              </a:ext>
            </a:extLst>
          </p:cNvPr>
          <p:cNvCxnSpPr>
            <a:cxnSpLocks/>
            <a:stCxn id="15" idx="1"/>
          </p:cNvCxnSpPr>
          <p:nvPr/>
        </p:nvCxnSpPr>
        <p:spPr>
          <a:xfrm flipH="1">
            <a:off x="7063736" y="2977820"/>
            <a:ext cx="929712" cy="12353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69BFED1-00FA-86D2-7BCA-E8009A516278}"/>
              </a:ext>
            </a:extLst>
          </p:cNvPr>
          <p:cNvSpPr txBox="1"/>
          <p:nvPr/>
        </p:nvSpPr>
        <p:spPr>
          <a:xfrm>
            <a:off x="7993448" y="2239156"/>
            <a:ext cx="2486692" cy="1477328"/>
          </a:xfrm>
          <a:prstGeom prst="rect">
            <a:avLst/>
          </a:prstGeom>
          <a:noFill/>
        </p:spPr>
        <p:txBody>
          <a:bodyPr wrap="square" rtlCol="0">
            <a:spAutoFit/>
          </a:bodyPr>
          <a:lstStyle/>
          <a:p>
            <a:pPr algn="ctr"/>
            <a:r>
              <a:rPr lang="en-US" dirty="0"/>
              <a:t>Open </a:t>
            </a:r>
          </a:p>
          <a:p>
            <a:pPr algn="ctr"/>
            <a:r>
              <a:rPr lang="en-US" dirty="0"/>
              <a:t>(known P and far field temperature, zero normal gradient assumption)</a:t>
            </a:r>
          </a:p>
        </p:txBody>
      </p:sp>
      <p:cxnSp>
        <p:nvCxnSpPr>
          <p:cNvPr id="16" name="Straight Arrow Connector 15">
            <a:extLst>
              <a:ext uri="{FF2B5EF4-FFF2-40B4-BE49-F238E27FC236}">
                <a16:creationId xmlns:a16="http://schemas.microsoft.com/office/drawing/2014/main" id="{06F1C935-226F-BFE6-BC8D-00219383775D}"/>
              </a:ext>
            </a:extLst>
          </p:cNvPr>
          <p:cNvCxnSpPr>
            <a:cxnSpLocks/>
            <a:stCxn id="17" idx="1"/>
          </p:cNvCxnSpPr>
          <p:nvPr/>
        </p:nvCxnSpPr>
        <p:spPr>
          <a:xfrm flipH="1" flipV="1">
            <a:off x="7063735" y="3756648"/>
            <a:ext cx="1110231" cy="263493"/>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566B8E9-8022-90AA-372C-3A875EDE0F75}"/>
              </a:ext>
            </a:extLst>
          </p:cNvPr>
          <p:cNvSpPr txBox="1"/>
          <p:nvPr/>
        </p:nvSpPr>
        <p:spPr>
          <a:xfrm>
            <a:off x="8173966" y="3835475"/>
            <a:ext cx="2124299" cy="369332"/>
          </a:xfrm>
          <a:prstGeom prst="rect">
            <a:avLst/>
          </a:prstGeom>
          <a:noFill/>
        </p:spPr>
        <p:txBody>
          <a:bodyPr wrap="none" rtlCol="0">
            <a:spAutoFit/>
          </a:bodyPr>
          <a:lstStyle/>
          <a:p>
            <a:r>
              <a:rPr lang="en-US" dirty="0"/>
              <a:t>Span-wise periodic</a:t>
            </a:r>
          </a:p>
        </p:txBody>
      </p:sp>
      <p:sp>
        <p:nvSpPr>
          <p:cNvPr id="18" name="TextBox 17">
            <a:extLst>
              <a:ext uri="{FF2B5EF4-FFF2-40B4-BE49-F238E27FC236}">
                <a16:creationId xmlns:a16="http://schemas.microsoft.com/office/drawing/2014/main" id="{4C7FC93F-3DA3-E7DB-7C07-D99A616F63D9}"/>
              </a:ext>
            </a:extLst>
          </p:cNvPr>
          <p:cNvSpPr txBox="1"/>
          <p:nvPr/>
        </p:nvSpPr>
        <p:spPr>
          <a:xfrm>
            <a:off x="1746648" y="1935002"/>
            <a:ext cx="8862426" cy="369332"/>
          </a:xfrm>
          <a:prstGeom prst="rect">
            <a:avLst/>
          </a:prstGeom>
          <a:noFill/>
        </p:spPr>
        <p:txBody>
          <a:bodyPr wrap="none" rtlCol="0">
            <a:spAutoFit/>
          </a:bodyPr>
          <a:lstStyle/>
          <a:p>
            <a:r>
              <a:rPr lang="en-US" dirty="0"/>
              <a:t>Symmetry, “flow slips along” (normal stress </a:t>
            </a:r>
            <a:r>
              <a:rPr lang="en-US" dirty="0" err="1"/>
              <a:t>pn</a:t>
            </a:r>
            <a:r>
              <a:rPr lang="en-US" baseline="-25000" dirty="0" err="1"/>
              <a:t>i</a:t>
            </a:r>
            <a:r>
              <a:rPr lang="en-US" dirty="0" err="1"/>
              <a:t>dS</a:t>
            </a:r>
            <a:r>
              <a:rPr lang="en-US" dirty="0"/>
              <a:t> applied with tangential stress = 0)</a:t>
            </a:r>
          </a:p>
        </p:txBody>
      </p:sp>
      <p:cxnSp>
        <p:nvCxnSpPr>
          <p:cNvPr id="19" name="Straight Arrow Connector 18">
            <a:extLst>
              <a:ext uri="{FF2B5EF4-FFF2-40B4-BE49-F238E27FC236}">
                <a16:creationId xmlns:a16="http://schemas.microsoft.com/office/drawing/2014/main" id="{C6870AA8-721C-2868-514F-07E598DCB5D4}"/>
              </a:ext>
            </a:extLst>
          </p:cNvPr>
          <p:cNvCxnSpPr/>
          <p:nvPr/>
        </p:nvCxnSpPr>
        <p:spPr>
          <a:xfrm>
            <a:off x="4030203" y="2316346"/>
            <a:ext cx="330608" cy="733128"/>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4FED231-708B-5D41-45DD-AB056FDC8ED8}"/>
              </a:ext>
            </a:extLst>
          </p:cNvPr>
          <p:cNvCxnSpPr/>
          <p:nvPr/>
        </p:nvCxnSpPr>
        <p:spPr>
          <a:xfrm>
            <a:off x="2964066" y="3444588"/>
            <a:ext cx="994174" cy="84188"/>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2B6420D-18B4-0EFE-EC8C-F5B92A599F90}"/>
              </a:ext>
            </a:extLst>
          </p:cNvPr>
          <p:cNvSpPr txBox="1"/>
          <p:nvPr/>
        </p:nvSpPr>
        <p:spPr>
          <a:xfrm>
            <a:off x="1587421" y="3205611"/>
            <a:ext cx="1899559" cy="646331"/>
          </a:xfrm>
          <a:prstGeom prst="rect">
            <a:avLst/>
          </a:prstGeom>
          <a:noFill/>
        </p:spPr>
        <p:txBody>
          <a:bodyPr wrap="none" rtlCol="0">
            <a:spAutoFit/>
          </a:bodyPr>
          <a:lstStyle/>
          <a:p>
            <a:pPr algn="ctr"/>
            <a:r>
              <a:rPr lang="en-US" dirty="0"/>
              <a:t>Inflow </a:t>
            </a:r>
          </a:p>
          <a:p>
            <a:pPr algn="ctr"/>
            <a:r>
              <a:rPr lang="en-US" dirty="0"/>
              <a:t>(known T and </a:t>
            </a:r>
            <a:r>
              <a:rPr lang="en-US" dirty="0" err="1"/>
              <a:t>u</a:t>
            </a:r>
            <a:r>
              <a:rPr lang="en-US" baseline="-25000" dirty="0" err="1"/>
              <a:t>i</a:t>
            </a:r>
            <a:r>
              <a:rPr lang="en-US" dirty="0"/>
              <a:t>)</a:t>
            </a:r>
          </a:p>
        </p:txBody>
      </p:sp>
    </p:spTree>
    <p:extLst>
      <p:ext uri="{BB962C8B-B14F-4D97-AF65-F5344CB8AC3E}">
        <p14:creationId xmlns:p14="http://schemas.microsoft.com/office/powerpoint/2010/main" val="562178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5AF1F-254E-57DF-DB12-6B613AF9E588}"/>
              </a:ext>
            </a:extLst>
          </p:cNvPr>
          <p:cNvSpPr>
            <a:spLocks noGrp="1"/>
          </p:cNvSpPr>
          <p:nvPr>
            <p:ph type="title"/>
          </p:nvPr>
        </p:nvSpPr>
        <p:spPr/>
        <p:txBody>
          <a:bodyPr/>
          <a:lstStyle/>
          <a:p>
            <a:r>
              <a:rPr lang="en-US" dirty="0"/>
              <a:t>Types of Boundary Conditions in Practical CFD</a:t>
            </a:r>
          </a:p>
        </p:txBody>
      </p:sp>
      <p:sp>
        <p:nvSpPr>
          <p:cNvPr id="3" name="Slide Number Placeholder 2">
            <a:extLst>
              <a:ext uri="{FF2B5EF4-FFF2-40B4-BE49-F238E27FC236}">
                <a16:creationId xmlns:a16="http://schemas.microsoft.com/office/drawing/2014/main" id="{67161F0D-0104-75A0-725F-A20D4E9A171A}"/>
              </a:ext>
            </a:extLst>
          </p:cNvPr>
          <p:cNvSpPr>
            <a:spLocks noGrp="1"/>
          </p:cNvSpPr>
          <p:nvPr>
            <p:ph type="sldNum" sz="quarter" idx="10"/>
          </p:nvPr>
        </p:nvSpPr>
        <p:spPr/>
        <p:txBody>
          <a:bodyPr/>
          <a:lstStyle/>
          <a:p>
            <a:fld id="{4FAB73BC-B049-4115-A692-8D63A059BFB8}" type="slidenum">
              <a:rPr lang="en-US" smtClean="0"/>
              <a:pPr/>
              <a:t>14</a:t>
            </a:fld>
            <a:endParaRPr lang="en-US" dirty="0"/>
          </a:p>
        </p:txBody>
      </p:sp>
      <p:sp>
        <p:nvSpPr>
          <p:cNvPr id="11" name="TextBox 10">
            <a:extLst>
              <a:ext uri="{FF2B5EF4-FFF2-40B4-BE49-F238E27FC236}">
                <a16:creationId xmlns:a16="http://schemas.microsoft.com/office/drawing/2014/main" id="{FEB36560-70BE-8A90-50D1-441C99FED41B}"/>
              </a:ext>
            </a:extLst>
          </p:cNvPr>
          <p:cNvSpPr txBox="1"/>
          <p:nvPr/>
        </p:nvSpPr>
        <p:spPr>
          <a:xfrm>
            <a:off x="11112285" y="2975675"/>
            <a:ext cx="0" cy="0"/>
          </a:xfrm>
          <a:prstGeom prst="rect">
            <a:avLst/>
          </a:prstGeom>
        </p:spPr>
        <p:txBody>
          <a:bodyPr vert="horz" wrap="none" lIns="91440" tIns="45720" rIns="91440" bIns="45720" rtlCol="0">
            <a:noAutofit/>
          </a:bodyPr>
          <a:lstStyle/>
          <a:p>
            <a:pPr algn="l"/>
            <a:endParaRPr lang="en-US" dirty="0"/>
          </a:p>
        </p:txBody>
      </p:sp>
      <p:sp>
        <p:nvSpPr>
          <p:cNvPr id="12" name="Content Placeholder 3">
            <a:extLst>
              <a:ext uri="{FF2B5EF4-FFF2-40B4-BE49-F238E27FC236}">
                <a16:creationId xmlns:a16="http://schemas.microsoft.com/office/drawing/2014/main" id="{8E90F397-926A-D905-8B95-8D312AA5A73E}"/>
              </a:ext>
            </a:extLst>
          </p:cNvPr>
          <p:cNvSpPr>
            <a:spLocks noGrp="1"/>
          </p:cNvSpPr>
          <p:nvPr>
            <p:ph sz="quarter" idx="11"/>
          </p:nvPr>
        </p:nvSpPr>
        <p:spPr>
          <a:xfrm>
            <a:off x="647700" y="1409700"/>
            <a:ext cx="11049000" cy="4610100"/>
          </a:xfrm>
        </p:spPr>
        <p:txBody>
          <a:bodyPr/>
          <a:lstStyle/>
          <a:p>
            <a:r>
              <a:rPr lang="en-US" dirty="0"/>
              <a:t>Flow past a 2-dimensional cylinder (the midterm assignment)</a:t>
            </a:r>
          </a:p>
        </p:txBody>
      </p:sp>
      <p:sp>
        <p:nvSpPr>
          <p:cNvPr id="18" name="TextBox 17">
            <a:extLst>
              <a:ext uri="{FF2B5EF4-FFF2-40B4-BE49-F238E27FC236}">
                <a16:creationId xmlns:a16="http://schemas.microsoft.com/office/drawing/2014/main" id="{4C7FC93F-3DA3-E7DB-7C07-D99A616F63D9}"/>
              </a:ext>
            </a:extLst>
          </p:cNvPr>
          <p:cNvSpPr txBox="1"/>
          <p:nvPr/>
        </p:nvSpPr>
        <p:spPr>
          <a:xfrm>
            <a:off x="1740987" y="1688290"/>
            <a:ext cx="8862426" cy="369332"/>
          </a:xfrm>
          <a:prstGeom prst="rect">
            <a:avLst/>
          </a:prstGeom>
          <a:noFill/>
        </p:spPr>
        <p:txBody>
          <a:bodyPr wrap="none" rtlCol="0">
            <a:spAutoFit/>
          </a:bodyPr>
          <a:lstStyle/>
          <a:p>
            <a:r>
              <a:rPr lang="en-US" dirty="0"/>
              <a:t>Symmetry, “flow slips along” (normal stress </a:t>
            </a:r>
            <a:r>
              <a:rPr lang="en-US" dirty="0" err="1"/>
              <a:t>pn</a:t>
            </a:r>
            <a:r>
              <a:rPr lang="en-US" baseline="-25000" dirty="0" err="1"/>
              <a:t>i</a:t>
            </a:r>
            <a:r>
              <a:rPr lang="en-US" dirty="0" err="1"/>
              <a:t>dS</a:t>
            </a:r>
            <a:r>
              <a:rPr lang="en-US" dirty="0"/>
              <a:t> applied with tangential stress = 0)</a:t>
            </a:r>
          </a:p>
        </p:txBody>
      </p:sp>
      <p:pic>
        <p:nvPicPr>
          <p:cNvPr id="4" name="Picture 3">
            <a:extLst>
              <a:ext uri="{FF2B5EF4-FFF2-40B4-BE49-F238E27FC236}">
                <a16:creationId xmlns:a16="http://schemas.microsoft.com/office/drawing/2014/main" id="{9822CF91-B85B-C2E7-9F15-53F12C5671DF}"/>
              </a:ext>
            </a:extLst>
          </p:cNvPr>
          <p:cNvPicPr>
            <a:picLocks noChangeAspect="1"/>
          </p:cNvPicPr>
          <p:nvPr/>
        </p:nvPicPr>
        <p:blipFill rotWithShape="1">
          <a:blip r:embed="rId2"/>
          <a:srcRect l="17063" r="22489"/>
          <a:stretch/>
        </p:blipFill>
        <p:spPr>
          <a:xfrm>
            <a:off x="8924594" y="4380725"/>
            <a:ext cx="2063847" cy="2434686"/>
          </a:xfrm>
          <a:prstGeom prst="rect">
            <a:avLst/>
          </a:prstGeom>
        </p:spPr>
      </p:pic>
      <p:pic>
        <p:nvPicPr>
          <p:cNvPr id="5" name="Picture 4">
            <a:extLst>
              <a:ext uri="{FF2B5EF4-FFF2-40B4-BE49-F238E27FC236}">
                <a16:creationId xmlns:a16="http://schemas.microsoft.com/office/drawing/2014/main" id="{D4077211-A926-F343-0766-A8A8792BEE11}"/>
              </a:ext>
            </a:extLst>
          </p:cNvPr>
          <p:cNvPicPr>
            <a:picLocks noChangeAspect="1"/>
          </p:cNvPicPr>
          <p:nvPr/>
        </p:nvPicPr>
        <p:blipFill rotWithShape="1">
          <a:blip r:embed="rId3">
            <a:extLst>
              <a:ext uri="{28A0092B-C50C-407E-A947-70E740481C1C}">
                <a14:useLocalDpi xmlns:a14="http://schemas.microsoft.com/office/drawing/2010/main" val="0"/>
              </a:ext>
            </a:extLst>
          </a:blip>
          <a:srcRect l="25680" t="4218" r="27670" b="16068"/>
          <a:stretch/>
        </p:blipFill>
        <p:spPr>
          <a:xfrm>
            <a:off x="3594941" y="1999621"/>
            <a:ext cx="3880236" cy="4858379"/>
          </a:xfrm>
          <a:prstGeom prst="rect">
            <a:avLst/>
          </a:prstGeom>
        </p:spPr>
      </p:pic>
      <p:cxnSp>
        <p:nvCxnSpPr>
          <p:cNvPr id="8" name="Straight Arrow Connector 7">
            <a:extLst>
              <a:ext uri="{FF2B5EF4-FFF2-40B4-BE49-F238E27FC236}">
                <a16:creationId xmlns:a16="http://schemas.microsoft.com/office/drawing/2014/main" id="{76ACB9AF-C911-DCEB-2A76-2FA6345570A0}"/>
              </a:ext>
            </a:extLst>
          </p:cNvPr>
          <p:cNvCxnSpPr/>
          <p:nvPr/>
        </p:nvCxnSpPr>
        <p:spPr>
          <a:xfrm>
            <a:off x="2559449" y="3631356"/>
            <a:ext cx="994174" cy="84188"/>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EF9F086-4E25-F6CF-1041-960B527B8D55}"/>
              </a:ext>
            </a:extLst>
          </p:cNvPr>
          <p:cNvSpPr txBox="1"/>
          <p:nvPr/>
        </p:nvSpPr>
        <p:spPr>
          <a:xfrm>
            <a:off x="1475088" y="3392379"/>
            <a:ext cx="1222001" cy="646331"/>
          </a:xfrm>
          <a:prstGeom prst="rect">
            <a:avLst/>
          </a:prstGeom>
          <a:noFill/>
        </p:spPr>
        <p:txBody>
          <a:bodyPr wrap="none" rtlCol="0">
            <a:spAutoFit/>
          </a:bodyPr>
          <a:lstStyle/>
          <a:p>
            <a:pPr algn="ctr"/>
            <a:r>
              <a:rPr lang="en-US" dirty="0"/>
              <a:t>Inflow </a:t>
            </a:r>
          </a:p>
          <a:p>
            <a:pPr algn="ctr"/>
            <a:r>
              <a:rPr lang="en-US" dirty="0"/>
              <a:t>(known </a:t>
            </a:r>
            <a:r>
              <a:rPr lang="en-US" dirty="0" err="1"/>
              <a:t>u</a:t>
            </a:r>
            <a:r>
              <a:rPr lang="en-US" baseline="-25000" dirty="0" err="1"/>
              <a:t>i</a:t>
            </a:r>
            <a:r>
              <a:rPr lang="en-US" dirty="0"/>
              <a:t>)</a:t>
            </a:r>
          </a:p>
        </p:txBody>
      </p:sp>
      <p:sp>
        <p:nvSpPr>
          <p:cNvPr id="23" name="TextBox 22">
            <a:extLst>
              <a:ext uri="{FF2B5EF4-FFF2-40B4-BE49-F238E27FC236}">
                <a16:creationId xmlns:a16="http://schemas.microsoft.com/office/drawing/2014/main" id="{4B76A0DA-B6E3-D818-3C4F-CB06C9DDB63D}"/>
              </a:ext>
            </a:extLst>
          </p:cNvPr>
          <p:cNvSpPr txBox="1"/>
          <p:nvPr/>
        </p:nvSpPr>
        <p:spPr>
          <a:xfrm>
            <a:off x="1156428" y="4636840"/>
            <a:ext cx="2397195" cy="369332"/>
          </a:xfrm>
          <a:prstGeom prst="rect">
            <a:avLst/>
          </a:prstGeom>
          <a:noFill/>
        </p:spPr>
        <p:txBody>
          <a:bodyPr wrap="none" rtlCol="0">
            <a:spAutoFit/>
          </a:bodyPr>
          <a:lstStyle/>
          <a:p>
            <a:r>
              <a:rPr lang="en-US" dirty="0"/>
              <a:t>Wall (known Z and </a:t>
            </a:r>
            <a:r>
              <a:rPr lang="en-US" dirty="0" err="1"/>
              <a:t>u</a:t>
            </a:r>
            <a:r>
              <a:rPr lang="en-US" baseline="-25000" dirty="0" err="1"/>
              <a:t>i</a:t>
            </a:r>
            <a:r>
              <a:rPr lang="en-US" baseline="-25000" dirty="0"/>
              <a:t> </a:t>
            </a:r>
            <a:r>
              <a:rPr lang="en-US" dirty="0"/>
              <a:t>)</a:t>
            </a:r>
          </a:p>
        </p:txBody>
      </p:sp>
      <p:cxnSp>
        <p:nvCxnSpPr>
          <p:cNvPr id="24" name="Straight Arrow Connector 23">
            <a:extLst>
              <a:ext uri="{FF2B5EF4-FFF2-40B4-BE49-F238E27FC236}">
                <a16:creationId xmlns:a16="http://schemas.microsoft.com/office/drawing/2014/main" id="{A33CDB7C-B262-38DC-9F92-EC4B810804C7}"/>
              </a:ext>
            </a:extLst>
          </p:cNvPr>
          <p:cNvCxnSpPr>
            <a:cxnSpLocks/>
          </p:cNvCxnSpPr>
          <p:nvPr/>
        </p:nvCxnSpPr>
        <p:spPr>
          <a:xfrm flipV="1">
            <a:off x="3058765" y="3293862"/>
            <a:ext cx="1392710" cy="129648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CB057A2-0B8F-46DE-2C7B-76B9ED544B88}"/>
              </a:ext>
            </a:extLst>
          </p:cNvPr>
          <p:cNvCxnSpPr>
            <a:cxnSpLocks/>
          </p:cNvCxnSpPr>
          <p:nvPr/>
        </p:nvCxnSpPr>
        <p:spPr>
          <a:xfrm flipV="1">
            <a:off x="3490134" y="4466679"/>
            <a:ext cx="1435525" cy="276067"/>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E570579-7F8C-1DF0-411D-FE5A8EA206A8}"/>
              </a:ext>
            </a:extLst>
          </p:cNvPr>
          <p:cNvCxnSpPr>
            <a:cxnSpLocks/>
            <a:stCxn id="32" idx="1"/>
          </p:cNvCxnSpPr>
          <p:nvPr/>
        </p:nvCxnSpPr>
        <p:spPr>
          <a:xfrm flipH="1">
            <a:off x="7459493" y="2729894"/>
            <a:ext cx="929711" cy="262032"/>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A8167A7-A87D-6405-935E-883EE9A94661}"/>
              </a:ext>
            </a:extLst>
          </p:cNvPr>
          <p:cNvSpPr txBox="1"/>
          <p:nvPr/>
        </p:nvSpPr>
        <p:spPr>
          <a:xfrm>
            <a:off x="8389204" y="2129729"/>
            <a:ext cx="3307495" cy="1200329"/>
          </a:xfrm>
          <a:prstGeom prst="rect">
            <a:avLst/>
          </a:prstGeom>
          <a:noFill/>
        </p:spPr>
        <p:txBody>
          <a:bodyPr wrap="square" rtlCol="0">
            <a:spAutoFit/>
          </a:bodyPr>
          <a:lstStyle/>
          <a:p>
            <a:pPr algn="ctr"/>
            <a:r>
              <a:rPr lang="en-US" dirty="0"/>
              <a:t>Open </a:t>
            </a:r>
          </a:p>
          <a:p>
            <a:pPr algn="ctr"/>
            <a:r>
              <a:rPr lang="en-US" dirty="0"/>
              <a:t>(known P and far field mixture fraction, zero normal gradient assumption)</a:t>
            </a:r>
          </a:p>
        </p:txBody>
      </p:sp>
      <p:sp>
        <p:nvSpPr>
          <p:cNvPr id="34" name="TextBox 33">
            <a:extLst>
              <a:ext uri="{FF2B5EF4-FFF2-40B4-BE49-F238E27FC236}">
                <a16:creationId xmlns:a16="http://schemas.microsoft.com/office/drawing/2014/main" id="{241F0291-81A4-7FCF-0132-5A00EDEFEAFC}"/>
              </a:ext>
            </a:extLst>
          </p:cNvPr>
          <p:cNvSpPr txBox="1"/>
          <p:nvPr/>
        </p:nvSpPr>
        <p:spPr>
          <a:xfrm>
            <a:off x="7686503" y="3505249"/>
            <a:ext cx="3955195" cy="923330"/>
          </a:xfrm>
          <a:prstGeom prst="rect">
            <a:avLst/>
          </a:prstGeom>
          <a:noFill/>
        </p:spPr>
        <p:txBody>
          <a:bodyPr wrap="square" rtlCol="0">
            <a:spAutoFit/>
          </a:bodyPr>
          <a:lstStyle/>
          <a:p>
            <a:pPr algn="ctr"/>
            <a:r>
              <a:rPr lang="en-US" dirty="0"/>
              <a:t>Conformal boundary at the Quad4/Tri3 interface, hence, no boundary procedure is required</a:t>
            </a:r>
          </a:p>
        </p:txBody>
      </p:sp>
    </p:spTree>
    <p:extLst>
      <p:ext uri="{BB962C8B-B14F-4D97-AF65-F5344CB8AC3E}">
        <p14:creationId xmlns:p14="http://schemas.microsoft.com/office/powerpoint/2010/main" val="328861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5AF1F-254E-57DF-DB12-6B613AF9E588}"/>
              </a:ext>
            </a:extLst>
          </p:cNvPr>
          <p:cNvSpPr>
            <a:spLocks noGrp="1"/>
          </p:cNvSpPr>
          <p:nvPr>
            <p:ph type="title"/>
          </p:nvPr>
        </p:nvSpPr>
        <p:spPr/>
        <p:txBody>
          <a:bodyPr/>
          <a:lstStyle/>
          <a:p>
            <a:r>
              <a:rPr lang="en-US" dirty="0"/>
              <a:t>Types of Boundary Conditions in Practical CFD</a:t>
            </a:r>
          </a:p>
        </p:txBody>
      </p:sp>
      <p:sp>
        <p:nvSpPr>
          <p:cNvPr id="3" name="Slide Number Placeholder 2">
            <a:extLst>
              <a:ext uri="{FF2B5EF4-FFF2-40B4-BE49-F238E27FC236}">
                <a16:creationId xmlns:a16="http://schemas.microsoft.com/office/drawing/2014/main" id="{67161F0D-0104-75A0-725F-A20D4E9A171A}"/>
              </a:ext>
            </a:extLst>
          </p:cNvPr>
          <p:cNvSpPr>
            <a:spLocks noGrp="1"/>
          </p:cNvSpPr>
          <p:nvPr>
            <p:ph type="sldNum" sz="quarter" idx="10"/>
          </p:nvPr>
        </p:nvSpPr>
        <p:spPr/>
        <p:txBody>
          <a:bodyPr/>
          <a:lstStyle/>
          <a:p>
            <a:fld id="{4FAB73BC-B049-4115-A692-8D63A059BFB8}" type="slidenum">
              <a:rPr lang="en-US" smtClean="0"/>
              <a:pPr/>
              <a:t>15</a:t>
            </a:fld>
            <a:endParaRPr lang="en-US" dirty="0"/>
          </a:p>
        </p:txBody>
      </p:sp>
      <p:sp>
        <p:nvSpPr>
          <p:cNvPr id="12" name="Content Placeholder 3">
            <a:extLst>
              <a:ext uri="{FF2B5EF4-FFF2-40B4-BE49-F238E27FC236}">
                <a16:creationId xmlns:a16="http://schemas.microsoft.com/office/drawing/2014/main" id="{8E90F397-926A-D905-8B95-8D312AA5A73E}"/>
              </a:ext>
            </a:extLst>
          </p:cNvPr>
          <p:cNvSpPr>
            <a:spLocks noGrp="1"/>
          </p:cNvSpPr>
          <p:nvPr>
            <p:ph sz="quarter" idx="11"/>
          </p:nvPr>
        </p:nvSpPr>
        <p:spPr>
          <a:xfrm>
            <a:off x="647700" y="1409700"/>
            <a:ext cx="11049000" cy="4610100"/>
          </a:xfrm>
        </p:spPr>
        <p:txBody>
          <a:bodyPr/>
          <a:lstStyle/>
          <a:p>
            <a:r>
              <a:rPr lang="en-US" dirty="0"/>
              <a:t>Flow past a series of rotating blades: Zero normal gradient at open </a:t>
            </a:r>
            <a:r>
              <a:rPr lang="en-US" dirty="0" err="1"/>
              <a:t>bc</a:t>
            </a:r>
            <a:r>
              <a:rPr lang="en-US" dirty="0"/>
              <a:t>?</a:t>
            </a:r>
          </a:p>
        </p:txBody>
      </p:sp>
      <p:sp>
        <p:nvSpPr>
          <p:cNvPr id="18" name="TextBox 17">
            <a:extLst>
              <a:ext uri="{FF2B5EF4-FFF2-40B4-BE49-F238E27FC236}">
                <a16:creationId xmlns:a16="http://schemas.microsoft.com/office/drawing/2014/main" id="{4C7FC93F-3DA3-E7DB-7C07-D99A616F63D9}"/>
              </a:ext>
            </a:extLst>
          </p:cNvPr>
          <p:cNvSpPr txBox="1"/>
          <p:nvPr/>
        </p:nvSpPr>
        <p:spPr>
          <a:xfrm>
            <a:off x="2577896" y="2122238"/>
            <a:ext cx="1221809" cy="369332"/>
          </a:xfrm>
          <a:prstGeom prst="rect">
            <a:avLst/>
          </a:prstGeom>
          <a:noFill/>
        </p:spPr>
        <p:txBody>
          <a:bodyPr wrap="none" rtlCol="0">
            <a:spAutoFit/>
          </a:bodyPr>
          <a:lstStyle/>
          <a:p>
            <a:r>
              <a:rPr lang="en-US" dirty="0"/>
              <a:t>Symmetry</a:t>
            </a:r>
          </a:p>
        </p:txBody>
      </p:sp>
      <p:grpSp>
        <p:nvGrpSpPr>
          <p:cNvPr id="6" name="Group 5">
            <a:extLst>
              <a:ext uri="{FF2B5EF4-FFF2-40B4-BE49-F238E27FC236}">
                <a16:creationId xmlns:a16="http://schemas.microsoft.com/office/drawing/2014/main" id="{95D99D90-C352-C0F4-15C4-7D8E56B3B065}"/>
              </a:ext>
            </a:extLst>
          </p:cNvPr>
          <p:cNvGrpSpPr/>
          <p:nvPr/>
        </p:nvGrpSpPr>
        <p:grpSpPr>
          <a:xfrm>
            <a:off x="6441979" y="2747224"/>
            <a:ext cx="4628977" cy="3498369"/>
            <a:chOff x="1246763" y="2514595"/>
            <a:chExt cx="6209955" cy="4005943"/>
          </a:xfrm>
        </p:grpSpPr>
        <p:pic>
          <p:nvPicPr>
            <p:cNvPr id="7" name="Picture 6">
              <a:extLst>
                <a:ext uri="{FF2B5EF4-FFF2-40B4-BE49-F238E27FC236}">
                  <a16:creationId xmlns:a16="http://schemas.microsoft.com/office/drawing/2014/main" id="{D8F87EDC-0A1E-30F7-21EB-4593381A217B}"/>
                </a:ext>
              </a:extLst>
            </p:cNvPr>
            <p:cNvPicPr>
              <a:picLocks noChangeAspect="1"/>
            </p:cNvPicPr>
            <p:nvPr/>
          </p:nvPicPr>
          <p:blipFill rotWithShape="1">
            <a:blip r:embed="rId2"/>
            <a:srcRect l="33836" t="30686" r="40425" b="45243"/>
            <a:stretch/>
          </p:blipFill>
          <p:spPr>
            <a:xfrm>
              <a:off x="1246763" y="2514595"/>
              <a:ext cx="6209955" cy="4005943"/>
            </a:xfrm>
            <a:prstGeom prst="rect">
              <a:avLst/>
            </a:prstGeom>
          </p:spPr>
        </p:pic>
        <p:pic>
          <p:nvPicPr>
            <p:cNvPr id="10" name="Picture 9">
              <a:extLst>
                <a:ext uri="{FF2B5EF4-FFF2-40B4-BE49-F238E27FC236}">
                  <a16:creationId xmlns:a16="http://schemas.microsoft.com/office/drawing/2014/main" id="{B644886A-A171-437F-EA79-45677B65E227}"/>
                </a:ext>
              </a:extLst>
            </p:cNvPr>
            <p:cNvPicPr>
              <a:picLocks noChangeAspect="1"/>
            </p:cNvPicPr>
            <p:nvPr/>
          </p:nvPicPr>
          <p:blipFill rotWithShape="1">
            <a:blip r:embed="rId2"/>
            <a:srcRect l="41457" t="38862" r="54145" b="56101"/>
            <a:stretch/>
          </p:blipFill>
          <p:spPr>
            <a:xfrm>
              <a:off x="4316534" y="3889429"/>
              <a:ext cx="3140184" cy="2480750"/>
            </a:xfrm>
            <a:prstGeom prst="rect">
              <a:avLst/>
            </a:prstGeom>
          </p:spPr>
        </p:pic>
        <p:cxnSp>
          <p:nvCxnSpPr>
            <p:cNvPr id="13" name="Straight Connector 12">
              <a:extLst>
                <a:ext uri="{FF2B5EF4-FFF2-40B4-BE49-F238E27FC236}">
                  <a16:creationId xmlns:a16="http://schemas.microsoft.com/office/drawing/2014/main" id="{10F8CD7D-70D2-BFA2-63B3-F30FFB5D5708}"/>
                </a:ext>
              </a:extLst>
            </p:cNvPr>
            <p:cNvCxnSpPr>
              <a:cxnSpLocks/>
            </p:cNvCxnSpPr>
            <p:nvPr/>
          </p:nvCxnSpPr>
          <p:spPr>
            <a:xfrm flipV="1">
              <a:off x="3584897" y="3889429"/>
              <a:ext cx="731637" cy="189479"/>
            </a:xfrm>
            <a:prstGeom prst="line">
              <a:avLst/>
            </a:prstGeom>
            <a:ln w="41275">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5C9158F-B715-B5F5-5383-5C7373690980}"/>
                </a:ext>
              </a:extLst>
            </p:cNvPr>
            <p:cNvCxnSpPr>
              <a:cxnSpLocks/>
            </p:cNvCxnSpPr>
            <p:nvPr/>
          </p:nvCxnSpPr>
          <p:spPr>
            <a:xfrm>
              <a:off x="3584897" y="4078908"/>
              <a:ext cx="766843" cy="2291271"/>
            </a:xfrm>
            <a:prstGeom prst="line">
              <a:avLst/>
            </a:prstGeom>
            <a:ln w="41275">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pic>
        <p:nvPicPr>
          <p:cNvPr id="15" name="Picture 14">
            <a:extLst>
              <a:ext uri="{FF2B5EF4-FFF2-40B4-BE49-F238E27FC236}">
                <a16:creationId xmlns:a16="http://schemas.microsoft.com/office/drawing/2014/main" id="{FD57F329-4A13-F302-BC83-9BB746EB3039}"/>
              </a:ext>
            </a:extLst>
          </p:cNvPr>
          <p:cNvPicPr>
            <a:picLocks noChangeAspect="1"/>
          </p:cNvPicPr>
          <p:nvPr/>
        </p:nvPicPr>
        <p:blipFill rotWithShape="1">
          <a:blip r:embed="rId3"/>
          <a:srcRect l="11274" r="15830"/>
          <a:stretch/>
        </p:blipFill>
        <p:spPr>
          <a:xfrm>
            <a:off x="6572103" y="4937805"/>
            <a:ext cx="1612750" cy="1194891"/>
          </a:xfrm>
          <a:prstGeom prst="rect">
            <a:avLst/>
          </a:prstGeom>
        </p:spPr>
      </p:pic>
      <p:sp>
        <p:nvSpPr>
          <p:cNvPr id="16" name="TextBox 15">
            <a:extLst>
              <a:ext uri="{FF2B5EF4-FFF2-40B4-BE49-F238E27FC236}">
                <a16:creationId xmlns:a16="http://schemas.microsoft.com/office/drawing/2014/main" id="{203DFDBE-99B6-6912-F753-D4AEA94E0AA2}"/>
              </a:ext>
            </a:extLst>
          </p:cNvPr>
          <p:cNvSpPr txBox="1"/>
          <p:nvPr/>
        </p:nvSpPr>
        <p:spPr>
          <a:xfrm>
            <a:off x="7547675" y="2417736"/>
            <a:ext cx="0" cy="0"/>
          </a:xfrm>
          <a:prstGeom prst="rect">
            <a:avLst/>
          </a:prstGeom>
        </p:spPr>
        <p:txBody>
          <a:bodyPr vert="horz" wrap="none" lIns="91440" tIns="45720" rIns="91440" bIns="45720" rtlCol="0">
            <a:noAutofit/>
          </a:bodyPr>
          <a:lstStyle/>
          <a:p>
            <a:pPr algn="l"/>
            <a:r>
              <a:rPr lang="en-US" dirty="0"/>
              <a:t>Non-conformal</a:t>
            </a:r>
          </a:p>
        </p:txBody>
      </p:sp>
      <p:pic>
        <p:nvPicPr>
          <p:cNvPr id="19" name="Picture 18">
            <a:extLst>
              <a:ext uri="{FF2B5EF4-FFF2-40B4-BE49-F238E27FC236}">
                <a16:creationId xmlns:a16="http://schemas.microsoft.com/office/drawing/2014/main" id="{60CDA890-DC31-DB3D-4708-5FB5E3EAD8B1}"/>
              </a:ext>
            </a:extLst>
          </p:cNvPr>
          <p:cNvPicPr>
            <a:picLocks noChangeAspect="1"/>
          </p:cNvPicPr>
          <p:nvPr/>
        </p:nvPicPr>
        <p:blipFill rotWithShape="1">
          <a:blip r:embed="rId4">
            <a:extLst>
              <a:ext uri="{28A0092B-C50C-407E-A947-70E740481C1C}">
                <a14:useLocalDpi xmlns:a14="http://schemas.microsoft.com/office/drawing/2010/main" val="0"/>
              </a:ext>
            </a:extLst>
          </a:blip>
          <a:srcRect l="16118" t="7221" r="20888" b="12696"/>
          <a:stretch/>
        </p:blipFill>
        <p:spPr>
          <a:xfrm>
            <a:off x="941565" y="2607903"/>
            <a:ext cx="4628977" cy="3050415"/>
          </a:xfrm>
          <a:prstGeom prst="rect">
            <a:avLst/>
          </a:prstGeom>
        </p:spPr>
      </p:pic>
      <p:sp>
        <p:nvSpPr>
          <p:cNvPr id="20" name="TextBox 19">
            <a:extLst>
              <a:ext uri="{FF2B5EF4-FFF2-40B4-BE49-F238E27FC236}">
                <a16:creationId xmlns:a16="http://schemas.microsoft.com/office/drawing/2014/main" id="{4FFF7B49-8832-6176-6DB0-D4B9592C1ED9}"/>
              </a:ext>
            </a:extLst>
          </p:cNvPr>
          <p:cNvSpPr txBox="1"/>
          <p:nvPr/>
        </p:nvSpPr>
        <p:spPr>
          <a:xfrm>
            <a:off x="309966" y="4060556"/>
            <a:ext cx="0" cy="0"/>
          </a:xfrm>
          <a:prstGeom prst="rect">
            <a:avLst/>
          </a:prstGeom>
        </p:spPr>
        <p:txBody>
          <a:bodyPr vert="horz" wrap="none" lIns="91440" tIns="45720" rIns="91440" bIns="45720" rtlCol="0">
            <a:noAutofit/>
          </a:bodyPr>
          <a:lstStyle/>
          <a:p>
            <a:pPr algn="l"/>
            <a:r>
              <a:rPr lang="en-US" dirty="0"/>
              <a:t>Inflow</a:t>
            </a:r>
          </a:p>
        </p:txBody>
      </p:sp>
      <p:sp>
        <p:nvSpPr>
          <p:cNvPr id="21" name="TextBox 20">
            <a:extLst>
              <a:ext uri="{FF2B5EF4-FFF2-40B4-BE49-F238E27FC236}">
                <a16:creationId xmlns:a16="http://schemas.microsoft.com/office/drawing/2014/main" id="{D246142B-E8E6-E089-4105-83D29FEBB755}"/>
              </a:ext>
            </a:extLst>
          </p:cNvPr>
          <p:cNvSpPr txBox="1"/>
          <p:nvPr/>
        </p:nvSpPr>
        <p:spPr>
          <a:xfrm>
            <a:off x="5718871" y="4184541"/>
            <a:ext cx="0" cy="0"/>
          </a:xfrm>
          <a:prstGeom prst="rect">
            <a:avLst/>
          </a:prstGeom>
        </p:spPr>
        <p:txBody>
          <a:bodyPr vert="horz" wrap="none" lIns="91440" tIns="45720" rIns="91440" bIns="45720" rtlCol="0">
            <a:noAutofit/>
          </a:bodyPr>
          <a:lstStyle/>
          <a:p>
            <a:pPr algn="l"/>
            <a:r>
              <a:rPr lang="en-US" dirty="0"/>
              <a:t>Open</a:t>
            </a:r>
          </a:p>
        </p:txBody>
      </p:sp>
      <p:sp>
        <p:nvSpPr>
          <p:cNvPr id="22" name="TextBox 21">
            <a:extLst>
              <a:ext uri="{FF2B5EF4-FFF2-40B4-BE49-F238E27FC236}">
                <a16:creationId xmlns:a16="http://schemas.microsoft.com/office/drawing/2014/main" id="{1875DE2C-E10E-608D-AF8C-64C2E3F8AFAF}"/>
              </a:ext>
            </a:extLst>
          </p:cNvPr>
          <p:cNvSpPr txBox="1"/>
          <p:nvPr/>
        </p:nvSpPr>
        <p:spPr>
          <a:xfrm>
            <a:off x="1890793" y="5904856"/>
            <a:ext cx="0" cy="0"/>
          </a:xfrm>
          <a:prstGeom prst="rect">
            <a:avLst/>
          </a:prstGeom>
        </p:spPr>
        <p:txBody>
          <a:bodyPr vert="horz" wrap="none" lIns="91440" tIns="45720" rIns="91440" bIns="45720" rtlCol="0">
            <a:noAutofit/>
          </a:bodyPr>
          <a:lstStyle/>
          <a:p>
            <a:pPr algn="l"/>
            <a:r>
              <a:rPr lang="en-US" dirty="0"/>
              <a:t>Wall (spinning)</a:t>
            </a:r>
          </a:p>
        </p:txBody>
      </p:sp>
      <p:cxnSp>
        <p:nvCxnSpPr>
          <p:cNvPr id="25" name="Straight Arrow Connector 24">
            <a:extLst>
              <a:ext uri="{FF2B5EF4-FFF2-40B4-BE49-F238E27FC236}">
                <a16:creationId xmlns:a16="http://schemas.microsoft.com/office/drawing/2014/main" id="{1F793114-F314-7F17-0B73-257E18EED3CA}"/>
              </a:ext>
            </a:extLst>
          </p:cNvPr>
          <p:cNvCxnSpPr>
            <a:cxnSpLocks/>
          </p:cNvCxnSpPr>
          <p:nvPr/>
        </p:nvCxnSpPr>
        <p:spPr>
          <a:xfrm flipV="1">
            <a:off x="2036554" y="4440209"/>
            <a:ext cx="235021" cy="1421361"/>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519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FDA8E-19BD-5D63-07B6-BDF2157D06D2}"/>
              </a:ext>
            </a:extLst>
          </p:cNvPr>
          <p:cNvSpPr>
            <a:spLocks noGrp="1"/>
          </p:cNvSpPr>
          <p:nvPr>
            <p:ph type="title"/>
          </p:nvPr>
        </p:nvSpPr>
        <p:spPr/>
        <p:txBody>
          <a:bodyPr/>
          <a:lstStyle/>
          <a:p>
            <a:r>
              <a:rPr lang="en-US" dirty="0"/>
              <a:t>Mathematical Description</a:t>
            </a:r>
          </a:p>
        </p:txBody>
      </p:sp>
      <p:sp>
        <p:nvSpPr>
          <p:cNvPr id="3" name="Slide Number Placeholder 2">
            <a:extLst>
              <a:ext uri="{FF2B5EF4-FFF2-40B4-BE49-F238E27FC236}">
                <a16:creationId xmlns:a16="http://schemas.microsoft.com/office/drawing/2014/main" id="{2437F66D-43A7-386A-0CE9-5D448CC5FEFD}"/>
              </a:ext>
            </a:extLst>
          </p:cNvPr>
          <p:cNvSpPr>
            <a:spLocks noGrp="1"/>
          </p:cNvSpPr>
          <p:nvPr>
            <p:ph type="sldNum" sz="quarter" idx="10"/>
          </p:nvPr>
        </p:nvSpPr>
        <p:spPr/>
        <p:txBody>
          <a:bodyPr/>
          <a:lstStyle/>
          <a:p>
            <a:fld id="{4FAB73BC-B049-4115-A692-8D63A059BFB8}" type="slidenum">
              <a:rPr lang="en-US" smtClean="0"/>
              <a:pPr/>
              <a:t>16</a:t>
            </a:fld>
            <a:endParaRPr lang="en-US" dirty="0"/>
          </a:p>
        </p:txBody>
      </p:sp>
      <p:sp>
        <p:nvSpPr>
          <p:cNvPr id="4" name="Content Placeholder 3">
            <a:extLst>
              <a:ext uri="{FF2B5EF4-FFF2-40B4-BE49-F238E27FC236}">
                <a16:creationId xmlns:a16="http://schemas.microsoft.com/office/drawing/2014/main" id="{463B60D7-1735-878D-06C5-14EA5AE87DB1}"/>
              </a:ext>
            </a:extLst>
          </p:cNvPr>
          <p:cNvSpPr>
            <a:spLocks noGrp="1"/>
          </p:cNvSpPr>
          <p:nvPr>
            <p:ph sz="quarter" idx="11"/>
          </p:nvPr>
        </p:nvSpPr>
        <p:spPr/>
        <p:txBody>
          <a:bodyPr/>
          <a:lstStyle/>
          <a:p>
            <a:r>
              <a:rPr lang="en-US" dirty="0"/>
              <a:t>See: </a:t>
            </a:r>
            <a:r>
              <a:rPr lang="en-US" dirty="0">
                <a:hlinkClick r:id="rId2"/>
              </a:rPr>
              <a:t>https://nalu.readthedocs.io/en/latest/source/theory/boundaryConditions.html</a:t>
            </a:r>
            <a:r>
              <a:rPr lang="en-US" dirty="0"/>
              <a:t> </a:t>
            </a:r>
          </a:p>
        </p:txBody>
      </p:sp>
    </p:spTree>
    <p:extLst>
      <p:ext uri="{BB962C8B-B14F-4D97-AF65-F5344CB8AC3E}">
        <p14:creationId xmlns:p14="http://schemas.microsoft.com/office/powerpoint/2010/main" val="344268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ndia Angles">
  <a:themeElements>
    <a:clrScheme name="SandiaBrandTheme">
      <a:dk1>
        <a:srgbClr val="3C3C3C"/>
      </a:dk1>
      <a:lt1>
        <a:srgbClr val="FFFFFF"/>
      </a:lt1>
      <a:dk2>
        <a:srgbClr val="005376"/>
      </a:dk2>
      <a:lt2>
        <a:srgbClr val="FFFFFF"/>
      </a:lt2>
      <a:accent1>
        <a:srgbClr val="00ADD0"/>
      </a:accent1>
      <a:accent2>
        <a:srgbClr val="6CB312"/>
      </a:accent2>
      <a:accent3>
        <a:srgbClr val="FFA033"/>
      </a:accent3>
      <a:accent4>
        <a:srgbClr val="008E74"/>
      </a:accent4>
      <a:accent5>
        <a:srgbClr val="A92C00"/>
      </a:accent5>
      <a:accent6>
        <a:srgbClr val="7D0D7C"/>
      </a:accent6>
      <a:hlink>
        <a:srgbClr val="27ADCF"/>
      </a:hlink>
      <a:folHlink>
        <a:srgbClr val="2588BA"/>
      </a:folHlink>
    </a:clrScheme>
    <a:fontScheme name="Open Sans Bold &amp; light">
      <a:majorFont>
        <a:latin typeface="Open Sans bold"/>
        <a:ea typeface=""/>
        <a:cs typeface=""/>
      </a:majorFont>
      <a:minorFont>
        <a:latin typeface="Open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7087</TotalTime>
  <Words>1139</Words>
  <Application>Microsoft Macintosh PowerPoint</Application>
  <PresentationFormat>Widescreen</PresentationFormat>
  <Paragraphs>158</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Open Sans</vt:lpstr>
      <vt:lpstr>Symbol</vt:lpstr>
      <vt:lpstr>Arial</vt:lpstr>
      <vt:lpstr>Open Sans bold</vt:lpstr>
      <vt:lpstr>Calibri</vt:lpstr>
      <vt:lpstr>Wingdings</vt:lpstr>
      <vt:lpstr>Courier New</vt:lpstr>
      <vt:lpstr>Sandia Angles</vt:lpstr>
      <vt:lpstr>ME469: Boundary Conditions</vt:lpstr>
      <vt:lpstr>Review of Discretization Options: New, emphasis on boundaries…</vt:lpstr>
      <vt:lpstr>Review of Discretization Options: New, emphasis on boundaries…</vt:lpstr>
      <vt:lpstr>Integration Over the Domain:  The ”Finite” in Finite-Volume and Finite Element</vt:lpstr>
      <vt:lpstr>Integration Over the Domain:  The ”Finite” in Finite-Volume and Finite Element</vt:lpstr>
      <vt:lpstr>Towards Boundary Contributions</vt:lpstr>
      <vt:lpstr>Towards Boundary Contributions</vt:lpstr>
      <vt:lpstr>Cell-Centered vs Vertex-Centered Differences</vt:lpstr>
      <vt:lpstr>For Example, a Cell-Centered Inflow Boundary</vt:lpstr>
      <vt:lpstr>For Example, a Vertex-Centered (EBVC/CVFEM) Inflow Boundary Flux-based (Weak treatment)</vt:lpstr>
      <vt:lpstr>For Example, a Vertex-Centered (EBVC/CVFEM) Inflow Boundary Dirichlet-based (Strong treatment)</vt:lpstr>
      <vt:lpstr>Weak vs Strong: A Practical Heat Conduction Example</vt:lpstr>
      <vt:lpstr>Types of Boundary Conditions in Practical CFD</vt:lpstr>
      <vt:lpstr>Types of Boundary Conditions in Practical CFD</vt:lpstr>
      <vt:lpstr>Types of Boundary Conditions in Practical CFD</vt:lpstr>
      <vt:lpstr>Mathematical Description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Rejeki Lancar</dc:creator>
  <cp:lastModifiedBy>Domino, Stefan Paul</cp:lastModifiedBy>
  <cp:revision>615</cp:revision>
  <cp:lastPrinted>2022-11-15T19:00:23Z</cp:lastPrinted>
  <dcterms:created xsi:type="dcterms:W3CDTF">2018-07-21T13:25:45Z</dcterms:created>
  <dcterms:modified xsi:type="dcterms:W3CDTF">2024-04-18T15:26:55Z</dcterms:modified>
</cp:coreProperties>
</file>