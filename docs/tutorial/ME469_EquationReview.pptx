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2" r:id="rId1"/>
  </p:sldMasterIdLst>
  <p:notesMasterIdLst>
    <p:notesMasterId r:id="rId11"/>
  </p:notesMasterIdLst>
  <p:handoutMasterIdLst>
    <p:handoutMasterId r:id="rId12"/>
  </p:handoutMasterIdLst>
  <p:sldIdLst>
    <p:sldId id="256" r:id="rId2"/>
    <p:sldId id="1875" r:id="rId3"/>
    <p:sldId id="1876" r:id="rId4"/>
    <p:sldId id="1877" r:id="rId5"/>
    <p:sldId id="1878" r:id="rId6"/>
    <p:sldId id="1879" r:id="rId7"/>
    <p:sldId id="1926" r:id="rId8"/>
    <p:sldId id="1927" r:id="rId9"/>
    <p:sldId id="1928" r:id="rId10"/>
  </p:sldIdLst>
  <p:sldSz cx="12192000" cy="6858000"/>
  <p:notesSz cx="6858000" cy="9144000"/>
  <p:embeddedFontLst>
    <p:embeddedFont>
      <p:font typeface="Open Sans" panose="020B0606030504020204" pitchFamily="34" charset="0"/>
      <p:regular r:id="rId13"/>
      <p:bold r:id="rId14"/>
      <p:italic r:id="rId15"/>
      <p:boldItalic r:id="rId16"/>
    </p:embeddedFont>
    <p:embeddedFont>
      <p:font typeface="Open Sans bold" panose="020B0706030804020204" pitchFamily="34" charset="0"/>
      <p:regular r:id="rId17"/>
      <p:bold r:id="rId18"/>
      <p:italic r:id="rId19"/>
      <p:boldItalic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278F097-0A73-434B-97FE-ED3B8A0EF645}">
          <p14:sldIdLst>
            <p14:sldId id="256"/>
            <p14:sldId id="1875"/>
            <p14:sldId id="1876"/>
            <p14:sldId id="1877"/>
            <p14:sldId id="1878"/>
            <p14:sldId id="1879"/>
            <p14:sldId id="1926"/>
            <p14:sldId id="1927"/>
            <p14:sldId id="1928"/>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cott, Sarah Nicole" initials="SSN" lastIdx="5" clrIdx="0">
    <p:extLst>
      <p:ext uri="{19B8F6BF-5375-455C-9EA6-DF929625EA0E}">
        <p15:presenceInfo xmlns:p15="http://schemas.microsoft.com/office/powerpoint/2012/main" userId="S::snscott@sandia.gov::54896aa5-e1a9-4d47-b7f4-07892d7ea3b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FDD"/>
    <a:srgbClr val="00ACD5"/>
    <a:srgbClr val="339A2E"/>
    <a:srgbClr val="1A315D"/>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8551" autoAdjust="0"/>
    <p:restoredTop sz="96306" autoAdjust="0"/>
  </p:normalViewPr>
  <p:slideViewPr>
    <p:cSldViewPr snapToGrid="0" showGuides="1">
      <p:cViewPr varScale="1">
        <p:scale>
          <a:sx n="78" d="100"/>
          <a:sy n="78" d="100"/>
        </p:scale>
        <p:origin x="192" y="1136"/>
      </p:cViewPr>
      <p:guideLst/>
    </p:cSldViewPr>
  </p:slideViewPr>
  <p:notesTextViewPr>
    <p:cViewPr>
      <p:scale>
        <a:sx n="85" d="100"/>
        <a:sy n="85" d="100"/>
      </p:scale>
      <p:origin x="0" y="0"/>
    </p:cViewPr>
  </p:notesTextViewPr>
  <p:sorterViewPr>
    <p:cViewPr>
      <p:scale>
        <a:sx n="1" d="1"/>
        <a:sy n="1" d="1"/>
      </p:scale>
      <p:origin x="0" y="0"/>
    </p:cViewPr>
  </p:sorterViewPr>
  <p:notesViewPr>
    <p:cSldViewPr snapToGrid="0" showGuides="1">
      <p:cViewPr varScale="1">
        <p:scale>
          <a:sx n="84" d="100"/>
          <a:sy n="84" d="100"/>
        </p:scale>
        <p:origin x="2752" y="19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handoutMaster" Target="handoutMasters/handoutMaster1.xml"/><Relationship Id="rId17" Type="http://schemas.openxmlformats.org/officeDocument/2006/relationships/font" Target="fonts/font5.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latin typeface="Open Sans" panose="020B0606030504020204" pitchFamily="34" charset="0"/>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12B77-F7E2-4D68-A9CB-41B8CCDC9B29}" type="datetimeFigureOut">
              <a:rPr lang="en-US" smtClean="0">
                <a:latin typeface="Open Sans" panose="020B0606030504020204" pitchFamily="34" charset="0"/>
              </a:rPr>
              <a:t>3/26/25</a:t>
            </a:fld>
            <a:endParaRPr lang="en-US" dirty="0">
              <a:latin typeface="Open Sans" panose="020B0606030504020204" pitchFamily="34" charset="0"/>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latin typeface="Open Sans" panose="020B0606030504020204" pitchFamily="34" charset="0"/>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9C23351-3FB3-4478-AE7D-BEC670948232}" type="slidenum">
              <a:rPr lang="en-US" smtClean="0">
                <a:latin typeface="Open Sans" panose="020B0606030504020204" pitchFamily="34" charset="0"/>
              </a:rPr>
              <a:t>‹#›</a:t>
            </a:fld>
            <a:endParaRPr lang="en-US" dirty="0">
              <a:latin typeface="Open Sans" panose="020B0606030504020204" pitchFamily="34" charset="0"/>
            </a:endParaRPr>
          </a:p>
        </p:txBody>
      </p:sp>
    </p:spTree>
    <p:extLst>
      <p:ext uri="{BB962C8B-B14F-4D97-AF65-F5344CB8AC3E}">
        <p14:creationId xmlns:p14="http://schemas.microsoft.com/office/powerpoint/2010/main" val="39106458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Open Sans" panose="020B060603050402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Open Sans" panose="020B0606030504020204" pitchFamily="34" charset="0"/>
              </a:defRPr>
            </a:lvl1pPr>
          </a:lstStyle>
          <a:p>
            <a:fld id="{896A8DF4-6A87-4F69-8212-F0A65870B2F2}" type="datetimeFigureOut">
              <a:rPr lang="en-US" smtClean="0"/>
              <a:pPr/>
              <a:t>3/26/25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Open Sans" panose="020B0606030504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Open Sans" panose="020B0606030504020204" pitchFamily="34" charset="0"/>
              </a:defRPr>
            </a:lvl1pPr>
          </a:lstStyle>
          <a:p>
            <a:fld id="{E21A7267-269F-4D26-9F96-B6358A06B982}" type="slidenum">
              <a:rPr lang="en-US" smtClean="0"/>
              <a:pPr/>
              <a:t>‹#›</a:t>
            </a:fld>
            <a:endParaRPr lang="en-US" dirty="0"/>
          </a:p>
        </p:txBody>
      </p:sp>
    </p:spTree>
    <p:extLst>
      <p:ext uri="{BB962C8B-B14F-4D97-AF65-F5344CB8AC3E}">
        <p14:creationId xmlns:p14="http://schemas.microsoft.com/office/powerpoint/2010/main" val="3410717933"/>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Open Sans" panose="020B0606030504020204" pitchFamily="34" charset="0"/>
        <a:ea typeface="+mn-ea"/>
        <a:cs typeface="+mn-cs"/>
      </a:defRPr>
    </a:lvl1pPr>
    <a:lvl2pPr marL="457200" algn="l" defTabSz="914400" rtl="0" eaLnBrk="1" latinLnBrk="0" hangingPunct="1">
      <a:defRPr sz="1200" b="0" i="0" kern="1200">
        <a:solidFill>
          <a:schemeClr val="tx1"/>
        </a:solidFill>
        <a:latin typeface="Open Sans" panose="020B0606030504020204" pitchFamily="34" charset="0"/>
        <a:ea typeface="+mn-ea"/>
        <a:cs typeface="+mn-cs"/>
      </a:defRPr>
    </a:lvl2pPr>
    <a:lvl3pPr marL="914400" algn="l" defTabSz="914400" rtl="0" eaLnBrk="1" latinLnBrk="0" hangingPunct="1">
      <a:defRPr sz="1200" b="0" i="0" kern="1200">
        <a:solidFill>
          <a:schemeClr val="tx1"/>
        </a:solidFill>
        <a:latin typeface="Open Sans" panose="020B0606030504020204" pitchFamily="34" charset="0"/>
        <a:ea typeface="+mn-ea"/>
        <a:cs typeface="+mn-cs"/>
      </a:defRPr>
    </a:lvl3pPr>
    <a:lvl4pPr marL="1371600" algn="l" defTabSz="914400" rtl="0" eaLnBrk="1" latinLnBrk="0" hangingPunct="1">
      <a:defRPr sz="1200" b="0" i="0" kern="1200">
        <a:solidFill>
          <a:schemeClr val="tx1"/>
        </a:solidFill>
        <a:latin typeface="Open Sans" panose="020B0606030504020204" pitchFamily="34" charset="0"/>
        <a:ea typeface="+mn-ea"/>
        <a:cs typeface="+mn-cs"/>
      </a:defRPr>
    </a:lvl4pPr>
    <a:lvl5pPr marL="1828800" algn="l" defTabSz="914400" rtl="0" eaLnBrk="1" latinLnBrk="0" hangingPunct="1">
      <a:defRPr sz="1200" b="0" i="0" kern="1200">
        <a:solidFill>
          <a:schemeClr val="tx1"/>
        </a:solidFill>
        <a:latin typeface="Open Sans" panose="020B0606030504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21A7267-269F-4D26-9F96-B6358A06B982}" type="slidenum">
              <a:rPr lang="en-US" smtClean="0"/>
              <a:t>1</a:t>
            </a:fld>
            <a:endParaRPr lang="en-US"/>
          </a:p>
        </p:txBody>
      </p:sp>
    </p:spTree>
    <p:extLst>
      <p:ext uri="{BB962C8B-B14F-4D97-AF65-F5344CB8AC3E}">
        <p14:creationId xmlns:p14="http://schemas.microsoft.com/office/powerpoint/2010/main" val="385018961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hyperlink" Target="https://www.energy.gov/downloads/doe-public-access-plan" TargetMode="Externa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90600" y="1575115"/>
            <a:ext cx="6165850" cy="1317382"/>
          </a:xfrm>
        </p:spPr>
        <p:txBody>
          <a:bodyPr anchor="b">
            <a:normAutofit/>
          </a:bodyPr>
          <a:lstStyle>
            <a:lvl1pPr algn="l">
              <a:defRPr sz="3600">
                <a:solidFill>
                  <a:schemeClr val="bg1"/>
                </a:solidFill>
              </a:defRPr>
            </a:lvl1pPr>
          </a:lstStyle>
          <a:p>
            <a:r>
              <a:rPr lang="en-US" dirty="0"/>
              <a:t>CLICK TO ADD TITLE</a:t>
            </a:r>
          </a:p>
        </p:txBody>
      </p:sp>
      <p:sp>
        <p:nvSpPr>
          <p:cNvPr id="3" name="Subtitle 2"/>
          <p:cNvSpPr>
            <a:spLocks noGrp="1"/>
          </p:cNvSpPr>
          <p:nvPr>
            <p:ph type="subTitle" idx="1" hasCustomPrompt="1"/>
          </p:nvPr>
        </p:nvSpPr>
        <p:spPr>
          <a:xfrm>
            <a:off x="990599" y="3719997"/>
            <a:ext cx="5243147" cy="667120"/>
          </a:xfrm>
          <a:prstGeom prst="rect">
            <a:avLst/>
          </a:prstGeom>
        </p:spPr>
        <p:txBody>
          <a:bodyPr anchor="ctr">
            <a:noAutofit/>
          </a:bodyPr>
          <a:lstStyle>
            <a:lvl1pPr marL="0" indent="0" algn="l">
              <a:buNone/>
              <a:defRPr sz="1600" b="0" spc="0">
                <a:solidFill>
                  <a:schemeClr val="tx2">
                    <a:lumMod val="40000"/>
                    <a:lumOff val="60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PRESENTER OR AUTHOR NAMES</a:t>
            </a:r>
          </a:p>
        </p:txBody>
      </p:sp>
      <p:sp>
        <p:nvSpPr>
          <p:cNvPr id="27" name="Text Placeholder 26">
            <a:extLst>
              <a:ext uri="{FF2B5EF4-FFF2-40B4-BE49-F238E27FC236}">
                <a16:creationId xmlns:a16="http://schemas.microsoft.com/office/drawing/2014/main" id="{62ED528D-5375-6147-9677-05F4F59A3A33}"/>
              </a:ext>
            </a:extLst>
          </p:cNvPr>
          <p:cNvSpPr>
            <a:spLocks noGrp="1"/>
          </p:cNvSpPr>
          <p:nvPr>
            <p:ph type="body" sz="quarter" idx="10" hasCustomPrompt="1"/>
          </p:nvPr>
        </p:nvSpPr>
        <p:spPr>
          <a:xfrm>
            <a:off x="990600" y="3015777"/>
            <a:ext cx="6165850" cy="378587"/>
          </a:xfrm>
          <a:prstGeom prst="rect">
            <a:avLst/>
          </a:prstGeom>
        </p:spPr>
        <p:txBody>
          <a:bodyPr>
            <a:normAutofit/>
          </a:bodyPr>
          <a:lstStyle>
            <a:lvl1pPr marL="0" indent="0">
              <a:buNone/>
              <a:defRPr sz="2000">
                <a:solidFill>
                  <a:schemeClr val="bg2"/>
                </a:solidFill>
              </a:defRPr>
            </a:lvl1pPr>
          </a:lstStyle>
          <a:p>
            <a:pPr lvl="0"/>
            <a:r>
              <a:rPr lang="en-US" dirty="0"/>
              <a:t>Click to add subtitle</a:t>
            </a:r>
          </a:p>
        </p:txBody>
      </p:sp>
      <p:sp>
        <p:nvSpPr>
          <p:cNvPr id="20" name="Text Placeholder 24">
            <a:extLst>
              <a:ext uri="{FF2B5EF4-FFF2-40B4-BE49-F238E27FC236}">
                <a16:creationId xmlns:a16="http://schemas.microsoft.com/office/drawing/2014/main" id="{58F7247A-244D-6A48-BBB7-15233E751B35}"/>
              </a:ext>
            </a:extLst>
          </p:cNvPr>
          <p:cNvSpPr>
            <a:spLocks noGrp="1"/>
          </p:cNvSpPr>
          <p:nvPr>
            <p:ph type="body" sz="quarter" idx="15" hasCustomPrompt="1"/>
          </p:nvPr>
        </p:nvSpPr>
        <p:spPr>
          <a:xfrm>
            <a:off x="2588669" y="6296999"/>
            <a:ext cx="1828800" cy="136525"/>
          </a:xfrm>
          <a:prstGeom prst="rect">
            <a:avLst/>
          </a:prstGeom>
        </p:spPr>
        <p:txBody>
          <a:bodyPr lIns="0" tIns="0" rIns="0" bIns="0">
            <a:normAutofit/>
          </a:bodyPr>
          <a:lstStyle>
            <a:lvl1pPr marL="0" indent="0" algn="ctr">
              <a:buNone/>
              <a:defRPr sz="800" b="1"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dirty="0"/>
              <a:t>CLICK TO ADD SAND XXXX-XXXX P</a:t>
            </a:r>
          </a:p>
        </p:txBody>
      </p:sp>
      <p:sp>
        <p:nvSpPr>
          <p:cNvPr id="22" name="Text Placeholder 4">
            <a:extLst>
              <a:ext uri="{FF2B5EF4-FFF2-40B4-BE49-F238E27FC236}">
                <a16:creationId xmlns:a16="http://schemas.microsoft.com/office/drawing/2014/main" id="{28DA6BE7-D5D1-5C4B-8879-A66353A8517F}"/>
              </a:ext>
            </a:extLst>
          </p:cNvPr>
          <p:cNvSpPr>
            <a:spLocks noGrp="1"/>
          </p:cNvSpPr>
          <p:nvPr>
            <p:ph type="body" sz="quarter" idx="22" hasCustomPrompt="1"/>
          </p:nvPr>
        </p:nvSpPr>
        <p:spPr>
          <a:xfrm>
            <a:off x="990600" y="4509920"/>
            <a:ext cx="4297393" cy="667120"/>
          </a:xfrm>
          <a:prstGeom prst="rect">
            <a:avLst/>
          </a:prstGeom>
        </p:spPr>
        <p:txBody>
          <a:bodyPr lIns="0" tIns="0" rIns="0" bIns="0"/>
          <a:lstStyle>
            <a:lvl1pPr>
              <a:buFontTx/>
              <a:buNone/>
              <a:defRPr sz="1400" b="0"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dirty="0"/>
              <a:t>CLICK TO ADD DATE, LOCATION, OR ADDITIONAL CONTENT</a:t>
            </a:r>
          </a:p>
        </p:txBody>
      </p:sp>
      <p:pic>
        <p:nvPicPr>
          <p:cNvPr id="15" name="Picture 14">
            <a:extLst>
              <a:ext uri="{FF2B5EF4-FFF2-40B4-BE49-F238E27FC236}">
                <a16:creationId xmlns:a16="http://schemas.microsoft.com/office/drawing/2014/main" id="{4503A6FD-C173-A64C-B254-829092777B42}"/>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t="-4288" r="-3731"/>
          <a:stretch/>
        </p:blipFill>
        <p:spPr>
          <a:xfrm>
            <a:off x="966239" y="479998"/>
            <a:ext cx="1271441" cy="492365"/>
          </a:xfrm>
          <a:prstGeom prst="rect">
            <a:avLst/>
          </a:prstGeom>
        </p:spPr>
      </p:pic>
      <p:sp>
        <p:nvSpPr>
          <p:cNvPr id="16" name="TextBox 15">
            <a:extLst>
              <a:ext uri="{FF2B5EF4-FFF2-40B4-BE49-F238E27FC236}">
                <a16:creationId xmlns:a16="http://schemas.microsoft.com/office/drawing/2014/main" id="{AC12122B-590E-9045-872C-38970E3FF20E}"/>
              </a:ext>
            </a:extLst>
          </p:cNvPr>
          <p:cNvSpPr txBox="1"/>
          <p:nvPr userDrawn="1"/>
        </p:nvSpPr>
        <p:spPr>
          <a:xfrm>
            <a:off x="912699" y="1056087"/>
            <a:ext cx="4710777" cy="307777"/>
          </a:xfrm>
          <a:prstGeom prst="rect">
            <a:avLst/>
          </a:prstGeom>
          <a:noFill/>
        </p:spPr>
        <p:txBody>
          <a:bodyPr wrap="none" rtlCol="0">
            <a:spAutoFit/>
          </a:bodyPr>
          <a:lstStyle/>
          <a:p>
            <a:r>
              <a:rPr lang="en-US" sz="1400" spc="150" baseline="0" dirty="0">
                <a:solidFill>
                  <a:schemeClr val="bg1"/>
                </a:solidFill>
                <a:latin typeface="+mj-lt"/>
              </a:rPr>
              <a:t>Exceptional service in the national interest</a:t>
            </a:r>
          </a:p>
        </p:txBody>
      </p:sp>
      <p:sp>
        <p:nvSpPr>
          <p:cNvPr id="19" name="TextBox 18">
            <a:extLst>
              <a:ext uri="{FF2B5EF4-FFF2-40B4-BE49-F238E27FC236}">
                <a16:creationId xmlns:a16="http://schemas.microsoft.com/office/drawing/2014/main" id="{1D369985-FB39-5049-971A-8BBBC56F2C4E}"/>
              </a:ext>
            </a:extLst>
          </p:cNvPr>
          <p:cNvSpPr txBox="1"/>
          <p:nvPr userDrawn="1"/>
        </p:nvSpPr>
        <p:spPr>
          <a:xfrm>
            <a:off x="4650056" y="5465549"/>
            <a:ext cx="7491081" cy="762516"/>
          </a:xfrm>
          <a:prstGeom prst="rect">
            <a:avLst/>
          </a:prstGeom>
          <a:noFill/>
        </p:spPr>
        <p:txBody>
          <a:bodyPr wrap="square" rtlCol="0">
            <a:spAutoFit/>
          </a:bodyPr>
          <a:lstStyle/>
          <a:p>
            <a:pPr algn="just">
              <a:lnSpc>
                <a:spcPct val="110000"/>
              </a:lnSpc>
            </a:pPr>
            <a:r>
              <a:rPr lang="en-US" sz="800" b="0" i="1" u="none" strike="noStrike" dirty="0">
                <a:solidFill>
                  <a:srgbClr val="000000"/>
                </a:solidFill>
                <a:effectLst/>
                <a:latin typeface="Calibri" panose="020F0502020204030204" pitchFamily="34" charset="0"/>
              </a:rPr>
              <a:t>This presentation has been authored by an employee of National Technology &amp; Engineering Solutions of Sandia, LLC under Contract No. DE-NA0003525 with the U.S. Department of Energy (DOE). The employee owns all right, title and interest in and to the presentation and is solely responsible for its contents. The United States Government retains and the publisher, by accepting the article for publication, acknowledges that the United States Government retains a non-exclusive, paid-up, irrevocable, world-wide license to publish or reproduce the published form of this article or allow others to do so, for United States Government purposes. The DOE will provide public access to these results of federally sponsored research in accordance with the DOE Public Access Plan </a:t>
            </a:r>
            <a:r>
              <a:rPr lang="en-US" sz="800" b="0" i="1" u="sng" strike="noStrike" dirty="0">
                <a:solidFill>
                  <a:srgbClr val="0563C1"/>
                </a:solidFill>
                <a:effectLst/>
                <a:latin typeface="Calibri" panose="020F0502020204030204" pitchFamily="34" charset="0"/>
                <a:hlinkClick r:id="rId4" tooltip="https://www.energy.gov/downloads/doe-public-access-plan"/>
              </a:rPr>
              <a:t>https://www.energy.gov/downloads/doe-public-access-plan</a:t>
            </a:r>
            <a:r>
              <a:rPr lang="en-US" sz="800" b="0" i="1" u="none" strike="noStrike" dirty="0">
                <a:solidFill>
                  <a:srgbClr val="000000"/>
                </a:solidFill>
                <a:effectLst/>
                <a:latin typeface="Calibri" panose="020F0502020204030204" pitchFamily="34" charset="0"/>
              </a:rPr>
              <a:t>.</a:t>
            </a:r>
            <a:endParaRPr lang="en-US" sz="800" b="0" i="0" dirty="0">
              <a:solidFill>
                <a:schemeClr val="bg2">
                  <a:lumMod val="50000"/>
                </a:schemeClr>
              </a:solidFill>
              <a:latin typeface="Open Sans" panose="020B0606030504020204" pitchFamily="34" charset="0"/>
            </a:endParaRPr>
          </a:p>
        </p:txBody>
      </p:sp>
      <p:pic>
        <p:nvPicPr>
          <p:cNvPr id="21" name="Picture 20">
            <a:extLst>
              <a:ext uri="{FF2B5EF4-FFF2-40B4-BE49-F238E27FC236}">
                <a16:creationId xmlns:a16="http://schemas.microsoft.com/office/drawing/2014/main" id="{5ADC7756-6766-FF46-BFDC-7CBCF88C2FB6}"/>
              </a:ext>
            </a:extLst>
          </p:cNvPr>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a:xfrm>
            <a:off x="10965815" y="6362720"/>
            <a:ext cx="654939" cy="159193"/>
          </a:xfrm>
          <a:prstGeom prst="rect">
            <a:avLst/>
          </a:prstGeom>
        </p:spPr>
      </p:pic>
      <p:pic>
        <p:nvPicPr>
          <p:cNvPr id="23" name="Picture 22">
            <a:extLst>
              <a:ext uri="{FF2B5EF4-FFF2-40B4-BE49-F238E27FC236}">
                <a16:creationId xmlns:a16="http://schemas.microsoft.com/office/drawing/2014/main" id="{1B5135D8-0C79-D249-B01D-F828C9075378}"/>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11052075" y="6609587"/>
            <a:ext cx="463192" cy="134533"/>
          </a:xfrm>
          <a:prstGeom prst="rect">
            <a:avLst/>
          </a:prstGeom>
        </p:spPr>
      </p:pic>
    </p:spTree>
    <p:extLst>
      <p:ext uri="{BB962C8B-B14F-4D97-AF65-F5344CB8AC3E}">
        <p14:creationId xmlns:p14="http://schemas.microsoft.com/office/powerpoint/2010/main" val="180936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Slid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088423" y="2066192"/>
            <a:ext cx="3868616" cy="2795954"/>
          </a:xfrm>
        </p:spPr>
        <p:txBody>
          <a:bodyPr anchor="ctr">
            <a:normAutofit/>
          </a:bodyPr>
          <a:lstStyle>
            <a:lvl1pPr algn="ctr">
              <a:defRPr sz="4000">
                <a:solidFill>
                  <a:schemeClr val="bg1"/>
                </a:solidFill>
              </a:defRPr>
            </a:lvl1pPr>
          </a:lstStyle>
          <a:p>
            <a:r>
              <a:rPr lang="en-US" dirty="0"/>
              <a:t>CLICK TO ADD TITLE</a:t>
            </a:r>
          </a:p>
        </p:txBody>
      </p:sp>
    </p:spTree>
    <p:extLst>
      <p:ext uri="{BB962C8B-B14F-4D97-AF65-F5344CB8AC3E}">
        <p14:creationId xmlns:p14="http://schemas.microsoft.com/office/powerpoint/2010/main" val="4153529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31985" y="2919047"/>
            <a:ext cx="4598377" cy="1767254"/>
          </a:xfrm>
        </p:spPr>
        <p:txBody>
          <a:bodyPr anchor="ctr">
            <a:normAutofit/>
          </a:bodyPr>
          <a:lstStyle>
            <a:lvl1pPr algn="l">
              <a:defRPr sz="3600">
                <a:solidFill>
                  <a:schemeClr val="bg1"/>
                </a:solidFill>
              </a:defRPr>
            </a:lvl1pPr>
          </a:lstStyle>
          <a:p>
            <a:r>
              <a:rPr lang="en-US" dirty="0"/>
              <a:t>CLICK TO ADD TITLE</a:t>
            </a:r>
          </a:p>
        </p:txBody>
      </p:sp>
    </p:spTree>
    <p:extLst>
      <p:ext uri="{BB962C8B-B14F-4D97-AF65-F5344CB8AC3E}">
        <p14:creationId xmlns:p14="http://schemas.microsoft.com/office/powerpoint/2010/main" val="3871361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627ED-C799-AA4A-BA7C-2FFFBEA251A4}"/>
              </a:ext>
            </a:extLst>
          </p:cNvPr>
          <p:cNvSpPr>
            <a:spLocks noGrp="1"/>
          </p:cNvSpPr>
          <p:nvPr>
            <p:ph type="title" hasCustomPrompt="1"/>
          </p:nvPr>
        </p:nvSpPr>
        <p:spPr/>
        <p:txBody>
          <a:bodyPr/>
          <a:lstStyle/>
          <a:p>
            <a:r>
              <a:rPr lang="en-US" dirty="0"/>
              <a:t>TITLE AND CONTENT - Click to add title</a:t>
            </a:r>
          </a:p>
        </p:txBody>
      </p:sp>
      <p:sp>
        <p:nvSpPr>
          <p:cNvPr id="3" name="Slide Number Placeholder 2">
            <a:extLst>
              <a:ext uri="{FF2B5EF4-FFF2-40B4-BE49-F238E27FC236}">
                <a16:creationId xmlns:a16="http://schemas.microsoft.com/office/drawing/2014/main" id="{87D4B9F0-F682-C847-A4A4-C8832F0065E1}"/>
              </a:ext>
            </a:extLst>
          </p:cNvPr>
          <p:cNvSpPr>
            <a:spLocks noGrp="1"/>
          </p:cNvSpPr>
          <p:nvPr>
            <p:ph type="sldNum" sz="quarter" idx="10"/>
          </p:nvPr>
        </p:nvSpPr>
        <p:spPr/>
        <p:txBody>
          <a:bodyPr/>
          <a:lstStyle/>
          <a:p>
            <a:fld id="{4FAB73BC-B049-4115-A692-8D63A059BFB8}" type="slidenum">
              <a:rPr lang="en-US" smtClean="0"/>
              <a:pPr/>
              <a:t>‹#›</a:t>
            </a:fld>
            <a:endParaRPr lang="en-US" dirty="0"/>
          </a:p>
        </p:txBody>
      </p:sp>
      <p:sp>
        <p:nvSpPr>
          <p:cNvPr id="5" name="Content Placeholder 4">
            <a:extLst>
              <a:ext uri="{FF2B5EF4-FFF2-40B4-BE49-F238E27FC236}">
                <a16:creationId xmlns:a16="http://schemas.microsoft.com/office/drawing/2014/main" id="{BAC6C40D-F7AE-5D42-B2A9-60C9F62ADE8A}"/>
              </a:ext>
            </a:extLst>
          </p:cNvPr>
          <p:cNvSpPr>
            <a:spLocks noGrp="1"/>
          </p:cNvSpPr>
          <p:nvPr>
            <p:ph sz="quarter" idx="11" hasCustomPrompt="1"/>
          </p:nvPr>
        </p:nvSpPr>
        <p:spPr>
          <a:xfrm>
            <a:off x="647700" y="1409700"/>
            <a:ext cx="11049000" cy="4610100"/>
          </a:xfrm>
        </p:spPr>
        <p:txBody>
          <a:body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487960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_and_Double_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marL="0">
              <a:defRPr/>
            </a:lvl1pPr>
          </a:lstStyle>
          <a:p>
            <a:r>
              <a:rPr lang="en-US" dirty="0"/>
              <a:t>TITLE AND DOUBLE CONTENT - CLICK TO ADD TITLE</a:t>
            </a:r>
          </a:p>
        </p:txBody>
      </p:sp>
      <p:sp>
        <p:nvSpPr>
          <p:cNvPr id="3" name="Content Placeholder 2"/>
          <p:cNvSpPr>
            <a:spLocks noGrp="1"/>
          </p:cNvSpPr>
          <p:nvPr>
            <p:ph idx="1" hasCustomPrompt="1"/>
          </p:nvPr>
        </p:nvSpPr>
        <p:spPr>
          <a:xfrm>
            <a:off x="647700" y="1409701"/>
            <a:ext cx="5212412" cy="4610100"/>
          </a:xfrm>
          <a:prstGeom prst="rect">
            <a:avLst/>
          </a:prstGeom>
        </p:spPr>
        <p:txBody>
          <a:bodyPr/>
          <a:lstStyle>
            <a:lvl1pPr>
              <a:lnSpc>
                <a:spcPct val="100000"/>
              </a:lnSpc>
              <a:buFontTx/>
              <a:buNone/>
              <a:defRPr b="0" i="0">
                <a:latin typeface="Open Sans" panose="020B0606030504020204" pitchFamily="34" charset="0"/>
                <a:ea typeface="Open Sans" panose="020B0606030504020204" pitchFamily="34" charset="0"/>
                <a:cs typeface="Open Sans" panose="020B0606030504020204" pitchFamily="34" charset="0"/>
              </a:defRPr>
            </a:lvl1pPr>
            <a:lvl2pPr>
              <a:lnSpc>
                <a:spcPct val="100000"/>
              </a:lnSpc>
              <a:buFont typeface="Courier New" panose="02070309020205020404" pitchFamily="49" charset="0"/>
              <a:buChar char="o"/>
              <a:defRPr>
                <a:latin typeface="Open Sans" panose="020B0606030504020204" pitchFamily="34" charset="0"/>
              </a:defRPr>
            </a:lvl2pPr>
            <a:lvl3pPr>
              <a:lnSpc>
                <a:spcPct val="100000"/>
              </a:lnSpc>
              <a:buFont typeface="Courier New" panose="02070309020205020404" pitchFamily="49" charset="0"/>
              <a:buChar char="o"/>
              <a:defRPr>
                <a:latin typeface="Open Sans" panose="020B0606030504020204" pitchFamily="34" charset="0"/>
              </a:defRPr>
            </a:lvl3pPr>
            <a:lvl4pPr>
              <a:lnSpc>
                <a:spcPct val="100000"/>
              </a:lnSpc>
              <a:buFont typeface="Courier New" panose="02070309020205020404" pitchFamily="49" charset="0"/>
              <a:buChar char="o"/>
              <a:defRPr>
                <a:latin typeface="Open Sans" panose="020B0606030504020204" pitchFamily="34" charset="0"/>
              </a:defRPr>
            </a:lvl4pPr>
            <a:lvl5pPr>
              <a:lnSpc>
                <a:spcPct val="100000"/>
              </a:lnSpc>
              <a:buFont typeface="Courier New" panose="02070309020205020404" pitchFamily="49" charset="0"/>
              <a:buChar char="o"/>
              <a:defRPr b="0" i="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a:p>
            <a:pPr lvl="4"/>
            <a:endParaRPr lang="en-US" dirty="0"/>
          </a:p>
          <a:p>
            <a:pPr lvl="4"/>
            <a:endParaRPr lang="en-US" dirty="0"/>
          </a:p>
          <a:p>
            <a:pPr lvl="4"/>
            <a:endParaRPr lang="en-US" dirty="0"/>
          </a:p>
          <a:p>
            <a:pPr lvl="4"/>
            <a:endParaRPr lang="en-US" dirty="0"/>
          </a:p>
          <a:p>
            <a:pPr lvl="4"/>
            <a:endParaRPr lang="en-US" dirty="0"/>
          </a:p>
          <a:p>
            <a:pPr lvl="4"/>
            <a:endParaRPr lang="en-US" dirty="0"/>
          </a:p>
          <a:p>
            <a:pPr lvl="4"/>
            <a:endParaRPr lang="en-US" dirty="0"/>
          </a:p>
          <a:p>
            <a:pPr lvl="4"/>
            <a:endParaRPr lang="en-US" dirty="0"/>
          </a:p>
          <a:p>
            <a:pPr lvl="4"/>
            <a:endParaRPr lang="en-US" dirty="0"/>
          </a:p>
        </p:txBody>
      </p:sp>
      <p:sp>
        <p:nvSpPr>
          <p:cNvPr id="6" name="Content Placeholder 2">
            <a:extLst>
              <a:ext uri="{FF2B5EF4-FFF2-40B4-BE49-F238E27FC236}">
                <a16:creationId xmlns:a16="http://schemas.microsoft.com/office/drawing/2014/main" id="{5D970262-8623-2B46-A712-FEE93CC93EDE}"/>
              </a:ext>
            </a:extLst>
          </p:cNvPr>
          <p:cNvSpPr>
            <a:spLocks noGrp="1"/>
          </p:cNvSpPr>
          <p:nvPr>
            <p:ph idx="10" hasCustomPrompt="1"/>
          </p:nvPr>
        </p:nvSpPr>
        <p:spPr>
          <a:xfrm>
            <a:off x="6331888" y="1409700"/>
            <a:ext cx="5364812" cy="4610101"/>
          </a:xfrm>
          <a:prstGeom prst="rect">
            <a:avLst/>
          </a:prstGeom>
        </p:spPr>
        <p:txBody>
          <a:bodyPr/>
          <a:lstStyle>
            <a:lvl1pPr>
              <a:lnSpc>
                <a:spcPct val="100000"/>
              </a:lnSpc>
              <a:buFontTx/>
              <a:buNone/>
              <a:defRPr b="0" i="0">
                <a:latin typeface="Open Sans" panose="020B0606030504020204" pitchFamily="34" charset="0"/>
                <a:ea typeface="Open Sans" panose="020B0606030504020204" pitchFamily="34" charset="0"/>
                <a:cs typeface="Open Sans" panose="020B0606030504020204" pitchFamily="34" charset="0"/>
              </a:defRPr>
            </a:lvl1pPr>
            <a:lvl2pPr>
              <a:lnSpc>
                <a:spcPct val="100000"/>
              </a:lnSpc>
              <a:buFont typeface="Wingdings" pitchFamily="2" charset="2"/>
              <a:buChar char="§"/>
              <a:defRPr>
                <a:latin typeface="Open Sans" panose="020B0606030504020204" pitchFamily="34" charset="0"/>
              </a:defRPr>
            </a:lvl2pPr>
            <a:lvl3pPr>
              <a:lnSpc>
                <a:spcPct val="100000"/>
              </a:lnSpc>
              <a:buFont typeface="Wingdings" pitchFamily="2" charset="2"/>
              <a:buChar char="§"/>
              <a:defRPr>
                <a:latin typeface="Open Sans" panose="020B0606030504020204" pitchFamily="34" charset="0"/>
              </a:defRPr>
            </a:lvl3pPr>
            <a:lvl4pPr>
              <a:lnSpc>
                <a:spcPct val="100000"/>
              </a:lnSpc>
              <a:buFont typeface="Wingdings" pitchFamily="2" charset="2"/>
              <a:buChar char="§"/>
              <a:defRPr>
                <a:latin typeface="Open Sans" panose="020B0606030504020204" pitchFamily="34" charset="0"/>
              </a:defRPr>
            </a:lvl4pPr>
            <a:lvl5pPr>
              <a:lnSpc>
                <a:spcPct val="100000"/>
              </a:lnSpc>
              <a:buFont typeface="Wingdings" pitchFamily="2" charset="2"/>
              <a:buChar char="§"/>
              <a:defRPr b="0" i="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a:p>
            <a:pPr lvl="4"/>
            <a:endParaRPr lang="en-US" dirty="0"/>
          </a:p>
          <a:p>
            <a:pPr lvl="4"/>
            <a:endParaRPr lang="en-US" dirty="0"/>
          </a:p>
          <a:p>
            <a:pPr lvl="4"/>
            <a:endParaRPr lang="en-US" dirty="0"/>
          </a:p>
          <a:p>
            <a:pPr lvl="4"/>
            <a:endParaRPr lang="en-US" dirty="0"/>
          </a:p>
          <a:p>
            <a:pPr lvl="4"/>
            <a:endParaRPr lang="en-US" dirty="0"/>
          </a:p>
          <a:p>
            <a:pPr lvl="4"/>
            <a:endParaRPr lang="en-US" dirty="0"/>
          </a:p>
          <a:p>
            <a:pPr lvl="4"/>
            <a:endParaRPr lang="en-US" dirty="0"/>
          </a:p>
          <a:p>
            <a:pPr lvl="4"/>
            <a:endParaRPr lang="en-US" dirty="0"/>
          </a:p>
          <a:p>
            <a:pPr lvl="4"/>
            <a:endParaRPr lang="en-US" dirty="0"/>
          </a:p>
        </p:txBody>
      </p:sp>
      <p:sp>
        <p:nvSpPr>
          <p:cNvPr id="8" name="Slide Number Placeholder 5">
            <a:extLst>
              <a:ext uri="{FF2B5EF4-FFF2-40B4-BE49-F238E27FC236}">
                <a16:creationId xmlns:a16="http://schemas.microsoft.com/office/drawing/2014/main" id="{1CF5FC13-FF8A-8C4E-BA9B-B1FED8AA82E4}"/>
              </a:ext>
            </a:extLst>
          </p:cNvPr>
          <p:cNvSpPr>
            <a:spLocks noGrp="1"/>
          </p:cNvSpPr>
          <p:nvPr>
            <p:ph type="sldNum" sz="quarter" idx="4"/>
          </p:nvPr>
        </p:nvSpPr>
        <p:spPr>
          <a:xfrm>
            <a:off x="11702562" y="6471387"/>
            <a:ext cx="489438" cy="365125"/>
          </a:xfrm>
          <a:prstGeom prst="rect">
            <a:avLst/>
          </a:prstGeom>
        </p:spPr>
        <p:txBody>
          <a:bodyPr vert="horz" lIns="0" tIns="0" rIns="0" bIns="0" rtlCol="0" anchor="ctr"/>
          <a:lstStyle>
            <a:lvl1pPr algn="ctr">
              <a:defRPr sz="1400">
                <a:solidFill>
                  <a:srgbClr val="FFFFFF"/>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024407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_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marL="0">
              <a:defRPr/>
            </a:lvl1pPr>
          </a:lstStyle>
          <a:p>
            <a:r>
              <a:rPr lang="en-US" dirty="0"/>
              <a:t>TITLE ONLY - CLICK TO ADD TITLE</a:t>
            </a:r>
          </a:p>
        </p:txBody>
      </p:sp>
      <p:sp>
        <p:nvSpPr>
          <p:cNvPr id="5" name="Slide Number Placeholder 5">
            <a:extLst>
              <a:ext uri="{FF2B5EF4-FFF2-40B4-BE49-F238E27FC236}">
                <a16:creationId xmlns:a16="http://schemas.microsoft.com/office/drawing/2014/main" id="{6E97028B-705D-5846-9BF6-441624A3FB9D}"/>
              </a:ext>
            </a:extLst>
          </p:cNvPr>
          <p:cNvSpPr>
            <a:spLocks noGrp="1"/>
          </p:cNvSpPr>
          <p:nvPr>
            <p:ph type="sldNum" sz="quarter" idx="4"/>
          </p:nvPr>
        </p:nvSpPr>
        <p:spPr>
          <a:xfrm>
            <a:off x="11702562" y="6471387"/>
            <a:ext cx="489438" cy="365125"/>
          </a:xfrm>
          <a:prstGeom prst="rect">
            <a:avLst/>
          </a:prstGeom>
        </p:spPr>
        <p:txBody>
          <a:bodyPr vert="horz" lIns="0" tIns="0" rIns="0" bIns="0" rtlCol="0" anchor="ctr"/>
          <a:lstStyle>
            <a:lvl1pPr algn="ctr">
              <a:defRPr sz="1400">
                <a:solidFill>
                  <a:srgbClr val="FFFFFF"/>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700320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Slide">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FB71B262-AC2E-494D-B366-04431A29FCBF}"/>
              </a:ext>
            </a:extLst>
          </p:cNvPr>
          <p:cNvSpPr>
            <a:spLocks noGrp="1"/>
          </p:cNvSpPr>
          <p:nvPr>
            <p:ph type="sldNum" sz="quarter" idx="4"/>
          </p:nvPr>
        </p:nvSpPr>
        <p:spPr>
          <a:xfrm>
            <a:off x="11702562" y="6471387"/>
            <a:ext cx="489438" cy="365125"/>
          </a:xfrm>
          <a:prstGeom prst="rect">
            <a:avLst/>
          </a:prstGeom>
        </p:spPr>
        <p:txBody>
          <a:bodyPr vert="horz" lIns="0" tIns="0" rIns="0" bIns="0" rtlCol="0" anchor="ctr"/>
          <a:lstStyle>
            <a:lvl1pPr algn="ctr">
              <a:defRPr sz="1400">
                <a:solidFill>
                  <a:srgbClr val="FFFFFF"/>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48072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9">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00200" y="261257"/>
            <a:ext cx="10096500" cy="774779"/>
          </a:xfrm>
          <a:prstGeom prst="rect">
            <a:avLst/>
          </a:prstGeom>
        </p:spPr>
        <p:txBody>
          <a:bodyPr vert="horz" lIns="0" tIns="0" rIns="0" bIns="0" rtlCol="0" anchor="ctr">
            <a:normAutofit/>
          </a:bodyPr>
          <a:lstStyle/>
          <a:p>
            <a:r>
              <a:rPr lang="en-US" dirty="0"/>
              <a:t>CLICK TO EDIT MASTER TITLE STYLE</a:t>
            </a:r>
          </a:p>
        </p:txBody>
      </p:sp>
      <p:sp>
        <p:nvSpPr>
          <p:cNvPr id="9" name="Text Placeholder 2">
            <a:extLst>
              <a:ext uri="{FF2B5EF4-FFF2-40B4-BE49-F238E27FC236}">
                <a16:creationId xmlns:a16="http://schemas.microsoft.com/office/drawing/2014/main" id="{CAC4959A-AD2F-9049-854D-6985DFCF4E46}"/>
              </a:ext>
            </a:extLst>
          </p:cNvPr>
          <p:cNvSpPr>
            <a:spLocks noGrp="1"/>
          </p:cNvSpPr>
          <p:nvPr>
            <p:ph type="body" idx="1"/>
          </p:nvPr>
        </p:nvSpPr>
        <p:spPr>
          <a:xfrm>
            <a:off x="654222" y="1429233"/>
            <a:ext cx="11042478" cy="4590567"/>
          </a:xfrm>
          <a:prstGeom prst="rect">
            <a:avLst/>
          </a:prstGeom>
        </p:spPr>
        <p:txBody>
          <a:bodyPr vert="horz" lIns="0" tIns="45720" rIns="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5">
            <a:extLst>
              <a:ext uri="{FF2B5EF4-FFF2-40B4-BE49-F238E27FC236}">
                <a16:creationId xmlns:a16="http://schemas.microsoft.com/office/drawing/2014/main" id="{17C06173-326E-C842-95A0-26D69A4B9AFD}"/>
              </a:ext>
            </a:extLst>
          </p:cNvPr>
          <p:cNvSpPr>
            <a:spLocks noGrp="1"/>
          </p:cNvSpPr>
          <p:nvPr>
            <p:ph type="sldNum" sz="quarter" idx="4"/>
          </p:nvPr>
        </p:nvSpPr>
        <p:spPr>
          <a:xfrm>
            <a:off x="11702562" y="6471387"/>
            <a:ext cx="489438" cy="365125"/>
          </a:xfrm>
          <a:prstGeom prst="rect">
            <a:avLst/>
          </a:prstGeom>
        </p:spPr>
        <p:txBody>
          <a:bodyPr vert="horz" lIns="0" tIns="0" rIns="0" bIns="0" rtlCol="0" anchor="ctr"/>
          <a:lstStyle>
            <a:lvl1pPr algn="ctr">
              <a:defRPr sz="1400" b="0" i="0">
                <a:solidFill>
                  <a:srgbClr val="FFFFFF"/>
                </a:solidFill>
                <a:latin typeface="Open Sans" panose="020B0606030504020204" pitchFamily="34" charset="0"/>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290262625"/>
      </p:ext>
    </p:extLst>
  </p:cSld>
  <p:clrMap bg1="lt1" tx1="dk1" bg2="lt2" tx2="dk2" accent1="accent1" accent2="accent2" accent3="accent3" accent4="accent4" accent5="accent5" accent6="accent6" hlink="hlink" folHlink="folHlink"/>
  <p:sldLayoutIdLst>
    <p:sldLayoutId id="2147483752" r:id="rId1"/>
    <p:sldLayoutId id="2147483733" r:id="rId2"/>
    <p:sldLayoutId id="2147483758" r:id="rId3"/>
    <p:sldLayoutId id="2147483763" r:id="rId4"/>
    <p:sldLayoutId id="2147483760" r:id="rId5"/>
    <p:sldLayoutId id="2147483761" r:id="rId6"/>
    <p:sldLayoutId id="2147483762" r:id="rId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914400" rtl="0" eaLnBrk="1" latinLnBrk="0" hangingPunct="1">
        <a:lnSpc>
          <a:spcPct val="90000"/>
        </a:lnSpc>
        <a:spcBef>
          <a:spcPct val="0"/>
        </a:spcBef>
        <a:buNone/>
        <a:defRPr sz="2400" kern="1200">
          <a:solidFill>
            <a:schemeClr val="tx2"/>
          </a:solidFill>
          <a:latin typeface="+mj-lt"/>
          <a:ea typeface="+mj-ea"/>
          <a:cs typeface="+mj-cs"/>
        </a:defRPr>
      </a:lvl1pPr>
    </p:titleStyle>
    <p:bodyStyle>
      <a:lvl1pPr marL="0" indent="0" algn="l" defTabSz="914400" rtl="0" eaLnBrk="1" latinLnBrk="0" hangingPunct="1">
        <a:lnSpc>
          <a:spcPct val="90000"/>
        </a:lnSpc>
        <a:spcBef>
          <a:spcPts val="1000"/>
        </a:spcBef>
        <a:buClr>
          <a:schemeClr val="accent1"/>
        </a:buClr>
        <a:buFont typeface="Arial" panose="020B0604020202020204" pitchFamily="34" charset="0"/>
        <a:buNone/>
        <a:defRPr sz="20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38404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8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56692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6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74980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4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4pPr>
      <a:lvl5pPr marL="93268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2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4.xml"/><Relationship Id="rId5" Type="http://schemas.openxmlformats.org/officeDocument/2006/relationships/image" Target="../media/image10.emf"/><Relationship Id="rId4" Type="http://schemas.openxmlformats.org/officeDocument/2006/relationships/image" Target="../media/image9.emf"/></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7.emf"/><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7.emf"/><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emf"/><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5.emf"/><Relationship Id="rId1" Type="http://schemas.openxmlformats.org/officeDocument/2006/relationships/slideLayout" Target="../slideLayouts/slideLayout4.xml"/><Relationship Id="rId4" Type="http://schemas.openxmlformats.org/officeDocument/2006/relationships/image" Target="../media/image17.emf"/></Relationships>
</file>

<file path=ppt/slides/_rels/slide8.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7.emf"/><Relationship Id="rId1" Type="http://schemas.openxmlformats.org/officeDocument/2006/relationships/slideLayout" Target="../slideLayouts/slideLayout4.xml"/><Relationship Id="rId4" Type="http://schemas.openxmlformats.org/officeDocument/2006/relationships/image" Target="../media/image19.emf"/></Relationships>
</file>

<file path=ppt/slides/_rels/slide9.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5.emf"/><Relationship Id="rId1" Type="http://schemas.openxmlformats.org/officeDocument/2006/relationships/slideLayout" Target="../slideLayouts/slideLayout4.xml"/><Relationship Id="rId5" Type="http://schemas.openxmlformats.org/officeDocument/2006/relationships/image" Target="../media/image21.emf"/><Relationship Id="rId4" Type="http://schemas.openxmlformats.org/officeDocument/2006/relationships/image" Target="../media/image20.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D23EA49-B5D0-1541-8EC1-3C4BE870D2BF}"/>
              </a:ext>
            </a:extLst>
          </p:cNvPr>
          <p:cNvSpPr>
            <a:spLocks noGrp="1"/>
          </p:cNvSpPr>
          <p:nvPr>
            <p:ph type="ctrTitle"/>
          </p:nvPr>
        </p:nvSpPr>
        <p:spPr>
          <a:xfrm>
            <a:off x="990600" y="1575114"/>
            <a:ext cx="8873836" cy="1853885"/>
          </a:xfrm>
        </p:spPr>
        <p:txBody>
          <a:bodyPr>
            <a:normAutofit/>
          </a:bodyPr>
          <a:lstStyle/>
          <a:p>
            <a:r>
              <a:rPr lang="en-US" sz="3000" dirty="0"/>
              <a:t>ME469: Review of Partial </a:t>
            </a:r>
            <a:br>
              <a:rPr lang="en-US" sz="3000" dirty="0"/>
            </a:br>
            <a:r>
              <a:rPr lang="en-US" sz="3000" dirty="0"/>
              <a:t>Differential Equations</a:t>
            </a:r>
          </a:p>
        </p:txBody>
      </p:sp>
      <p:sp>
        <p:nvSpPr>
          <p:cNvPr id="33" name="TextBox 32">
            <a:extLst>
              <a:ext uri="{FF2B5EF4-FFF2-40B4-BE49-F238E27FC236}">
                <a16:creationId xmlns:a16="http://schemas.microsoft.com/office/drawing/2014/main" id="{13E54DF6-4A33-0F44-BFF9-3FDCAA65F7F8}"/>
              </a:ext>
            </a:extLst>
          </p:cNvPr>
          <p:cNvSpPr txBox="1"/>
          <p:nvPr/>
        </p:nvSpPr>
        <p:spPr>
          <a:xfrm>
            <a:off x="3438144" y="3596640"/>
            <a:ext cx="0" cy="0"/>
          </a:xfrm>
          <a:prstGeom prst="rect">
            <a:avLst/>
          </a:prstGeom>
        </p:spPr>
        <p:txBody>
          <a:bodyPr vert="horz" wrap="none" lIns="91440" tIns="45720" rIns="91440" bIns="45720" rtlCol="0">
            <a:noAutofit/>
          </a:bodyPr>
          <a:lstStyle/>
          <a:p>
            <a:pPr algn="l"/>
            <a:endParaRPr lang="en-US" dirty="0">
              <a:latin typeface="Open Sans" panose="020B0606030504020204" pitchFamily="34" charset="0"/>
            </a:endParaRPr>
          </a:p>
        </p:txBody>
      </p:sp>
      <p:sp>
        <p:nvSpPr>
          <p:cNvPr id="6" name="Subtitle 7">
            <a:extLst>
              <a:ext uri="{FF2B5EF4-FFF2-40B4-BE49-F238E27FC236}">
                <a16:creationId xmlns:a16="http://schemas.microsoft.com/office/drawing/2014/main" id="{0CDCAA58-6449-CBF2-366F-08ED9D5171DB}"/>
              </a:ext>
            </a:extLst>
          </p:cNvPr>
          <p:cNvSpPr>
            <a:spLocks noGrp="1"/>
          </p:cNvSpPr>
          <p:nvPr>
            <p:ph type="subTitle" idx="1"/>
          </p:nvPr>
        </p:nvSpPr>
        <p:spPr>
          <a:xfrm>
            <a:off x="990599" y="3719997"/>
            <a:ext cx="6300850" cy="667120"/>
          </a:xfrm>
        </p:spPr>
        <p:txBody>
          <a:bodyPr/>
          <a:lstStyle/>
          <a:p>
            <a:r>
              <a:rPr lang="en-US" dirty="0"/>
              <a:t>Stefan P. Domino</a:t>
            </a:r>
            <a:r>
              <a:rPr lang="en-US" baseline="30000" dirty="0"/>
              <a:t>1,2</a:t>
            </a:r>
            <a:r>
              <a:rPr lang="en-US" dirty="0"/>
              <a:t> </a:t>
            </a:r>
          </a:p>
          <a:p>
            <a:r>
              <a:rPr lang="en-US" sz="1100" baseline="30000" dirty="0"/>
              <a:t>1</a:t>
            </a:r>
            <a:r>
              <a:rPr lang="en-US" sz="1100" dirty="0"/>
              <a:t> Computational Thermal and Fluid Mechanics, Sandia National Laboratories</a:t>
            </a:r>
          </a:p>
          <a:p>
            <a:r>
              <a:rPr lang="en-US" sz="1100" baseline="30000" dirty="0"/>
              <a:t>2 </a:t>
            </a:r>
            <a:r>
              <a:rPr lang="en-US" sz="1100" dirty="0"/>
              <a:t>Institute for Computational and Mathematical Engineering, Stanford</a:t>
            </a:r>
          </a:p>
        </p:txBody>
      </p:sp>
      <p:sp>
        <p:nvSpPr>
          <p:cNvPr id="9" name="Text Placeholder 10">
            <a:extLst>
              <a:ext uri="{FF2B5EF4-FFF2-40B4-BE49-F238E27FC236}">
                <a16:creationId xmlns:a16="http://schemas.microsoft.com/office/drawing/2014/main" id="{F4EBD037-1C53-3EED-E7CC-D39EC221E301}"/>
              </a:ext>
            </a:extLst>
          </p:cNvPr>
          <p:cNvSpPr txBox="1">
            <a:spLocks/>
          </p:cNvSpPr>
          <p:nvPr/>
        </p:nvSpPr>
        <p:spPr>
          <a:xfrm>
            <a:off x="990600" y="4509920"/>
            <a:ext cx="5243146" cy="667120"/>
          </a:xfrm>
          <a:prstGeom prst="rect">
            <a:avLst/>
          </a:prstGeom>
        </p:spPr>
        <p:txBody>
          <a:bodyPr vert="horz" lIns="0" tIns="0" rIns="0" bIns="0" rtlCol="0">
            <a:normAutofit/>
          </a:bodyPr>
          <a:lstStyle>
            <a:lvl1pPr marL="0" indent="0" algn="l" defTabSz="914400" rtl="0" eaLnBrk="1" latinLnBrk="0" hangingPunct="1">
              <a:lnSpc>
                <a:spcPct val="90000"/>
              </a:lnSpc>
              <a:spcBef>
                <a:spcPts val="1000"/>
              </a:spcBef>
              <a:buClr>
                <a:schemeClr val="accent1"/>
              </a:buClr>
              <a:buFontTx/>
              <a:buNone/>
              <a:defRPr sz="1400" b="0" i="0" kern="12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vl2pPr marL="38404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8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56692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6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74980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4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4pPr>
            <a:lvl5pPr marL="93268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2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2" name="TextBox 1">
            <a:extLst>
              <a:ext uri="{FF2B5EF4-FFF2-40B4-BE49-F238E27FC236}">
                <a16:creationId xmlns:a16="http://schemas.microsoft.com/office/drawing/2014/main" id="{2EEBA8A3-0CE5-37E5-4BE4-C59032C4EC6F}"/>
              </a:ext>
            </a:extLst>
          </p:cNvPr>
          <p:cNvSpPr txBox="1"/>
          <p:nvPr/>
        </p:nvSpPr>
        <p:spPr>
          <a:xfrm>
            <a:off x="2062976" y="6501161"/>
            <a:ext cx="0" cy="0"/>
          </a:xfrm>
          <a:prstGeom prst="rect">
            <a:avLst/>
          </a:prstGeom>
        </p:spPr>
        <p:txBody>
          <a:bodyPr vert="horz" wrap="none" lIns="91440" tIns="45720" rIns="91440" bIns="45720" rtlCol="0">
            <a:noAutofit/>
          </a:bodyPr>
          <a:lstStyle/>
          <a:p>
            <a:pPr algn="l"/>
            <a:r>
              <a:rPr lang="de-DE" sz="1200" dirty="0">
                <a:solidFill>
                  <a:schemeClr val="bg2"/>
                </a:solidFill>
              </a:rPr>
              <a:t>SAND2018-4536 PE</a:t>
            </a:r>
            <a:endParaRPr lang="en-US" sz="140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181726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AEF81-43B2-D2E9-64DB-9BB513563FB2}"/>
              </a:ext>
            </a:extLst>
          </p:cNvPr>
          <p:cNvSpPr>
            <a:spLocks noGrp="1"/>
          </p:cNvSpPr>
          <p:nvPr>
            <p:ph type="title"/>
          </p:nvPr>
        </p:nvSpPr>
        <p:spPr/>
        <p:txBody>
          <a:bodyPr/>
          <a:lstStyle/>
          <a:p>
            <a:r>
              <a:rPr lang="en-US" dirty="0"/>
              <a:t>Equation Review</a:t>
            </a:r>
          </a:p>
        </p:txBody>
      </p:sp>
      <p:sp>
        <p:nvSpPr>
          <p:cNvPr id="3" name="Slide Number Placeholder 2">
            <a:extLst>
              <a:ext uri="{FF2B5EF4-FFF2-40B4-BE49-F238E27FC236}">
                <a16:creationId xmlns:a16="http://schemas.microsoft.com/office/drawing/2014/main" id="{D12CBAA7-B6E3-B9AA-1073-F1BAE1349B5A}"/>
              </a:ext>
            </a:extLst>
          </p:cNvPr>
          <p:cNvSpPr>
            <a:spLocks noGrp="1"/>
          </p:cNvSpPr>
          <p:nvPr>
            <p:ph type="sldNum" sz="quarter" idx="10"/>
          </p:nvPr>
        </p:nvSpPr>
        <p:spPr/>
        <p:txBody>
          <a:bodyPr/>
          <a:lstStyle/>
          <a:p>
            <a:fld id="{4FAB73BC-B049-4115-A692-8D63A059BFB8}" type="slidenum">
              <a:rPr lang="en-US" smtClean="0"/>
              <a:pPr/>
              <a:t>2</a:t>
            </a:fld>
            <a:endParaRPr lang="en-US" dirty="0"/>
          </a:p>
        </p:txBody>
      </p:sp>
      <p:sp>
        <p:nvSpPr>
          <p:cNvPr id="5" name="Content Placeholder 3">
            <a:extLst>
              <a:ext uri="{FF2B5EF4-FFF2-40B4-BE49-F238E27FC236}">
                <a16:creationId xmlns:a16="http://schemas.microsoft.com/office/drawing/2014/main" id="{224CB1A0-4C43-7978-4FBA-A5CCF70F76B1}"/>
              </a:ext>
            </a:extLst>
          </p:cNvPr>
          <p:cNvSpPr>
            <a:spLocks noGrp="1"/>
          </p:cNvSpPr>
          <p:nvPr>
            <p:ph sz="quarter" idx="11"/>
          </p:nvPr>
        </p:nvSpPr>
        <p:spPr>
          <a:xfrm>
            <a:off x="3946906" y="1568188"/>
            <a:ext cx="5753100" cy="5268323"/>
          </a:xfrm>
        </p:spPr>
        <p:txBody>
          <a:bodyPr>
            <a:normAutofit/>
          </a:bodyPr>
          <a:lstStyle/>
          <a:p>
            <a:pPr marL="342900" indent="-342900">
              <a:buFont typeface="Arial" panose="020B0604020202020204" pitchFamily="34" charset="0"/>
              <a:buChar char="•"/>
            </a:pPr>
            <a:r>
              <a:rPr lang="en-US" dirty="0">
                <a:effectLst/>
              </a:rPr>
              <a:t>The intended application </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effectLst/>
            </a:endParaRPr>
          </a:p>
          <a:p>
            <a:pPr marL="342900" indent="-342900">
              <a:buFont typeface="Arial" panose="020B0604020202020204" pitchFamily="34" charset="0"/>
              <a:buChar char="•"/>
            </a:pPr>
            <a:endParaRPr lang="en-US" dirty="0">
              <a:effectLst/>
            </a:endParaRPr>
          </a:p>
          <a:p>
            <a:pPr marL="342900" indent="-342900">
              <a:buFont typeface="Arial" panose="020B0604020202020204" pitchFamily="34" charset="0"/>
              <a:buChar char="•"/>
            </a:pPr>
            <a:endParaRPr lang="en-US" dirty="0">
              <a:effectLst/>
            </a:endParaRPr>
          </a:p>
          <a:p>
            <a:pPr marL="342900" indent="-342900">
              <a:buFont typeface="Arial" panose="020B0604020202020204" pitchFamily="34" charset="0"/>
              <a:buChar char="•"/>
            </a:pPr>
            <a:r>
              <a:rPr lang="en-US" dirty="0">
                <a:effectLst/>
              </a:rPr>
              <a:t>Physical laws, hypothesis and models (e.g. a set of PDEs) and initial and boundary conditions </a:t>
            </a:r>
          </a:p>
          <a:p>
            <a:pPr marL="342900" indent="-342900">
              <a:buFont typeface="Arial" panose="020B0604020202020204" pitchFamily="34" charset="0"/>
              <a:buChar char="•"/>
            </a:pPr>
            <a:endParaRPr lang="en-US" dirty="0">
              <a:effectLst/>
            </a:endParaRP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effectLst/>
            </a:endParaRPr>
          </a:p>
          <a:p>
            <a:pPr marL="342900" indent="-342900">
              <a:buFont typeface="Arial" panose="020B0604020202020204" pitchFamily="34" charset="0"/>
              <a:buChar char="•"/>
            </a:pPr>
            <a:r>
              <a:rPr lang="en-US" dirty="0">
                <a:effectLst/>
              </a:rPr>
              <a:t>A set of computational algorithms that allow to build a numerical, or approximated solution to the conceptual model </a:t>
            </a:r>
          </a:p>
        </p:txBody>
      </p:sp>
      <p:sp>
        <p:nvSpPr>
          <p:cNvPr id="6" name="Oval 5">
            <a:extLst>
              <a:ext uri="{FF2B5EF4-FFF2-40B4-BE49-F238E27FC236}">
                <a16:creationId xmlns:a16="http://schemas.microsoft.com/office/drawing/2014/main" id="{BCABE50A-A555-FD95-1B96-365FB1EF8BEC}"/>
              </a:ext>
            </a:extLst>
          </p:cNvPr>
          <p:cNvSpPr/>
          <p:nvPr/>
        </p:nvSpPr>
        <p:spPr>
          <a:xfrm>
            <a:off x="388425" y="927550"/>
            <a:ext cx="3394129" cy="187757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Open Sans" panose="020B0606030504020204" pitchFamily="34" charset="0"/>
                <a:ea typeface="Open Sans" panose="020B0606030504020204" pitchFamily="34" charset="0"/>
                <a:cs typeface="Open Sans" panose="020B0606030504020204" pitchFamily="34" charset="0"/>
              </a:rPr>
              <a:t>Real World</a:t>
            </a:r>
          </a:p>
        </p:txBody>
      </p:sp>
      <p:sp>
        <p:nvSpPr>
          <p:cNvPr id="7" name="Oval 6">
            <a:extLst>
              <a:ext uri="{FF2B5EF4-FFF2-40B4-BE49-F238E27FC236}">
                <a16:creationId xmlns:a16="http://schemas.microsoft.com/office/drawing/2014/main" id="{9ED2D2A2-B599-D5A3-BBC4-BDB1ACC9D94B}"/>
              </a:ext>
            </a:extLst>
          </p:cNvPr>
          <p:cNvSpPr/>
          <p:nvPr/>
        </p:nvSpPr>
        <p:spPr>
          <a:xfrm>
            <a:off x="388425" y="2928609"/>
            <a:ext cx="3394129" cy="187757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Open Sans" panose="020B0606030504020204" pitchFamily="34" charset="0"/>
                <a:ea typeface="Open Sans" panose="020B0606030504020204" pitchFamily="34" charset="0"/>
                <a:cs typeface="Open Sans" panose="020B0606030504020204" pitchFamily="34" charset="0"/>
              </a:rPr>
              <a:t>Conceptual</a:t>
            </a:r>
          </a:p>
          <a:p>
            <a:pPr algn="ctr"/>
            <a:r>
              <a:rPr lang="en-US" sz="2800" dirty="0">
                <a:latin typeface="Open Sans" panose="020B0606030504020204" pitchFamily="34" charset="0"/>
                <a:ea typeface="Open Sans" panose="020B0606030504020204" pitchFamily="34" charset="0"/>
                <a:cs typeface="Open Sans" panose="020B0606030504020204" pitchFamily="34" charset="0"/>
              </a:rPr>
              <a:t>Model</a:t>
            </a:r>
          </a:p>
        </p:txBody>
      </p:sp>
      <p:sp>
        <p:nvSpPr>
          <p:cNvPr id="8" name="Oval 7">
            <a:extLst>
              <a:ext uri="{FF2B5EF4-FFF2-40B4-BE49-F238E27FC236}">
                <a16:creationId xmlns:a16="http://schemas.microsoft.com/office/drawing/2014/main" id="{22D79A4B-4383-8E6F-251B-1190E8F25B99}"/>
              </a:ext>
            </a:extLst>
          </p:cNvPr>
          <p:cNvSpPr/>
          <p:nvPr/>
        </p:nvSpPr>
        <p:spPr>
          <a:xfrm>
            <a:off x="388425" y="4929669"/>
            <a:ext cx="3394129" cy="187757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Open Sans" panose="020B0606030504020204" pitchFamily="34" charset="0"/>
                <a:ea typeface="Open Sans" panose="020B0606030504020204" pitchFamily="34" charset="0"/>
                <a:cs typeface="Open Sans" panose="020B0606030504020204" pitchFamily="34" charset="0"/>
              </a:rPr>
              <a:t>Computer Model</a:t>
            </a:r>
          </a:p>
        </p:txBody>
      </p:sp>
    </p:spTree>
    <p:extLst>
      <p:ext uri="{BB962C8B-B14F-4D97-AF65-F5344CB8AC3E}">
        <p14:creationId xmlns:p14="http://schemas.microsoft.com/office/powerpoint/2010/main" val="3149606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BBF75-07DE-9DBB-8825-22C30EFB4429}"/>
              </a:ext>
            </a:extLst>
          </p:cNvPr>
          <p:cNvSpPr>
            <a:spLocks noGrp="1"/>
          </p:cNvSpPr>
          <p:nvPr>
            <p:ph type="title"/>
          </p:nvPr>
        </p:nvSpPr>
        <p:spPr/>
        <p:txBody>
          <a:bodyPr/>
          <a:lstStyle/>
          <a:p>
            <a:r>
              <a:rPr lang="en-US" dirty="0"/>
              <a:t>Partial Differential Equation: </a:t>
            </a:r>
            <a:br>
              <a:rPr lang="en-US" dirty="0"/>
            </a:br>
            <a:r>
              <a:rPr lang="en-US" dirty="0"/>
              <a:t>Transient Evolution of a Scalar with Advection, Diffusion, and Source</a:t>
            </a:r>
          </a:p>
        </p:txBody>
      </p:sp>
      <p:sp>
        <p:nvSpPr>
          <p:cNvPr id="3" name="Slide Number Placeholder 2">
            <a:extLst>
              <a:ext uri="{FF2B5EF4-FFF2-40B4-BE49-F238E27FC236}">
                <a16:creationId xmlns:a16="http://schemas.microsoft.com/office/drawing/2014/main" id="{9F656C0E-106A-4E9E-3F73-E090E3A0EE06}"/>
              </a:ext>
            </a:extLst>
          </p:cNvPr>
          <p:cNvSpPr>
            <a:spLocks noGrp="1"/>
          </p:cNvSpPr>
          <p:nvPr>
            <p:ph type="sldNum" sz="quarter" idx="10"/>
          </p:nvPr>
        </p:nvSpPr>
        <p:spPr/>
        <p:txBody>
          <a:bodyPr/>
          <a:lstStyle/>
          <a:p>
            <a:fld id="{4FAB73BC-B049-4115-A692-8D63A059BFB8}" type="slidenum">
              <a:rPr lang="en-US" smtClean="0"/>
              <a:pPr/>
              <a:t>3</a:t>
            </a:fld>
            <a:endParaRPr lang="en-US" dirty="0"/>
          </a:p>
        </p:txBody>
      </p:sp>
      <p:sp>
        <p:nvSpPr>
          <p:cNvPr id="4" name="Content Placeholder 3">
            <a:extLst>
              <a:ext uri="{FF2B5EF4-FFF2-40B4-BE49-F238E27FC236}">
                <a16:creationId xmlns:a16="http://schemas.microsoft.com/office/drawing/2014/main" id="{CC1D9602-0E2A-F8E2-74A4-862B901CCC8E}"/>
              </a:ext>
            </a:extLst>
          </p:cNvPr>
          <p:cNvSpPr>
            <a:spLocks noGrp="1"/>
          </p:cNvSpPr>
          <p:nvPr>
            <p:ph sz="quarter" idx="11"/>
          </p:nvPr>
        </p:nvSpPr>
        <p:spPr/>
        <p:txBody>
          <a:bodyPr/>
          <a:lstStyle/>
          <a:p>
            <a:r>
              <a:rPr lang="en-US" dirty="0"/>
              <a:t>General Transport Equation using Einstein notation, i.e., repeated index, for scalar </a:t>
            </a:r>
            <a:r>
              <a:rPr lang="en-US" dirty="0">
                <a:latin typeface="Symbol" pitchFamily="2" charset="2"/>
              </a:rPr>
              <a:t>f</a:t>
            </a:r>
          </a:p>
          <a:p>
            <a:endParaRPr lang="en-US" dirty="0">
              <a:latin typeface="Symbol" pitchFamily="2" charset="2"/>
            </a:endParaRPr>
          </a:p>
          <a:p>
            <a:pPr marL="342900" indent="-342900">
              <a:buFont typeface="Arial" panose="020B0604020202020204" pitchFamily="34" charset="0"/>
              <a:buChar char="•"/>
            </a:pPr>
            <a:r>
              <a:rPr lang="en-US" dirty="0"/>
              <a:t>Density, </a:t>
            </a:r>
            <a:r>
              <a:rPr lang="en-US" dirty="0">
                <a:latin typeface="Symbol" pitchFamily="2" charset="2"/>
              </a:rPr>
              <a:t>r [</a:t>
            </a:r>
            <a:r>
              <a:rPr lang="en-US" dirty="0"/>
              <a:t>kg/m</a:t>
            </a:r>
            <a:r>
              <a:rPr lang="en-US" baseline="30000" dirty="0"/>
              <a:t>3</a:t>
            </a:r>
            <a:r>
              <a:rPr lang="en-US" dirty="0"/>
              <a:t>]</a:t>
            </a:r>
            <a:endParaRPr lang="en-US" dirty="0">
              <a:latin typeface="Symbol" pitchFamily="2" charset="2"/>
            </a:endParaRPr>
          </a:p>
          <a:p>
            <a:pPr marL="342900" indent="-342900">
              <a:buFont typeface="Arial" panose="020B0604020202020204" pitchFamily="34" charset="0"/>
              <a:buChar char="•"/>
            </a:pPr>
            <a:r>
              <a:rPr lang="en-US" dirty="0"/>
              <a:t>Velocity, </a:t>
            </a:r>
            <a:r>
              <a:rPr lang="en-US" dirty="0" err="1"/>
              <a:t>u</a:t>
            </a:r>
            <a:r>
              <a:rPr lang="en-US" baseline="-25000" dirty="0" err="1"/>
              <a:t>j</a:t>
            </a:r>
            <a:r>
              <a:rPr lang="en-US" baseline="-25000" dirty="0"/>
              <a:t> </a:t>
            </a:r>
            <a:r>
              <a:rPr lang="en-US" dirty="0"/>
              <a:t>[m/s]</a:t>
            </a:r>
            <a:endParaRPr lang="en-US" baseline="-25000" dirty="0"/>
          </a:p>
          <a:p>
            <a:pPr marL="342900" indent="-342900">
              <a:buFont typeface="Arial" panose="020B0604020202020204" pitchFamily="34" charset="0"/>
              <a:buChar char="•"/>
            </a:pPr>
            <a:r>
              <a:rPr lang="en-US" dirty="0"/>
              <a:t>Mass diffusivity, D [m</a:t>
            </a:r>
            <a:r>
              <a:rPr lang="en-US" baseline="30000" dirty="0"/>
              <a:t>2</a:t>
            </a:r>
            <a:r>
              <a:rPr lang="en-US" dirty="0"/>
              <a:t>/s</a:t>
            </a:r>
            <a:r>
              <a:rPr lang="en-US" baseline="30000" dirty="0"/>
              <a:t>2</a:t>
            </a:r>
            <a:r>
              <a:rPr lang="en-US" dirty="0"/>
              <a:t>]</a:t>
            </a:r>
          </a:p>
          <a:p>
            <a:pPr marL="342900" indent="-342900">
              <a:buFont typeface="Arial" panose="020B0604020202020204" pitchFamily="34" charset="0"/>
              <a:buChar char="•"/>
            </a:pPr>
            <a:r>
              <a:rPr lang="en-US" dirty="0"/>
              <a:t>Dynamic viscosity, </a:t>
            </a:r>
            <a:r>
              <a:rPr lang="en-US" dirty="0">
                <a:latin typeface="Symbol" pitchFamily="2" charset="2"/>
              </a:rPr>
              <a:t>m</a:t>
            </a:r>
            <a:r>
              <a:rPr lang="en-US" dirty="0"/>
              <a:t> [kg/(m-s)]</a:t>
            </a:r>
          </a:p>
          <a:p>
            <a:pPr marL="342900" indent="-342900">
              <a:buFont typeface="Arial" panose="020B0604020202020204" pitchFamily="34" charset="0"/>
              <a:buChar char="•"/>
            </a:pPr>
            <a:r>
              <a:rPr lang="en-US" dirty="0"/>
              <a:t>Schmidt number, Sc</a:t>
            </a:r>
            <a:endParaRPr lang="en-US" dirty="0">
              <a:latin typeface="Symbol" pitchFamily="2" charset="2"/>
            </a:endParaRPr>
          </a:p>
        </p:txBody>
      </p:sp>
      <p:pic>
        <p:nvPicPr>
          <p:cNvPr id="5" name="Picture 4">
            <a:extLst>
              <a:ext uri="{FF2B5EF4-FFF2-40B4-BE49-F238E27FC236}">
                <a16:creationId xmlns:a16="http://schemas.microsoft.com/office/drawing/2014/main" id="{C5773EFA-FB6A-32C3-5311-75B062C638DB}"/>
              </a:ext>
            </a:extLst>
          </p:cNvPr>
          <p:cNvPicPr>
            <a:picLocks noChangeAspect="1"/>
          </p:cNvPicPr>
          <p:nvPr/>
        </p:nvPicPr>
        <p:blipFill>
          <a:blip r:embed="rId2"/>
          <a:stretch>
            <a:fillRect/>
          </a:stretch>
        </p:blipFill>
        <p:spPr>
          <a:xfrm>
            <a:off x="5261860" y="3585788"/>
            <a:ext cx="4546600" cy="685800"/>
          </a:xfrm>
          <a:prstGeom prst="rect">
            <a:avLst/>
          </a:prstGeom>
        </p:spPr>
      </p:pic>
      <p:pic>
        <p:nvPicPr>
          <p:cNvPr id="6" name="Picture 5">
            <a:extLst>
              <a:ext uri="{FF2B5EF4-FFF2-40B4-BE49-F238E27FC236}">
                <a16:creationId xmlns:a16="http://schemas.microsoft.com/office/drawing/2014/main" id="{6AC6D4E2-E586-B665-FBFD-4BB3A6CC7CCC}"/>
              </a:ext>
            </a:extLst>
          </p:cNvPr>
          <p:cNvPicPr>
            <a:picLocks noChangeAspect="1"/>
          </p:cNvPicPr>
          <p:nvPr/>
        </p:nvPicPr>
        <p:blipFill>
          <a:blip r:embed="rId3"/>
          <a:stretch>
            <a:fillRect/>
          </a:stretch>
        </p:blipFill>
        <p:spPr>
          <a:xfrm>
            <a:off x="3545253" y="2186367"/>
            <a:ext cx="4559300" cy="685800"/>
          </a:xfrm>
          <a:prstGeom prst="rect">
            <a:avLst/>
          </a:prstGeom>
        </p:spPr>
      </p:pic>
      <p:pic>
        <p:nvPicPr>
          <p:cNvPr id="7" name="Picture 6">
            <a:extLst>
              <a:ext uri="{FF2B5EF4-FFF2-40B4-BE49-F238E27FC236}">
                <a16:creationId xmlns:a16="http://schemas.microsoft.com/office/drawing/2014/main" id="{9714CD23-57C7-87E4-07A4-55AF2D4BC465}"/>
              </a:ext>
            </a:extLst>
          </p:cNvPr>
          <p:cNvPicPr>
            <a:picLocks noChangeAspect="1"/>
          </p:cNvPicPr>
          <p:nvPr/>
        </p:nvPicPr>
        <p:blipFill>
          <a:blip r:embed="rId4"/>
          <a:stretch>
            <a:fillRect/>
          </a:stretch>
        </p:blipFill>
        <p:spPr>
          <a:xfrm>
            <a:off x="9130811" y="2268917"/>
            <a:ext cx="1092200" cy="520700"/>
          </a:xfrm>
          <a:prstGeom prst="rect">
            <a:avLst/>
          </a:prstGeom>
        </p:spPr>
      </p:pic>
      <p:sp>
        <p:nvSpPr>
          <p:cNvPr id="8" name="TextBox 7">
            <a:extLst>
              <a:ext uri="{FF2B5EF4-FFF2-40B4-BE49-F238E27FC236}">
                <a16:creationId xmlns:a16="http://schemas.microsoft.com/office/drawing/2014/main" id="{8198DA89-AF17-C244-1C41-4A7B2D51631F}"/>
              </a:ext>
            </a:extLst>
          </p:cNvPr>
          <p:cNvSpPr txBox="1"/>
          <p:nvPr/>
        </p:nvSpPr>
        <p:spPr>
          <a:xfrm>
            <a:off x="6658708" y="6166338"/>
            <a:ext cx="0" cy="0"/>
          </a:xfrm>
          <a:prstGeom prst="rect">
            <a:avLst/>
          </a:prstGeom>
        </p:spPr>
        <p:txBody>
          <a:bodyPr vert="horz" wrap="none" lIns="91440" tIns="45720" rIns="91440" bIns="45720" rtlCol="0">
            <a:noAutofit/>
          </a:bodyPr>
          <a:lstStyle/>
          <a:p>
            <a:pPr algn="l"/>
            <a:endParaRPr lang="en-US" dirty="0"/>
          </a:p>
        </p:txBody>
      </p:sp>
      <p:cxnSp>
        <p:nvCxnSpPr>
          <p:cNvPr id="10" name="Straight Arrow Connector 9">
            <a:extLst>
              <a:ext uri="{FF2B5EF4-FFF2-40B4-BE49-F238E27FC236}">
                <a16:creationId xmlns:a16="http://schemas.microsoft.com/office/drawing/2014/main" id="{22C95A5E-6456-BF75-757B-16F0706EB692}"/>
              </a:ext>
            </a:extLst>
          </p:cNvPr>
          <p:cNvCxnSpPr>
            <a:cxnSpLocks/>
          </p:cNvCxnSpPr>
          <p:nvPr/>
        </p:nvCxnSpPr>
        <p:spPr>
          <a:xfrm flipV="1">
            <a:off x="5472876" y="4349262"/>
            <a:ext cx="0" cy="796432"/>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968AC2D6-E75D-A9F0-D203-FB8DF44688EB}"/>
              </a:ext>
            </a:extLst>
          </p:cNvPr>
          <p:cNvSpPr txBox="1"/>
          <p:nvPr/>
        </p:nvSpPr>
        <p:spPr>
          <a:xfrm>
            <a:off x="2672864" y="5199189"/>
            <a:ext cx="0" cy="0"/>
          </a:xfrm>
          <a:prstGeom prst="rect">
            <a:avLst/>
          </a:prstGeom>
        </p:spPr>
        <p:txBody>
          <a:bodyPr vert="horz" wrap="none" lIns="91440" tIns="45720" rIns="91440" bIns="45720" rtlCol="0">
            <a:noAutofit/>
          </a:bodyPr>
          <a:lstStyle/>
          <a:p>
            <a:pPr algn="l"/>
            <a:r>
              <a:rPr lang="en-US" dirty="0"/>
              <a:t>Time term, or “accumulation”</a:t>
            </a:r>
          </a:p>
        </p:txBody>
      </p:sp>
      <p:sp>
        <p:nvSpPr>
          <p:cNvPr id="16" name="TextBox 15">
            <a:extLst>
              <a:ext uri="{FF2B5EF4-FFF2-40B4-BE49-F238E27FC236}">
                <a16:creationId xmlns:a16="http://schemas.microsoft.com/office/drawing/2014/main" id="{DFDEB79D-A80C-23F6-41AE-CDD79289877C}"/>
              </a:ext>
            </a:extLst>
          </p:cNvPr>
          <p:cNvSpPr txBox="1"/>
          <p:nvPr/>
        </p:nvSpPr>
        <p:spPr>
          <a:xfrm>
            <a:off x="6107729" y="5199189"/>
            <a:ext cx="0" cy="0"/>
          </a:xfrm>
          <a:prstGeom prst="rect">
            <a:avLst/>
          </a:prstGeom>
        </p:spPr>
        <p:txBody>
          <a:bodyPr vert="horz" wrap="none" lIns="91440" tIns="45720" rIns="91440" bIns="45720" rtlCol="0">
            <a:noAutofit/>
          </a:bodyPr>
          <a:lstStyle/>
          <a:p>
            <a:pPr algn="l"/>
            <a:r>
              <a:rPr lang="en-US" dirty="0"/>
              <a:t>advection</a:t>
            </a:r>
          </a:p>
        </p:txBody>
      </p:sp>
      <p:cxnSp>
        <p:nvCxnSpPr>
          <p:cNvPr id="18" name="Straight Arrow Connector 17">
            <a:extLst>
              <a:ext uri="{FF2B5EF4-FFF2-40B4-BE49-F238E27FC236}">
                <a16:creationId xmlns:a16="http://schemas.microsoft.com/office/drawing/2014/main" id="{84C1223C-9FAC-A10C-E92E-6512522F3027}"/>
              </a:ext>
            </a:extLst>
          </p:cNvPr>
          <p:cNvCxnSpPr>
            <a:cxnSpLocks/>
          </p:cNvCxnSpPr>
          <p:nvPr/>
        </p:nvCxnSpPr>
        <p:spPr>
          <a:xfrm flipV="1">
            <a:off x="6434168" y="4349262"/>
            <a:ext cx="0" cy="796432"/>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EF360140-F6D5-09FF-DA55-A183F10C61DE}"/>
              </a:ext>
            </a:extLst>
          </p:cNvPr>
          <p:cNvCxnSpPr>
            <a:cxnSpLocks/>
          </p:cNvCxnSpPr>
          <p:nvPr/>
        </p:nvCxnSpPr>
        <p:spPr>
          <a:xfrm flipV="1">
            <a:off x="8104553" y="4349262"/>
            <a:ext cx="0" cy="796432"/>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877AF522-3B04-3740-92B0-1CBBFC2E41CB}"/>
              </a:ext>
            </a:extLst>
          </p:cNvPr>
          <p:cNvCxnSpPr>
            <a:cxnSpLocks/>
          </p:cNvCxnSpPr>
          <p:nvPr/>
        </p:nvCxnSpPr>
        <p:spPr>
          <a:xfrm flipV="1">
            <a:off x="9581661" y="4271588"/>
            <a:ext cx="0" cy="796432"/>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A8354BC1-EEF6-A588-DE06-0CD9A02041B5}"/>
              </a:ext>
            </a:extLst>
          </p:cNvPr>
          <p:cNvSpPr txBox="1"/>
          <p:nvPr/>
        </p:nvSpPr>
        <p:spPr>
          <a:xfrm>
            <a:off x="7748958" y="5199189"/>
            <a:ext cx="0" cy="0"/>
          </a:xfrm>
          <a:prstGeom prst="rect">
            <a:avLst/>
          </a:prstGeom>
        </p:spPr>
        <p:txBody>
          <a:bodyPr vert="horz" wrap="none" lIns="91440" tIns="45720" rIns="91440" bIns="45720" rtlCol="0">
            <a:noAutofit/>
          </a:bodyPr>
          <a:lstStyle/>
          <a:p>
            <a:pPr algn="l"/>
            <a:r>
              <a:rPr lang="en-US" dirty="0"/>
              <a:t>diffusion</a:t>
            </a:r>
          </a:p>
        </p:txBody>
      </p:sp>
      <p:sp>
        <p:nvSpPr>
          <p:cNvPr id="22" name="TextBox 21">
            <a:extLst>
              <a:ext uri="{FF2B5EF4-FFF2-40B4-BE49-F238E27FC236}">
                <a16:creationId xmlns:a16="http://schemas.microsoft.com/office/drawing/2014/main" id="{4FD2E801-6AF5-6010-AA99-1FEDBAA4DA74}"/>
              </a:ext>
            </a:extLst>
          </p:cNvPr>
          <p:cNvSpPr txBox="1"/>
          <p:nvPr/>
        </p:nvSpPr>
        <p:spPr>
          <a:xfrm>
            <a:off x="9237786" y="5199189"/>
            <a:ext cx="0" cy="0"/>
          </a:xfrm>
          <a:prstGeom prst="rect">
            <a:avLst/>
          </a:prstGeom>
        </p:spPr>
        <p:txBody>
          <a:bodyPr vert="horz" wrap="none" lIns="91440" tIns="45720" rIns="91440" bIns="45720" rtlCol="0">
            <a:noAutofit/>
          </a:bodyPr>
          <a:lstStyle/>
          <a:p>
            <a:pPr algn="l"/>
            <a:r>
              <a:rPr lang="en-US" dirty="0"/>
              <a:t>source/sink term</a:t>
            </a:r>
          </a:p>
        </p:txBody>
      </p:sp>
      <p:pic>
        <p:nvPicPr>
          <p:cNvPr id="32" name="Picture 31">
            <a:extLst>
              <a:ext uri="{FF2B5EF4-FFF2-40B4-BE49-F238E27FC236}">
                <a16:creationId xmlns:a16="http://schemas.microsoft.com/office/drawing/2014/main" id="{EA468CF0-2105-B3B5-75C5-300BA24214AA}"/>
              </a:ext>
            </a:extLst>
          </p:cNvPr>
          <p:cNvPicPr>
            <a:picLocks noChangeAspect="1"/>
          </p:cNvPicPr>
          <p:nvPr/>
        </p:nvPicPr>
        <p:blipFill>
          <a:blip r:embed="rId5"/>
          <a:stretch>
            <a:fillRect/>
          </a:stretch>
        </p:blipFill>
        <p:spPr>
          <a:xfrm>
            <a:off x="4013200" y="5884256"/>
            <a:ext cx="4318000" cy="673100"/>
          </a:xfrm>
          <a:prstGeom prst="rect">
            <a:avLst/>
          </a:prstGeom>
        </p:spPr>
      </p:pic>
      <p:sp>
        <p:nvSpPr>
          <p:cNvPr id="33" name="TextBox 32">
            <a:extLst>
              <a:ext uri="{FF2B5EF4-FFF2-40B4-BE49-F238E27FC236}">
                <a16:creationId xmlns:a16="http://schemas.microsoft.com/office/drawing/2014/main" id="{EDB9D991-B52E-C17B-D70A-60D85B7273CD}"/>
              </a:ext>
            </a:extLst>
          </p:cNvPr>
          <p:cNvSpPr txBox="1"/>
          <p:nvPr/>
        </p:nvSpPr>
        <p:spPr>
          <a:xfrm>
            <a:off x="691662" y="6236677"/>
            <a:ext cx="0" cy="0"/>
          </a:xfrm>
          <a:prstGeom prst="rect">
            <a:avLst/>
          </a:prstGeom>
        </p:spPr>
        <p:txBody>
          <a:bodyPr vert="horz" wrap="none" lIns="91440" tIns="45720" rIns="91440" bIns="45720" rtlCol="0">
            <a:noAutofit/>
          </a:bodyPr>
          <a:lstStyle/>
          <a:p>
            <a:pPr algn="l"/>
            <a:r>
              <a:rPr lang="en-US" dirty="0"/>
              <a:t>Repeated Index Example</a:t>
            </a:r>
          </a:p>
        </p:txBody>
      </p:sp>
    </p:spTree>
    <p:extLst>
      <p:ext uri="{BB962C8B-B14F-4D97-AF65-F5344CB8AC3E}">
        <p14:creationId xmlns:p14="http://schemas.microsoft.com/office/powerpoint/2010/main" val="38822578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B3C7BD-4B04-73A8-FCFC-0A35849A25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AF890F-5B09-9A89-412C-27897960A509}"/>
              </a:ext>
            </a:extLst>
          </p:cNvPr>
          <p:cNvSpPr>
            <a:spLocks noGrp="1"/>
          </p:cNvSpPr>
          <p:nvPr>
            <p:ph type="title"/>
          </p:nvPr>
        </p:nvSpPr>
        <p:spPr/>
        <p:txBody>
          <a:bodyPr/>
          <a:lstStyle/>
          <a:p>
            <a:r>
              <a:rPr lang="en-US" dirty="0"/>
              <a:t>Partial Differential Equation: </a:t>
            </a:r>
            <a:br>
              <a:rPr lang="en-US" dirty="0"/>
            </a:br>
            <a:r>
              <a:rPr lang="en-US" dirty="0"/>
              <a:t>Transient Evolution of a Scalar with Advection</a:t>
            </a:r>
          </a:p>
        </p:txBody>
      </p:sp>
      <p:sp>
        <p:nvSpPr>
          <p:cNvPr id="3" name="Slide Number Placeholder 2">
            <a:extLst>
              <a:ext uri="{FF2B5EF4-FFF2-40B4-BE49-F238E27FC236}">
                <a16:creationId xmlns:a16="http://schemas.microsoft.com/office/drawing/2014/main" id="{0986628F-84C0-8B7F-71A7-239251E5C575}"/>
              </a:ext>
            </a:extLst>
          </p:cNvPr>
          <p:cNvSpPr>
            <a:spLocks noGrp="1"/>
          </p:cNvSpPr>
          <p:nvPr>
            <p:ph type="sldNum" sz="quarter" idx="10"/>
          </p:nvPr>
        </p:nvSpPr>
        <p:spPr/>
        <p:txBody>
          <a:bodyPr/>
          <a:lstStyle/>
          <a:p>
            <a:fld id="{4FAB73BC-B049-4115-A692-8D63A059BFB8}" type="slidenum">
              <a:rPr lang="en-US" smtClean="0"/>
              <a:pPr/>
              <a:t>4</a:t>
            </a:fld>
            <a:endParaRPr lang="en-US" dirty="0"/>
          </a:p>
        </p:txBody>
      </p:sp>
      <p:sp>
        <p:nvSpPr>
          <p:cNvPr id="4" name="Content Placeholder 3">
            <a:extLst>
              <a:ext uri="{FF2B5EF4-FFF2-40B4-BE49-F238E27FC236}">
                <a16:creationId xmlns:a16="http://schemas.microsoft.com/office/drawing/2014/main" id="{C1FBDF72-6FAB-A668-B3D7-360F33C7CC78}"/>
              </a:ext>
            </a:extLst>
          </p:cNvPr>
          <p:cNvSpPr>
            <a:spLocks noGrp="1"/>
          </p:cNvSpPr>
          <p:nvPr>
            <p:ph sz="quarter" idx="11"/>
          </p:nvPr>
        </p:nvSpPr>
        <p:spPr/>
        <p:txBody>
          <a:bodyPr/>
          <a:lstStyle/>
          <a:p>
            <a:r>
              <a:rPr lang="en-US" dirty="0"/>
              <a:t>General Transport Equation using Einstein notation, i.e., repeated index, for scalar </a:t>
            </a:r>
            <a:r>
              <a:rPr lang="en-US" dirty="0">
                <a:latin typeface="Symbol" pitchFamily="2" charset="2"/>
              </a:rPr>
              <a:t>f</a:t>
            </a:r>
          </a:p>
          <a:p>
            <a:endParaRPr lang="en-US" dirty="0">
              <a:latin typeface="Symbol" pitchFamily="2" charset="2"/>
            </a:endParaRPr>
          </a:p>
          <a:p>
            <a:pPr marL="342900" indent="-342900">
              <a:buFont typeface="Arial" panose="020B0604020202020204" pitchFamily="34" charset="0"/>
              <a:buChar char="•"/>
            </a:pPr>
            <a:r>
              <a:rPr lang="en-US" dirty="0"/>
              <a:t>Density, </a:t>
            </a:r>
            <a:r>
              <a:rPr lang="en-US" dirty="0">
                <a:latin typeface="Symbol" pitchFamily="2" charset="2"/>
              </a:rPr>
              <a:t>r [</a:t>
            </a:r>
            <a:r>
              <a:rPr lang="en-US" dirty="0"/>
              <a:t>kg/m</a:t>
            </a:r>
            <a:r>
              <a:rPr lang="en-US" baseline="30000" dirty="0"/>
              <a:t>3</a:t>
            </a:r>
            <a:r>
              <a:rPr lang="en-US" dirty="0"/>
              <a:t>]</a:t>
            </a:r>
            <a:endParaRPr lang="en-US" dirty="0">
              <a:latin typeface="Symbol" pitchFamily="2" charset="2"/>
            </a:endParaRPr>
          </a:p>
          <a:p>
            <a:pPr marL="342900" indent="-342900">
              <a:buFont typeface="Arial" panose="020B0604020202020204" pitchFamily="34" charset="0"/>
              <a:buChar char="•"/>
            </a:pPr>
            <a:r>
              <a:rPr lang="en-US" dirty="0"/>
              <a:t>Velocity, </a:t>
            </a:r>
            <a:r>
              <a:rPr lang="en-US" dirty="0" err="1"/>
              <a:t>u</a:t>
            </a:r>
            <a:r>
              <a:rPr lang="en-US" baseline="-25000" dirty="0" err="1"/>
              <a:t>j</a:t>
            </a:r>
            <a:r>
              <a:rPr lang="en-US" baseline="-25000" dirty="0"/>
              <a:t> </a:t>
            </a:r>
            <a:r>
              <a:rPr lang="en-US" dirty="0"/>
              <a:t>[m/s]</a:t>
            </a:r>
            <a:endParaRPr lang="en-US" baseline="-25000" dirty="0"/>
          </a:p>
          <a:p>
            <a:pPr marL="342900" indent="-342900">
              <a:buFont typeface="Arial" panose="020B0604020202020204" pitchFamily="34" charset="0"/>
              <a:buChar char="•"/>
            </a:pPr>
            <a:r>
              <a:rPr lang="en-US" dirty="0"/>
              <a:t>Mass diffusivity, D [m</a:t>
            </a:r>
            <a:r>
              <a:rPr lang="en-US" baseline="30000" dirty="0"/>
              <a:t>2</a:t>
            </a:r>
            <a:r>
              <a:rPr lang="en-US" dirty="0"/>
              <a:t>/s</a:t>
            </a:r>
            <a:r>
              <a:rPr lang="en-US" baseline="30000" dirty="0"/>
              <a:t>2</a:t>
            </a:r>
            <a:r>
              <a:rPr lang="en-US" dirty="0"/>
              <a:t>]</a:t>
            </a:r>
          </a:p>
          <a:p>
            <a:pPr marL="342900" indent="-342900">
              <a:buFont typeface="Arial" panose="020B0604020202020204" pitchFamily="34" charset="0"/>
              <a:buChar char="•"/>
            </a:pPr>
            <a:r>
              <a:rPr lang="en-US" dirty="0"/>
              <a:t>Dynamic viscosity, </a:t>
            </a:r>
            <a:r>
              <a:rPr lang="en-US" dirty="0">
                <a:latin typeface="Symbol" pitchFamily="2" charset="2"/>
              </a:rPr>
              <a:t>m</a:t>
            </a:r>
            <a:r>
              <a:rPr lang="en-US" dirty="0"/>
              <a:t> [kg/(m-s)]</a:t>
            </a:r>
          </a:p>
          <a:p>
            <a:pPr marL="342900" indent="-342900">
              <a:buFont typeface="Arial" panose="020B0604020202020204" pitchFamily="34" charset="0"/>
              <a:buChar char="•"/>
            </a:pPr>
            <a:r>
              <a:rPr lang="en-US" dirty="0"/>
              <a:t>Schmidt number, Sc</a:t>
            </a:r>
            <a:endParaRPr lang="en-US" dirty="0">
              <a:latin typeface="Symbol" pitchFamily="2" charset="2"/>
            </a:endParaRPr>
          </a:p>
        </p:txBody>
      </p:sp>
      <p:pic>
        <p:nvPicPr>
          <p:cNvPr id="5" name="Picture 4">
            <a:extLst>
              <a:ext uri="{FF2B5EF4-FFF2-40B4-BE49-F238E27FC236}">
                <a16:creationId xmlns:a16="http://schemas.microsoft.com/office/drawing/2014/main" id="{54083EC9-5C14-D0AD-7FD5-7B6CEE3B4A44}"/>
              </a:ext>
            </a:extLst>
          </p:cNvPr>
          <p:cNvPicPr>
            <a:picLocks noChangeAspect="1"/>
          </p:cNvPicPr>
          <p:nvPr/>
        </p:nvPicPr>
        <p:blipFill>
          <a:blip r:embed="rId2"/>
          <a:stretch>
            <a:fillRect/>
          </a:stretch>
        </p:blipFill>
        <p:spPr>
          <a:xfrm>
            <a:off x="682869" y="5105400"/>
            <a:ext cx="4546600" cy="685800"/>
          </a:xfrm>
          <a:prstGeom prst="rect">
            <a:avLst/>
          </a:prstGeom>
        </p:spPr>
      </p:pic>
      <p:sp>
        <p:nvSpPr>
          <p:cNvPr id="8" name="TextBox 7">
            <a:extLst>
              <a:ext uri="{FF2B5EF4-FFF2-40B4-BE49-F238E27FC236}">
                <a16:creationId xmlns:a16="http://schemas.microsoft.com/office/drawing/2014/main" id="{673E53A5-CFC4-334B-11DF-C8BF89D9A2A2}"/>
              </a:ext>
            </a:extLst>
          </p:cNvPr>
          <p:cNvSpPr txBox="1"/>
          <p:nvPr/>
        </p:nvSpPr>
        <p:spPr>
          <a:xfrm>
            <a:off x="6658708" y="6166338"/>
            <a:ext cx="0" cy="0"/>
          </a:xfrm>
          <a:prstGeom prst="rect">
            <a:avLst/>
          </a:prstGeom>
        </p:spPr>
        <p:txBody>
          <a:bodyPr vert="horz" wrap="none" lIns="91440" tIns="45720" rIns="91440" bIns="45720" rtlCol="0">
            <a:noAutofit/>
          </a:bodyPr>
          <a:lstStyle/>
          <a:p>
            <a:pPr algn="l"/>
            <a:endParaRPr lang="en-US" dirty="0"/>
          </a:p>
        </p:txBody>
      </p:sp>
      <p:cxnSp>
        <p:nvCxnSpPr>
          <p:cNvPr id="18" name="Straight Arrow Connector 17">
            <a:extLst>
              <a:ext uri="{FF2B5EF4-FFF2-40B4-BE49-F238E27FC236}">
                <a16:creationId xmlns:a16="http://schemas.microsoft.com/office/drawing/2014/main" id="{4C79F7C2-A265-0423-C8DD-0794B5AC0D4D}"/>
              </a:ext>
            </a:extLst>
          </p:cNvPr>
          <p:cNvCxnSpPr>
            <a:cxnSpLocks/>
          </p:cNvCxnSpPr>
          <p:nvPr/>
        </p:nvCxnSpPr>
        <p:spPr>
          <a:xfrm flipV="1">
            <a:off x="2956169" y="4623031"/>
            <a:ext cx="1349955" cy="1770433"/>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E15DE808-5700-96A1-08F0-C638FC916DB0}"/>
              </a:ext>
            </a:extLst>
          </p:cNvPr>
          <p:cNvCxnSpPr>
            <a:cxnSpLocks/>
          </p:cNvCxnSpPr>
          <p:nvPr/>
        </p:nvCxnSpPr>
        <p:spPr>
          <a:xfrm flipV="1">
            <a:off x="4341186" y="4623031"/>
            <a:ext cx="1349955" cy="1770433"/>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A14638EE-8104-856B-CF9D-01ADDA100F21}"/>
              </a:ext>
            </a:extLst>
          </p:cNvPr>
          <p:cNvSpPr txBox="1"/>
          <p:nvPr/>
        </p:nvSpPr>
        <p:spPr>
          <a:xfrm>
            <a:off x="5650527" y="4337540"/>
            <a:ext cx="0" cy="0"/>
          </a:xfrm>
          <a:prstGeom prst="rect">
            <a:avLst/>
          </a:prstGeom>
        </p:spPr>
        <p:txBody>
          <a:bodyPr vert="horz" wrap="none" lIns="91440" tIns="45720" rIns="91440" bIns="45720" rtlCol="0">
            <a:noAutofit/>
          </a:bodyPr>
          <a:lstStyle/>
          <a:p>
            <a:pPr algn="l"/>
            <a:r>
              <a:rPr lang="en-US" dirty="0"/>
              <a:t>0.0</a:t>
            </a:r>
          </a:p>
        </p:txBody>
      </p:sp>
      <p:sp>
        <p:nvSpPr>
          <p:cNvPr id="13" name="TextBox 12">
            <a:extLst>
              <a:ext uri="{FF2B5EF4-FFF2-40B4-BE49-F238E27FC236}">
                <a16:creationId xmlns:a16="http://schemas.microsoft.com/office/drawing/2014/main" id="{C3DB8E40-9F45-1CCD-1240-53EE35F8C5BC}"/>
              </a:ext>
            </a:extLst>
          </p:cNvPr>
          <p:cNvSpPr txBox="1"/>
          <p:nvPr/>
        </p:nvSpPr>
        <p:spPr>
          <a:xfrm>
            <a:off x="4314098" y="4325818"/>
            <a:ext cx="0" cy="0"/>
          </a:xfrm>
          <a:prstGeom prst="rect">
            <a:avLst/>
          </a:prstGeom>
        </p:spPr>
        <p:txBody>
          <a:bodyPr vert="horz" wrap="none" lIns="91440" tIns="45720" rIns="91440" bIns="45720" rtlCol="0">
            <a:noAutofit/>
          </a:bodyPr>
          <a:lstStyle/>
          <a:p>
            <a:pPr algn="l"/>
            <a:r>
              <a:rPr lang="en-US" dirty="0"/>
              <a:t>0.0</a:t>
            </a:r>
          </a:p>
        </p:txBody>
      </p:sp>
      <p:pic>
        <p:nvPicPr>
          <p:cNvPr id="17" name="Picture 16">
            <a:extLst>
              <a:ext uri="{FF2B5EF4-FFF2-40B4-BE49-F238E27FC236}">
                <a16:creationId xmlns:a16="http://schemas.microsoft.com/office/drawing/2014/main" id="{0F6C685A-D372-D5FF-D682-4A127A6471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54986" y="1850400"/>
            <a:ext cx="4668253" cy="4572000"/>
          </a:xfrm>
          <a:prstGeom prst="rect">
            <a:avLst/>
          </a:prstGeom>
        </p:spPr>
      </p:pic>
      <p:sp>
        <p:nvSpPr>
          <p:cNvPr id="25" name="TextBox 24">
            <a:extLst>
              <a:ext uri="{FF2B5EF4-FFF2-40B4-BE49-F238E27FC236}">
                <a16:creationId xmlns:a16="http://schemas.microsoft.com/office/drawing/2014/main" id="{C86EBCCA-F751-4761-EDD9-D0ADF94BE2BF}"/>
              </a:ext>
            </a:extLst>
          </p:cNvPr>
          <p:cNvSpPr txBox="1"/>
          <p:nvPr/>
        </p:nvSpPr>
        <p:spPr>
          <a:xfrm>
            <a:off x="9519559" y="1681827"/>
            <a:ext cx="0" cy="0"/>
          </a:xfrm>
          <a:prstGeom prst="rect">
            <a:avLst/>
          </a:prstGeom>
        </p:spPr>
        <p:txBody>
          <a:bodyPr vert="horz" wrap="none" lIns="91440" tIns="45720" rIns="91440" bIns="45720" rtlCol="0">
            <a:noAutofit/>
          </a:bodyPr>
          <a:lstStyle/>
          <a:p>
            <a:pPr algn="l"/>
            <a:r>
              <a:rPr lang="en-US" sz="2000" dirty="0">
                <a:latin typeface="Symbol" pitchFamily="2" charset="2"/>
                <a:ea typeface="Open Sans" panose="020B0606030504020204" pitchFamily="34" charset="0"/>
                <a:cs typeface="Open Sans" panose="020B0606030504020204" pitchFamily="34" charset="0"/>
              </a:rPr>
              <a:t>D</a:t>
            </a:r>
            <a:r>
              <a:rPr lang="en-US" sz="2000" dirty="0">
                <a:latin typeface="Open Sans" panose="020B0606030504020204" pitchFamily="34" charset="0"/>
                <a:ea typeface="Open Sans" panose="020B0606030504020204" pitchFamily="34" charset="0"/>
                <a:cs typeface="Open Sans" panose="020B0606030504020204" pitchFamily="34" charset="0"/>
              </a:rPr>
              <a:t>t</a:t>
            </a:r>
          </a:p>
        </p:txBody>
      </p:sp>
      <p:cxnSp>
        <p:nvCxnSpPr>
          <p:cNvPr id="26" name="Straight Arrow Connector 25">
            <a:extLst>
              <a:ext uri="{FF2B5EF4-FFF2-40B4-BE49-F238E27FC236}">
                <a16:creationId xmlns:a16="http://schemas.microsoft.com/office/drawing/2014/main" id="{0A85D17D-AA56-FDFF-608B-996C8E64183A}"/>
              </a:ext>
            </a:extLst>
          </p:cNvPr>
          <p:cNvCxnSpPr>
            <a:cxnSpLocks/>
          </p:cNvCxnSpPr>
          <p:nvPr/>
        </p:nvCxnSpPr>
        <p:spPr>
          <a:xfrm>
            <a:off x="6355043" y="3639378"/>
            <a:ext cx="1890885"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C0FF2FB5-D282-DD10-3931-528CD98684E8}"/>
              </a:ext>
            </a:extLst>
          </p:cNvPr>
          <p:cNvSpPr txBox="1"/>
          <p:nvPr/>
        </p:nvSpPr>
        <p:spPr>
          <a:xfrm>
            <a:off x="7157353" y="3271152"/>
            <a:ext cx="0" cy="0"/>
          </a:xfrm>
          <a:prstGeom prst="rect">
            <a:avLst/>
          </a:prstGeom>
        </p:spPr>
        <p:txBody>
          <a:bodyPr vert="horz" wrap="none" lIns="91440" tIns="45720" rIns="91440" bIns="45720" rtlCol="0">
            <a:noAutofit/>
          </a:bodyPr>
          <a:lstStyle/>
          <a:p>
            <a:pPr algn="l"/>
            <a:r>
              <a:rPr lang="en-US" sz="2000" dirty="0" err="1">
                <a:latin typeface="Open Sans" panose="020B0606030504020204" pitchFamily="34" charset="0"/>
                <a:ea typeface="Open Sans" panose="020B0606030504020204" pitchFamily="34" charset="0"/>
                <a:cs typeface="Open Sans" panose="020B0606030504020204" pitchFamily="34" charset="0"/>
              </a:rPr>
              <a:t>u</a:t>
            </a:r>
            <a:r>
              <a:rPr lang="en-US" sz="2000" baseline="-25000" dirty="0" err="1">
                <a:latin typeface="Open Sans" panose="020B0606030504020204" pitchFamily="34" charset="0"/>
                <a:ea typeface="Open Sans" panose="020B0606030504020204" pitchFamily="34" charset="0"/>
                <a:cs typeface="Open Sans" panose="020B0606030504020204" pitchFamily="34" charset="0"/>
              </a:rPr>
              <a:t>x</a:t>
            </a:r>
            <a:endParaRPr lang="en-US" sz="2000" baseline="-25000" dirty="0">
              <a:latin typeface="Open Sans" panose="020B0606030504020204" pitchFamily="34" charset="0"/>
              <a:ea typeface="Open Sans" panose="020B0606030504020204" pitchFamily="34" charset="0"/>
              <a:cs typeface="Open Sans" panose="020B0606030504020204" pitchFamily="34" charset="0"/>
            </a:endParaRPr>
          </a:p>
        </p:txBody>
      </p:sp>
      <p:cxnSp>
        <p:nvCxnSpPr>
          <p:cNvPr id="30" name="Straight Connector 29">
            <a:extLst>
              <a:ext uri="{FF2B5EF4-FFF2-40B4-BE49-F238E27FC236}">
                <a16:creationId xmlns:a16="http://schemas.microsoft.com/office/drawing/2014/main" id="{65BBF5CE-F2CB-5D95-53EF-68031330109B}"/>
              </a:ext>
            </a:extLst>
          </p:cNvPr>
          <p:cNvCxnSpPr>
            <a:cxnSpLocks/>
          </p:cNvCxnSpPr>
          <p:nvPr/>
        </p:nvCxnSpPr>
        <p:spPr>
          <a:xfrm flipH="1">
            <a:off x="9387087" y="1736270"/>
            <a:ext cx="1844" cy="201214"/>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9D7C516-E1C7-D7C9-C285-7ECB28795C05}"/>
              </a:ext>
            </a:extLst>
          </p:cNvPr>
          <p:cNvCxnSpPr>
            <a:cxnSpLocks/>
          </p:cNvCxnSpPr>
          <p:nvPr/>
        </p:nvCxnSpPr>
        <p:spPr>
          <a:xfrm flipH="1">
            <a:off x="9882384" y="1736270"/>
            <a:ext cx="1844" cy="201214"/>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305347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AD9D8-F40A-E401-095C-9F6813113C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B31B64-D574-3E8F-9428-3387D133B2FB}"/>
              </a:ext>
            </a:extLst>
          </p:cNvPr>
          <p:cNvSpPr>
            <a:spLocks noGrp="1"/>
          </p:cNvSpPr>
          <p:nvPr>
            <p:ph type="title"/>
          </p:nvPr>
        </p:nvSpPr>
        <p:spPr/>
        <p:txBody>
          <a:bodyPr/>
          <a:lstStyle/>
          <a:p>
            <a:r>
              <a:rPr lang="en-US" dirty="0"/>
              <a:t>Partial Differential Equation: </a:t>
            </a:r>
            <a:br>
              <a:rPr lang="en-US" dirty="0"/>
            </a:br>
            <a:r>
              <a:rPr lang="en-US" dirty="0"/>
              <a:t>Transient Evolution of a Scalar with Diffusion</a:t>
            </a:r>
          </a:p>
        </p:txBody>
      </p:sp>
      <p:sp>
        <p:nvSpPr>
          <p:cNvPr id="3" name="Slide Number Placeholder 2">
            <a:extLst>
              <a:ext uri="{FF2B5EF4-FFF2-40B4-BE49-F238E27FC236}">
                <a16:creationId xmlns:a16="http://schemas.microsoft.com/office/drawing/2014/main" id="{C6E0A94E-4544-00C3-4CFF-4838764C5732}"/>
              </a:ext>
            </a:extLst>
          </p:cNvPr>
          <p:cNvSpPr>
            <a:spLocks noGrp="1"/>
          </p:cNvSpPr>
          <p:nvPr>
            <p:ph type="sldNum" sz="quarter" idx="10"/>
          </p:nvPr>
        </p:nvSpPr>
        <p:spPr/>
        <p:txBody>
          <a:bodyPr/>
          <a:lstStyle/>
          <a:p>
            <a:fld id="{4FAB73BC-B049-4115-A692-8D63A059BFB8}" type="slidenum">
              <a:rPr lang="en-US" smtClean="0"/>
              <a:pPr/>
              <a:t>5</a:t>
            </a:fld>
            <a:endParaRPr lang="en-US" dirty="0"/>
          </a:p>
        </p:txBody>
      </p:sp>
      <p:sp>
        <p:nvSpPr>
          <p:cNvPr id="4" name="Content Placeholder 3">
            <a:extLst>
              <a:ext uri="{FF2B5EF4-FFF2-40B4-BE49-F238E27FC236}">
                <a16:creationId xmlns:a16="http://schemas.microsoft.com/office/drawing/2014/main" id="{222C2B0C-2C10-1580-9206-6C13409C5F21}"/>
              </a:ext>
            </a:extLst>
          </p:cNvPr>
          <p:cNvSpPr>
            <a:spLocks noGrp="1"/>
          </p:cNvSpPr>
          <p:nvPr>
            <p:ph sz="quarter" idx="11"/>
          </p:nvPr>
        </p:nvSpPr>
        <p:spPr/>
        <p:txBody>
          <a:bodyPr/>
          <a:lstStyle/>
          <a:p>
            <a:r>
              <a:rPr lang="en-US" dirty="0"/>
              <a:t>General Transport Equation using Einstein notation, i.e., repeated index, for scalar </a:t>
            </a:r>
            <a:r>
              <a:rPr lang="en-US" dirty="0">
                <a:latin typeface="Symbol" pitchFamily="2" charset="2"/>
              </a:rPr>
              <a:t>f</a:t>
            </a:r>
          </a:p>
          <a:p>
            <a:endParaRPr lang="en-US" dirty="0">
              <a:latin typeface="Symbol" pitchFamily="2" charset="2"/>
            </a:endParaRPr>
          </a:p>
          <a:p>
            <a:pPr marL="342900" indent="-342900">
              <a:buFont typeface="Arial" panose="020B0604020202020204" pitchFamily="34" charset="0"/>
              <a:buChar char="•"/>
            </a:pPr>
            <a:r>
              <a:rPr lang="en-US" dirty="0"/>
              <a:t>Density, </a:t>
            </a:r>
            <a:r>
              <a:rPr lang="en-US" dirty="0">
                <a:latin typeface="Symbol" pitchFamily="2" charset="2"/>
              </a:rPr>
              <a:t>r [</a:t>
            </a:r>
            <a:r>
              <a:rPr lang="en-US" dirty="0"/>
              <a:t>kg/m</a:t>
            </a:r>
            <a:r>
              <a:rPr lang="en-US" baseline="30000" dirty="0"/>
              <a:t>3</a:t>
            </a:r>
            <a:r>
              <a:rPr lang="en-US" dirty="0"/>
              <a:t>]</a:t>
            </a:r>
            <a:endParaRPr lang="en-US" dirty="0">
              <a:latin typeface="Symbol" pitchFamily="2" charset="2"/>
            </a:endParaRPr>
          </a:p>
          <a:p>
            <a:pPr marL="342900" indent="-342900">
              <a:buFont typeface="Arial" panose="020B0604020202020204" pitchFamily="34" charset="0"/>
              <a:buChar char="•"/>
            </a:pPr>
            <a:r>
              <a:rPr lang="en-US" dirty="0"/>
              <a:t>Velocity, </a:t>
            </a:r>
            <a:r>
              <a:rPr lang="en-US" dirty="0" err="1"/>
              <a:t>u</a:t>
            </a:r>
            <a:r>
              <a:rPr lang="en-US" baseline="-25000" dirty="0" err="1"/>
              <a:t>j</a:t>
            </a:r>
            <a:r>
              <a:rPr lang="en-US" baseline="-25000" dirty="0"/>
              <a:t> </a:t>
            </a:r>
            <a:r>
              <a:rPr lang="en-US" dirty="0"/>
              <a:t>[m/s]</a:t>
            </a:r>
            <a:endParaRPr lang="en-US" baseline="-25000" dirty="0"/>
          </a:p>
          <a:p>
            <a:pPr marL="342900" indent="-342900">
              <a:buFont typeface="Arial" panose="020B0604020202020204" pitchFamily="34" charset="0"/>
              <a:buChar char="•"/>
            </a:pPr>
            <a:r>
              <a:rPr lang="en-US" dirty="0"/>
              <a:t>Mass diffusivity, D [m</a:t>
            </a:r>
            <a:r>
              <a:rPr lang="en-US" baseline="30000" dirty="0"/>
              <a:t>2</a:t>
            </a:r>
            <a:r>
              <a:rPr lang="en-US" dirty="0"/>
              <a:t>/s</a:t>
            </a:r>
            <a:r>
              <a:rPr lang="en-US" baseline="30000" dirty="0"/>
              <a:t>2</a:t>
            </a:r>
            <a:r>
              <a:rPr lang="en-US" dirty="0"/>
              <a:t>]</a:t>
            </a:r>
          </a:p>
          <a:p>
            <a:pPr marL="342900" indent="-342900">
              <a:buFont typeface="Arial" panose="020B0604020202020204" pitchFamily="34" charset="0"/>
              <a:buChar char="•"/>
            </a:pPr>
            <a:r>
              <a:rPr lang="en-US" dirty="0"/>
              <a:t>Dynamic viscosity, </a:t>
            </a:r>
            <a:r>
              <a:rPr lang="en-US" dirty="0">
                <a:latin typeface="Symbol" pitchFamily="2" charset="2"/>
              </a:rPr>
              <a:t>m</a:t>
            </a:r>
            <a:r>
              <a:rPr lang="en-US" dirty="0"/>
              <a:t> [kg/(m-s)]</a:t>
            </a:r>
          </a:p>
          <a:p>
            <a:pPr marL="342900" indent="-342900">
              <a:buFont typeface="Arial" panose="020B0604020202020204" pitchFamily="34" charset="0"/>
              <a:buChar char="•"/>
            </a:pPr>
            <a:r>
              <a:rPr lang="en-US" dirty="0"/>
              <a:t>Schmidt number, Sc</a:t>
            </a:r>
            <a:endParaRPr lang="en-US" dirty="0">
              <a:latin typeface="Symbol" pitchFamily="2" charset="2"/>
            </a:endParaRPr>
          </a:p>
        </p:txBody>
      </p:sp>
      <p:pic>
        <p:nvPicPr>
          <p:cNvPr id="5" name="Picture 4">
            <a:extLst>
              <a:ext uri="{FF2B5EF4-FFF2-40B4-BE49-F238E27FC236}">
                <a16:creationId xmlns:a16="http://schemas.microsoft.com/office/drawing/2014/main" id="{643C39BD-73A0-7BD0-3BB5-FE1DA8F90AAE}"/>
              </a:ext>
            </a:extLst>
          </p:cNvPr>
          <p:cNvPicPr>
            <a:picLocks noChangeAspect="1"/>
          </p:cNvPicPr>
          <p:nvPr/>
        </p:nvPicPr>
        <p:blipFill>
          <a:blip r:embed="rId2"/>
          <a:stretch>
            <a:fillRect/>
          </a:stretch>
        </p:blipFill>
        <p:spPr>
          <a:xfrm>
            <a:off x="682869" y="5105400"/>
            <a:ext cx="4546600" cy="685800"/>
          </a:xfrm>
          <a:prstGeom prst="rect">
            <a:avLst/>
          </a:prstGeom>
        </p:spPr>
      </p:pic>
      <p:sp>
        <p:nvSpPr>
          <p:cNvPr id="8" name="TextBox 7">
            <a:extLst>
              <a:ext uri="{FF2B5EF4-FFF2-40B4-BE49-F238E27FC236}">
                <a16:creationId xmlns:a16="http://schemas.microsoft.com/office/drawing/2014/main" id="{B4B92983-4AD6-C5AC-D19B-AC418CB4D0D9}"/>
              </a:ext>
            </a:extLst>
          </p:cNvPr>
          <p:cNvSpPr txBox="1"/>
          <p:nvPr/>
        </p:nvSpPr>
        <p:spPr>
          <a:xfrm>
            <a:off x="6658708" y="6166338"/>
            <a:ext cx="0" cy="0"/>
          </a:xfrm>
          <a:prstGeom prst="rect">
            <a:avLst/>
          </a:prstGeom>
        </p:spPr>
        <p:txBody>
          <a:bodyPr vert="horz" wrap="none" lIns="91440" tIns="45720" rIns="91440" bIns="45720" rtlCol="0">
            <a:noAutofit/>
          </a:bodyPr>
          <a:lstStyle/>
          <a:p>
            <a:pPr algn="l"/>
            <a:endParaRPr lang="en-US" dirty="0"/>
          </a:p>
        </p:txBody>
      </p:sp>
      <p:cxnSp>
        <p:nvCxnSpPr>
          <p:cNvPr id="18" name="Straight Arrow Connector 17">
            <a:extLst>
              <a:ext uri="{FF2B5EF4-FFF2-40B4-BE49-F238E27FC236}">
                <a16:creationId xmlns:a16="http://schemas.microsoft.com/office/drawing/2014/main" id="{83112B51-05B3-C382-C2E5-CEA2EE7B7F8C}"/>
              </a:ext>
            </a:extLst>
          </p:cNvPr>
          <p:cNvCxnSpPr>
            <a:cxnSpLocks/>
          </p:cNvCxnSpPr>
          <p:nvPr/>
        </p:nvCxnSpPr>
        <p:spPr>
          <a:xfrm flipV="1">
            <a:off x="1192683" y="4623031"/>
            <a:ext cx="1349955" cy="1770433"/>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8D644D97-F214-C563-5A2E-95B281627F12}"/>
              </a:ext>
            </a:extLst>
          </p:cNvPr>
          <p:cNvCxnSpPr>
            <a:cxnSpLocks/>
          </p:cNvCxnSpPr>
          <p:nvPr/>
        </p:nvCxnSpPr>
        <p:spPr>
          <a:xfrm flipV="1">
            <a:off x="4341186" y="4623031"/>
            <a:ext cx="1349955" cy="1770433"/>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B9427FE6-2ED4-9065-A13C-3EA8E76F6977}"/>
              </a:ext>
            </a:extLst>
          </p:cNvPr>
          <p:cNvSpPr txBox="1"/>
          <p:nvPr/>
        </p:nvSpPr>
        <p:spPr>
          <a:xfrm>
            <a:off x="5650527" y="4337540"/>
            <a:ext cx="0" cy="0"/>
          </a:xfrm>
          <a:prstGeom prst="rect">
            <a:avLst/>
          </a:prstGeom>
        </p:spPr>
        <p:txBody>
          <a:bodyPr vert="horz" wrap="none" lIns="91440" tIns="45720" rIns="91440" bIns="45720" rtlCol="0">
            <a:noAutofit/>
          </a:bodyPr>
          <a:lstStyle/>
          <a:p>
            <a:pPr algn="l"/>
            <a:r>
              <a:rPr lang="en-US" dirty="0"/>
              <a:t>0.0</a:t>
            </a:r>
          </a:p>
        </p:txBody>
      </p:sp>
      <p:sp>
        <p:nvSpPr>
          <p:cNvPr id="13" name="TextBox 12">
            <a:extLst>
              <a:ext uri="{FF2B5EF4-FFF2-40B4-BE49-F238E27FC236}">
                <a16:creationId xmlns:a16="http://schemas.microsoft.com/office/drawing/2014/main" id="{FA933D2B-8F03-4222-756E-8E8100ACD594}"/>
              </a:ext>
            </a:extLst>
          </p:cNvPr>
          <p:cNvSpPr txBox="1"/>
          <p:nvPr/>
        </p:nvSpPr>
        <p:spPr>
          <a:xfrm>
            <a:off x="2550612" y="4325818"/>
            <a:ext cx="0" cy="0"/>
          </a:xfrm>
          <a:prstGeom prst="rect">
            <a:avLst/>
          </a:prstGeom>
        </p:spPr>
        <p:txBody>
          <a:bodyPr vert="horz" wrap="none" lIns="91440" tIns="45720" rIns="91440" bIns="45720" rtlCol="0">
            <a:noAutofit/>
          </a:bodyPr>
          <a:lstStyle/>
          <a:p>
            <a:pPr algn="l"/>
            <a:r>
              <a:rPr lang="en-US" dirty="0"/>
              <a:t>0.0</a:t>
            </a:r>
          </a:p>
        </p:txBody>
      </p:sp>
      <p:pic>
        <p:nvPicPr>
          <p:cNvPr id="24" name="Picture 23">
            <a:extLst>
              <a:ext uri="{FF2B5EF4-FFF2-40B4-BE49-F238E27FC236}">
                <a16:creationId xmlns:a16="http://schemas.microsoft.com/office/drawing/2014/main" id="{67764C36-4EAC-7033-8989-A9EAFB856D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80282" y="1850400"/>
            <a:ext cx="4668253" cy="4572000"/>
          </a:xfrm>
          <a:prstGeom prst="rect">
            <a:avLst/>
          </a:prstGeom>
        </p:spPr>
      </p:pic>
      <p:sp>
        <p:nvSpPr>
          <p:cNvPr id="6" name="TextBox 5">
            <a:extLst>
              <a:ext uri="{FF2B5EF4-FFF2-40B4-BE49-F238E27FC236}">
                <a16:creationId xmlns:a16="http://schemas.microsoft.com/office/drawing/2014/main" id="{98A70F79-8527-C4D6-A028-3161BDB97EEA}"/>
              </a:ext>
            </a:extLst>
          </p:cNvPr>
          <p:cNvSpPr txBox="1"/>
          <p:nvPr/>
        </p:nvSpPr>
        <p:spPr>
          <a:xfrm>
            <a:off x="10058402" y="2519871"/>
            <a:ext cx="0" cy="0"/>
          </a:xfrm>
          <a:prstGeom prst="rect">
            <a:avLst/>
          </a:prstGeom>
        </p:spPr>
        <p:txBody>
          <a:bodyPr vert="horz" wrap="none" lIns="91440" tIns="45720" rIns="91440" bIns="45720" rtlCol="0">
            <a:noAutofit/>
          </a:bodyPr>
          <a:lstStyle/>
          <a:p>
            <a:pPr algn="l"/>
            <a:r>
              <a:rPr lang="en-US" sz="2000" dirty="0">
                <a:latin typeface="Symbol" pitchFamily="2" charset="2"/>
                <a:ea typeface="Open Sans" panose="020B0606030504020204" pitchFamily="34" charset="0"/>
                <a:cs typeface="Open Sans" panose="020B0606030504020204" pitchFamily="34" charset="0"/>
              </a:rPr>
              <a:t>D</a:t>
            </a:r>
            <a:r>
              <a:rPr lang="en-US" sz="2000" dirty="0">
                <a:latin typeface="Open Sans" panose="020B0606030504020204" pitchFamily="34" charset="0"/>
                <a:ea typeface="Open Sans" panose="020B0606030504020204" pitchFamily="34" charset="0"/>
                <a:cs typeface="Open Sans" panose="020B0606030504020204" pitchFamily="34" charset="0"/>
              </a:rPr>
              <a:t>t</a:t>
            </a:r>
          </a:p>
        </p:txBody>
      </p:sp>
      <p:cxnSp>
        <p:nvCxnSpPr>
          <p:cNvPr id="7" name="Straight Connector 6">
            <a:extLst>
              <a:ext uri="{FF2B5EF4-FFF2-40B4-BE49-F238E27FC236}">
                <a16:creationId xmlns:a16="http://schemas.microsoft.com/office/drawing/2014/main" id="{5169AB62-A25F-A7B8-5AC5-D15F8FF74FA7}"/>
              </a:ext>
            </a:extLst>
          </p:cNvPr>
          <p:cNvCxnSpPr>
            <a:cxnSpLocks/>
          </p:cNvCxnSpPr>
          <p:nvPr/>
        </p:nvCxnSpPr>
        <p:spPr>
          <a:xfrm flipH="1">
            <a:off x="9844287" y="1986474"/>
            <a:ext cx="687641"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E403ADA-E22C-ED55-2C43-050C3A86AFBD}"/>
              </a:ext>
            </a:extLst>
          </p:cNvPr>
          <p:cNvCxnSpPr>
            <a:cxnSpLocks/>
          </p:cNvCxnSpPr>
          <p:nvPr/>
        </p:nvCxnSpPr>
        <p:spPr>
          <a:xfrm flipH="1">
            <a:off x="9844287" y="3281874"/>
            <a:ext cx="687641"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48669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80998-5A41-881C-719C-9D212E132A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1A3D17-416F-7D1F-D2D6-E385B527B40B}"/>
              </a:ext>
            </a:extLst>
          </p:cNvPr>
          <p:cNvSpPr>
            <a:spLocks noGrp="1"/>
          </p:cNvSpPr>
          <p:nvPr>
            <p:ph type="title"/>
          </p:nvPr>
        </p:nvSpPr>
        <p:spPr/>
        <p:txBody>
          <a:bodyPr/>
          <a:lstStyle/>
          <a:p>
            <a:r>
              <a:rPr lang="en-US" dirty="0"/>
              <a:t>Partial Differential Equation: </a:t>
            </a:r>
            <a:br>
              <a:rPr lang="en-US" dirty="0"/>
            </a:br>
            <a:r>
              <a:rPr lang="en-US" dirty="0"/>
              <a:t>Transient Heat Conduction</a:t>
            </a:r>
          </a:p>
        </p:txBody>
      </p:sp>
      <p:sp>
        <p:nvSpPr>
          <p:cNvPr id="3" name="Slide Number Placeholder 2">
            <a:extLst>
              <a:ext uri="{FF2B5EF4-FFF2-40B4-BE49-F238E27FC236}">
                <a16:creationId xmlns:a16="http://schemas.microsoft.com/office/drawing/2014/main" id="{7FF4E784-1004-4035-767F-5C00B46CC86C}"/>
              </a:ext>
            </a:extLst>
          </p:cNvPr>
          <p:cNvSpPr>
            <a:spLocks noGrp="1"/>
          </p:cNvSpPr>
          <p:nvPr>
            <p:ph type="sldNum" sz="quarter" idx="10"/>
          </p:nvPr>
        </p:nvSpPr>
        <p:spPr/>
        <p:txBody>
          <a:bodyPr/>
          <a:lstStyle/>
          <a:p>
            <a:fld id="{4FAB73BC-B049-4115-A692-8D63A059BFB8}" type="slidenum">
              <a:rPr lang="en-US" smtClean="0"/>
              <a:pPr/>
              <a:t>6</a:t>
            </a:fld>
            <a:endParaRPr lang="en-US" dirty="0"/>
          </a:p>
        </p:txBody>
      </p:sp>
      <p:sp>
        <p:nvSpPr>
          <p:cNvPr id="4" name="Content Placeholder 3">
            <a:extLst>
              <a:ext uri="{FF2B5EF4-FFF2-40B4-BE49-F238E27FC236}">
                <a16:creationId xmlns:a16="http://schemas.microsoft.com/office/drawing/2014/main" id="{58813FE6-A7BE-495E-0E90-2994406272D4}"/>
              </a:ext>
            </a:extLst>
          </p:cNvPr>
          <p:cNvSpPr>
            <a:spLocks noGrp="1"/>
          </p:cNvSpPr>
          <p:nvPr>
            <p:ph sz="quarter" idx="11"/>
          </p:nvPr>
        </p:nvSpPr>
        <p:spPr/>
        <p:txBody>
          <a:bodyPr/>
          <a:lstStyle/>
          <a:p>
            <a:r>
              <a:rPr lang="en-US" dirty="0"/>
              <a:t>Thermal Heat Conduction</a:t>
            </a:r>
            <a:endParaRPr lang="en-US" dirty="0">
              <a:latin typeface="Symbol" pitchFamily="2" charset="2"/>
            </a:endParaRPr>
          </a:p>
          <a:p>
            <a:endParaRPr lang="en-US" dirty="0">
              <a:latin typeface="Symbol" pitchFamily="2" charset="2"/>
            </a:endParaRPr>
          </a:p>
          <a:p>
            <a:pPr marL="342900" indent="-342900">
              <a:buFont typeface="Arial" panose="020B0604020202020204" pitchFamily="34" charset="0"/>
              <a:buChar char="•"/>
            </a:pPr>
            <a:r>
              <a:rPr lang="en-US" dirty="0"/>
              <a:t>Density, </a:t>
            </a:r>
            <a:r>
              <a:rPr lang="en-US" dirty="0">
                <a:latin typeface="Symbol" pitchFamily="2" charset="2"/>
              </a:rPr>
              <a:t>r [</a:t>
            </a:r>
            <a:r>
              <a:rPr lang="en-US" dirty="0"/>
              <a:t>kg/m</a:t>
            </a:r>
            <a:r>
              <a:rPr lang="en-US" baseline="30000" dirty="0"/>
              <a:t>3</a:t>
            </a:r>
            <a:r>
              <a:rPr lang="en-US" dirty="0"/>
              <a:t>]</a:t>
            </a:r>
            <a:endParaRPr lang="en-US" dirty="0">
              <a:latin typeface="Symbol" pitchFamily="2" charset="2"/>
            </a:endParaRPr>
          </a:p>
          <a:p>
            <a:pPr marL="342900" indent="-342900">
              <a:buFont typeface="Arial" panose="020B0604020202020204" pitchFamily="34" charset="0"/>
              <a:buChar char="•"/>
            </a:pPr>
            <a:r>
              <a:rPr lang="en-US" dirty="0"/>
              <a:t>Specific Heat, C</a:t>
            </a:r>
            <a:r>
              <a:rPr lang="en-US" baseline="-25000" dirty="0"/>
              <a:t>p </a:t>
            </a:r>
            <a:r>
              <a:rPr lang="en-US" dirty="0"/>
              <a:t>[J/(kg-K)]</a:t>
            </a:r>
          </a:p>
          <a:p>
            <a:pPr marL="342900" indent="-342900">
              <a:buFont typeface="Arial" panose="020B0604020202020204" pitchFamily="34" charset="0"/>
              <a:buChar char="•"/>
            </a:pPr>
            <a:r>
              <a:rPr lang="en-US" dirty="0"/>
              <a:t>Thermal conductivity, </a:t>
            </a:r>
            <a:r>
              <a:rPr lang="en-US" dirty="0">
                <a:latin typeface="Symbol" pitchFamily="2" charset="2"/>
              </a:rPr>
              <a:t>l</a:t>
            </a:r>
            <a:r>
              <a:rPr lang="en-US" dirty="0"/>
              <a:t> [W/(m-K)], 1W = 1 J/s</a:t>
            </a:r>
          </a:p>
          <a:p>
            <a:pPr marL="342900" indent="-342900">
              <a:buFont typeface="Arial" panose="020B0604020202020204" pitchFamily="34" charset="0"/>
              <a:buChar char="•"/>
            </a:pPr>
            <a:r>
              <a:rPr lang="en-US" dirty="0"/>
              <a:t>Heat flux vector, </a:t>
            </a:r>
            <a:r>
              <a:rPr lang="en-US" dirty="0" err="1"/>
              <a:t>q</a:t>
            </a:r>
            <a:r>
              <a:rPr lang="en-US" baseline="-25000" dirty="0" err="1"/>
              <a:t>j</a:t>
            </a:r>
            <a:endParaRPr lang="en-US" baseline="-25000" dirty="0"/>
          </a:p>
        </p:txBody>
      </p:sp>
      <p:sp>
        <p:nvSpPr>
          <p:cNvPr id="8" name="TextBox 7">
            <a:extLst>
              <a:ext uri="{FF2B5EF4-FFF2-40B4-BE49-F238E27FC236}">
                <a16:creationId xmlns:a16="http://schemas.microsoft.com/office/drawing/2014/main" id="{441BAC27-02CC-B113-F96F-827338785273}"/>
              </a:ext>
            </a:extLst>
          </p:cNvPr>
          <p:cNvSpPr txBox="1"/>
          <p:nvPr/>
        </p:nvSpPr>
        <p:spPr>
          <a:xfrm>
            <a:off x="6658708" y="6166338"/>
            <a:ext cx="0" cy="0"/>
          </a:xfrm>
          <a:prstGeom prst="rect">
            <a:avLst/>
          </a:prstGeom>
        </p:spPr>
        <p:txBody>
          <a:bodyPr vert="horz" wrap="none" lIns="91440" tIns="45720" rIns="91440" bIns="45720" rtlCol="0">
            <a:noAutofit/>
          </a:bodyPr>
          <a:lstStyle/>
          <a:p>
            <a:pPr algn="l"/>
            <a:endParaRPr lang="en-US" dirty="0"/>
          </a:p>
        </p:txBody>
      </p:sp>
      <p:pic>
        <p:nvPicPr>
          <p:cNvPr id="7" name="Picture 6">
            <a:extLst>
              <a:ext uri="{FF2B5EF4-FFF2-40B4-BE49-F238E27FC236}">
                <a16:creationId xmlns:a16="http://schemas.microsoft.com/office/drawing/2014/main" id="{7CEE1D3C-79BD-7CB0-B15D-71109F880A2F}"/>
              </a:ext>
            </a:extLst>
          </p:cNvPr>
          <p:cNvPicPr>
            <a:picLocks noChangeAspect="1"/>
          </p:cNvPicPr>
          <p:nvPr/>
        </p:nvPicPr>
        <p:blipFill>
          <a:blip r:embed="rId2"/>
          <a:stretch>
            <a:fillRect/>
          </a:stretch>
        </p:blipFill>
        <p:spPr>
          <a:xfrm>
            <a:off x="1113200" y="4469911"/>
            <a:ext cx="2298700" cy="1435100"/>
          </a:xfrm>
          <a:prstGeom prst="rect">
            <a:avLst/>
          </a:prstGeom>
        </p:spPr>
      </p:pic>
      <p:pic>
        <p:nvPicPr>
          <p:cNvPr id="9" name="Picture 53" descr="180TubeCHT">
            <a:extLst>
              <a:ext uri="{FF2B5EF4-FFF2-40B4-BE49-F238E27FC236}">
                <a16:creationId xmlns:a16="http://schemas.microsoft.com/office/drawing/2014/main" id="{E2E8BBF2-7F7E-812C-F806-667C0672DCFF}"/>
              </a:ext>
            </a:extLst>
          </p:cNvPr>
          <p:cNvPicPr>
            <a:picLocks noChangeAspect="1" noChangeArrowheads="1"/>
          </p:cNvPicPr>
          <p:nvPr/>
        </p:nvPicPr>
        <p:blipFill>
          <a:blip r:embed="rId3"/>
          <a:srcRect/>
          <a:stretch>
            <a:fillRect/>
          </a:stretch>
        </p:blipFill>
        <p:spPr bwMode="auto">
          <a:xfrm>
            <a:off x="7177726" y="1966667"/>
            <a:ext cx="3901074" cy="3715676"/>
          </a:xfrm>
          <a:prstGeom prst="rect">
            <a:avLst/>
          </a:prstGeom>
          <a:noFill/>
          <a:ln w="9525">
            <a:noFill/>
            <a:miter lim="800000"/>
            <a:headEnd/>
            <a:tailEnd/>
          </a:ln>
        </p:spPr>
      </p:pic>
      <p:cxnSp>
        <p:nvCxnSpPr>
          <p:cNvPr id="10" name="Straight Arrow Connector 9">
            <a:extLst>
              <a:ext uri="{FF2B5EF4-FFF2-40B4-BE49-F238E27FC236}">
                <a16:creationId xmlns:a16="http://schemas.microsoft.com/office/drawing/2014/main" id="{9EA7F138-A6A5-61C5-A8E9-D1265A87B85F}"/>
              </a:ext>
            </a:extLst>
          </p:cNvPr>
          <p:cNvCxnSpPr>
            <a:cxnSpLocks/>
          </p:cNvCxnSpPr>
          <p:nvPr/>
        </p:nvCxnSpPr>
        <p:spPr>
          <a:xfrm flipV="1">
            <a:off x="6096000" y="4418095"/>
            <a:ext cx="1349955" cy="1770433"/>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6332C7ED-C530-BD5F-A957-27BE81A771EF}"/>
              </a:ext>
            </a:extLst>
          </p:cNvPr>
          <p:cNvSpPr txBox="1"/>
          <p:nvPr/>
        </p:nvSpPr>
        <p:spPr>
          <a:xfrm>
            <a:off x="5369169" y="6377354"/>
            <a:ext cx="0" cy="0"/>
          </a:xfrm>
          <a:prstGeom prst="rect">
            <a:avLst/>
          </a:prstGeom>
        </p:spPr>
        <p:txBody>
          <a:bodyPr vert="horz" wrap="none" lIns="91440" tIns="45720" rIns="91440" bIns="45720" rtlCol="0">
            <a:noAutofit/>
          </a:bodyPr>
          <a:lstStyle/>
          <a:p>
            <a:pPr algn="l"/>
            <a:r>
              <a:rPr lang="en-US" dirty="0"/>
              <a:t>Thermal heat conduction (outer shell heated)</a:t>
            </a:r>
          </a:p>
        </p:txBody>
      </p:sp>
    </p:spTree>
    <p:extLst>
      <p:ext uri="{BB962C8B-B14F-4D97-AF65-F5344CB8AC3E}">
        <p14:creationId xmlns:p14="http://schemas.microsoft.com/office/powerpoint/2010/main" val="26620281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0CB5C-E3EB-351D-0365-51CEA870A197}"/>
              </a:ext>
            </a:extLst>
          </p:cNvPr>
          <p:cNvSpPr>
            <a:spLocks noGrp="1"/>
          </p:cNvSpPr>
          <p:nvPr>
            <p:ph type="title"/>
          </p:nvPr>
        </p:nvSpPr>
        <p:spPr/>
        <p:txBody>
          <a:bodyPr>
            <a:normAutofit/>
          </a:bodyPr>
          <a:lstStyle/>
          <a:p>
            <a:r>
              <a:rPr lang="en-US" dirty="0"/>
              <a:t>Variable Density, non-Isothermal Fluid Flow System</a:t>
            </a:r>
          </a:p>
        </p:txBody>
      </p:sp>
      <p:sp>
        <p:nvSpPr>
          <p:cNvPr id="3" name="Slide Number Placeholder 2">
            <a:extLst>
              <a:ext uri="{FF2B5EF4-FFF2-40B4-BE49-F238E27FC236}">
                <a16:creationId xmlns:a16="http://schemas.microsoft.com/office/drawing/2014/main" id="{15132145-812B-7A44-D3BB-B1198B9D84DE}"/>
              </a:ext>
            </a:extLst>
          </p:cNvPr>
          <p:cNvSpPr>
            <a:spLocks noGrp="1"/>
          </p:cNvSpPr>
          <p:nvPr>
            <p:ph type="sldNum" sz="quarter" idx="10"/>
          </p:nvPr>
        </p:nvSpPr>
        <p:spPr/>
        <p:txBody>
          <a:bodyPr/>
          <a:lstStyle/>
          <a:p>
            <a:fld id="{4FAB73BC-B049-4115-A692-8D63A059BFB8}" type="slidenum">
              <a:rPr lang="en-US" smtClean="0"/>
              <a:pPr/>
              <a:t>7</a:t>
            </a:fld>
            <a:endParaRPr lang="en-US" dirty="0"/>
          </a:p>
        </p:txBody>
      </p:sp>
      <p:sp>
        <p:nvSpPr>
          <p:cNvPr id="4" name="Content Placeholder 3">
            <a:extLst>
              <a:ext uri="{FF2B5EF4-FFF2-40B4-BE49-F238E27FC236}">
                <a16:creationId xmlns:a16="http://schemas.microsoft.com/office/drawing/2014/main" id="{AC483D1C-25C1-8144-1393-6550999390AA}"/>
              </a:ext>
            </a:extLst>
          </p:cNvPr>
          <p:cNvSpPr>
            <a:spLocks noGrp="1"/>
          </p:cNvSpPr>
          <p:nvPr>
            <p:ph sz="quarter" idx="11"/>
          </p:nvPr>
        </p:nvSpPr>
        <p:spPr>
          <a:xfrm>
            <a:off x="647700" y="1409699"/>
            <a:ext cx="7381178" cy="5347939"/>
          </a:xfrm>
        </p:spPr>
        <p:txBody>
          <a:bodyPr>
            <a:normAutofit/>
          </a:bodyPr>
          <a:lstStyle/>
          <a:p>
            <a:pPr marL="342900" indent="-342900">
              <a:buFont typeface="Arial" panose="020B0604020202020204" pitchFamily="34" charset="0"/>
              <a:buChar char="•"/>
            </a:pPr>
            <a:r>
              <a:rPr lang="en-US" dirty="0"/>
              <a:t>Consider the variable density (non-isothermal) equations of motion (momentum and continuity) with energy transport:</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endParaRPr lang="en-US" dirty="0"/>
          </a:p>
          <a:p>
            <a:r>
              <a:rPr lang="en-US" dirty="0"/>
              <a:t>          Equation of State (EOS) provides the P and </a:t>
            </a:r>
            <a:r>
              <a:rPr lang="en-US" dirty="0">
                <a:latin typeface="Symbol" pitchFamily="2" charset="2"/>
              </a:rPr>
              <a:t>r</a:t>
            </a:r>
            <a:r>
              <a:rPr lang="en-US" dirty="0"/>
              <a:t> relationship </a:t>
            </a:r>
          </a:p>
        </p:txBody>
      </p:sp>
      <p:pic>
        <p:nvPicPr>
          <p:cNvPr id="6" name="Picture 5">
            <a:extLst>
              <a:ext uri="{FF2B5EF4-FFF2-40B4-BE49-F238E27FC236}">
                <a16:creationId xmlns:a16="http://schemas.microsoft.com/office/drawing/2014/main" id="{AA46916A-F809-74FC-2519-B71EC0A97BB8}"/>
              </a:ext>
            </a:extLst>
          </p:cNvPr>
          <p:cNvPicPr>
            <a:picLocks noChangeAspect="1"/>
          </p:cNvPicPr>
          <p:nvPr/>
        </p:nvPicPr>
        <p:blipFill>
          <a:blip r:embed="rId2"/>
          <a:stretch>
            <a:fillRect/>
          </a:stretch>
        </p:blipFill>
        <p:spPr>
          <a:xfrm>
            <a:off x="272584" y="2212528"/>
            <a:ext cx="5842000" cy="2197100"/>
          </a:xfrm>
          <a:prstGeom prst="rect">
            <a:avLst/>
          </a:prstGeom>
        </p:spPr>
      </p:pic>
      <p:sp>
        <p:nvSpPr>
          <p:cNvPr id="7" name="Right Brace 6">
            <a:extLst>
              <a:ext uri="{FF2B5EF4-FFF2-40B4-BE49-F238E27FC236}">
                <a16:creationId xmlns:a16="http://schemas.microsoft.com/office/drawing/2014/main" id="{C0150493-AFC8-5BE4-0A06-89C73E003BBB}"/>
              </a:ext>
            </a:extLst>
          </p:cNvPr>
          <p:cNvSpPr/>
          <p:nvPr/>
        </p:nvSpPr>
        <p:spPr>
          <a:xfrm>
            <a:off x="5858123" y="2285922"/>
            <a:ext cx="631577" cy="2286155"/>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Rectangle 7">
            <a:extLst>
              <a:ext uri="{FF2B5EF4-FFF2-40B4-BE49-F238E27FC236}">
                <a16:creationId xmlns:a16="http://schemas.microsoft.com/office/drawing/2014/main" id="{28440CAB-2D1A-2897-65AC-929E52D63882}"/>
              </a:ext>
            </a:extLst>
          </p:cNvPr>
          <p:cNvSpPr/>
          <p:nvPr/>
        </p:nvSpPr>
        <p:spPr>
          <a:xfrm>
            <a:off x="6489700" y="3244333"/>
            <a:ext cx="1167307" cy="369332"/>
          </a:xfrm>
          <a:prstGeom prst="rect">
            <a:avLst/>
          </a:prstGeom>
        </p:spPr>
        <p:txBody>
          <a:bodyPr wrap="none">
            <a:spAutoFit/>
          </a:bodyPr>
          <a:lstStyle/>
          <a:p>
            <a:r>
              <a:rPr lang="en-US" u="sng" dirty="0">
                <a:latin typeface="Open Sans" panose="020B0606030504020204" pitchFamily="34" charset="0"/>
                <a:ea typeface="Open Sans" panose="020B0606030504020204" pitchFamily="34" charset="0"/>
                <a:cs typeface="Open Sans" panose="020B0606030504020204" pitchFamily="34" charset="0"/>
              </a:rPr>
              <a:t>(2+nDim)</a:t>
            </a:r>
          </a:p>
        </p:txBody>
      </p:sp>
      <p:pic>
        <p:nvPicPr>
          <p:cNvPr id="11" name="Picture 10">
            <a:extLst>
              <a:ext uri="{FF2B5EF4-FFF2-40B4-BE49-F238E27FC236}">
                <a16:creationId xmlns:a16="http://schemas.microsoft.com/office/drawing/2014/main" id="{7D4A7AFA-4FCF-D7CE-AE78-DA1B8AC00662}"/>
              </a:ext>
            </a:extLst>
          </p:cNvPr>
          <p:cNvPicPr>
            <a:picLocks noChangeAspect="1"/>
          </p:cNvPicPr>
          <p:nvPr/>
        </p:nvPicPr>
        <p:blipFill>
          <a:blip r:embed="rId3"/>
          <a:stretch>
            <a:fillRect/>
          </a:stretch>
        </p:blipFill>
        <p:spPr>
          <a:xfrm>
            <a:off x="114300" y="4771113"/>
            <a:ext cx="1066800" cy="584200"/>
          </a:xfrm>
          <a:prstGeom prst="rect">
            <a:avLst/>
          </a:prstGeom>
        </p:spPr>
      </p:pic>
      <p:sp>
        <p:nvSpPr>
          <p:cNvPr id="15" name="TextBox 14">
            <a:extLst>
              <a:ext uri="{FF2B5EF4-FFF2-40B4-BE49-F238E27FC236}">
                <a16:creationId xmlns:a16="http://schemas.microsoft.com/office/drawing/2014/main" id="{A64E6AC0-205E-ED3C-CE1E-241456ECCF6D}"/>
              </a:ext>
            </a:extLst>
          </p:cNvPr>
          <p:cNvSpPr txBox="1"/>
          <p:nvPr/>
        </p:nvSpPr>
        <p:spPr>
          <a:xfrm>
            <a:off x="8121109" y="2123268"/>
            <a:ext cx="0" cy="0"/>
          </a:xfrm>
          <a:prstGeom prst="rect">
            <a:avLst/>
          </a:prstGeom>
        </p:spPr>
        <p:txBody>
          <a:bodyPr vert="horz" wrap="none" lIns="91440" tIns="45720" rIns="91440" bIns="45720" rtlCol="0">
            <a:noAutofit/>
          </a:bodyPr>
          <a:lstStyle/>
          <a:p>
            <a:pPr algn="l"/>
            <a:r>
              <a:rPr lang="en-US" u="sng" dirty="0"/>
              <a:t>Constitutive Relationships</a:t>
            </a:r>
          </a:p>
        </p:txBody>
      </p:sp>
      <p:pic>
        <p:nvPicPr>
          <p:cNvPr id="16" name="Picture 15">
            <a:extLst>
              <a:ext uri="{FF2B5EF4-FFF2-40B4-BE49-F238E27FC236}">
                <a16:creationId xmlns:a16="http://schemas.microsoft.com/office/drawing/2014/main" id="{81EF67EB-F7E0-31AD-EA23-8D5256A6DB2F}"/>
              </a:ext>
            </a:extLst>
          </p:cNvPr>
          <p:cNvPicPr>
            <a:picLocks noChangeAspect="1"/>
          </p:cNvPicPr>
          <p:nvPr/>
        </p:nvPicPr>
        <p:blipFill>
          <a:blip r:embed="rId4"/>
          <a:stretch>
            <a:fillRect/>
          </a:stretch>
        </p:blipFill>
        <p:spPr>
          <a:xfrm>
            <a:off x="7707610" y="2518368"/>
            <a:ext cx="4292600" cy="3340100"/>
          </a:xfrm>
          <a:prstGeom prst="rect">
            <a:avLst/>
          </a:prstGeom>
        </p:spPr>
      </p:pic>
    </p:spTree>
    <p:extLst>
      <p:ext uri="{BB962C8B-B14F-4D97-AF65-F5344CB8AC3E}">
        <p14:creationId xmlns:p14="http://schemas.microsoft.com/office/powerpoint/2010/main" val="40760356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66EB2-7105-039A-F5F8-50C97C0AB6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475269-2878-3E1D-6241-BBFD3C2C2B4B}"/>
              </a:ext>
            </a:extLst>
          </p:cNvPr>
          <p:cNvSpPr>
            <a:spLocks noGrp="1"/>
          </p:cNvSpPr>
          <p:nvPr>
            <p:ph type="title"/>
          </p:nvPr>
        </p:nvSpPr>
        <p:spPr/>
        <p:txBody>
          <a:bodyPr/>
          <a:lstStyle/>
          <a:p>
            <a:r>
              <a:rPr lang="en-US" dirty="0"/>
              <a:t>Conserved vs Non-conserved Form</a:t>
            </a:r>
          </a:p>
        </p:txBody>
      </p:sp>
      <p:sp>
        <p:nvSpPr>
          <p:cNvPr id="3" name="Slide Number Placeholder 2">
            <a:extLst>
              <a:ext uri="{FF2B5EF4-FFF2-40B4-BE49-F238E27FC236}">
                <a16:creationId xmlns:a16="http://schemas.microsoft.com/office/drawing/2014/main" id="{65E459E1-69FB-3659-C87C-5CA610599B5F}"/>
              </a:ext>
            </a:extLst>
          </p:cNvPr>
          <p:cNvSpPr>
            <a:spLocks noGrp="1"/>
          </p:cNvSpPr>
          <p:nvPr>
            <p:ph type="sldNum" sz="quarter" idx="10"/>
          </p:nvPr>
        </p:nvSpPr>
        <p:spPr/>
        <p:txBody>
          <a:bodyPr/>
          <a:lstStyle/>
          <a:p>
            <a:fld id="{4FAB73BC-B049-4115-A692-8D63A059BFB8}" type="slidenum">
              <a:rPr lang="en-US" smtClean="0"/>
              <a:pPr/>
              <a:t>8</a:t>
            </a:fld>
            <a:endParaRPr lang="en-US" dirty="0"/>
          </a:p>
        </p:txBody>
      </p:sp>
      <p:sp>
        <p:nvSpPr>
          <p:cNvPr id="4" name="Content Placeholder 3">
            <a:extLst>
              <a:ext uri="{FF2B5EF4-FFF2-40B4-BE49-F238E27FC236}">
                <a16:creationId xmlns:a16="http://schemas.microsoft.com/office/drawing/2014/main" id="{B5DDCD7C-86E8-535D-E395-C6FBCA5C99D8}"/>
              </a:ext>
            </a:extLst>
          </p:cNvPr>
          <p:cNvSpPr>
            <a:spLocks noGrp="1"/>
          </p:cNvSpPr>
          <p:nvPr>
            <p:ph sz="quarter" idx="11"/>
          </p:nvPr>
        </p:nvSpPr>
        <p:spPr/>
        <p:txBody>
          <a:bodyPr/>
          <a:lstStyle/>
          <a:p>
            <a:r>
              <a:rPr lang="en-US" dirty="0"/>
              <a:t>For the so-called non-conserved form, chain-rule the advection term, while enforcing continuity:</a:t>
            </a:r>
            <a:endParaRPr lang="en-US" dirty="0">
              <a:latin typeface="Symbol" pitchFamily="2" charset="2"/>
            </a:endParaRPr>
          </a:p>
        </p:txBody>
      </p:sp>
      <p:pic>
        <p:nvPicPr>
          <p:cNvPr id="5" name="Picture 4">
            <a:extLst>
              <a:ext uri="{FF2B5EF4-FFF2-40B4-BE49-F238E27FC236}">
                <a16:creationId xmlns:a16="http://schemas.microsoft.com/office/drawing/2014/main" id="{007CA40A-20D5-6D66-0214-352C00EEB672}"/>
              </a:ext>
            </a:extLst>
          </p:cNvPr>
          <p:cNvPicPr>
            <a:picLocks noChangeAspect="1"/>
          </p:cNvPicPr>
          <p:nvPr/>
        </p:nvPicPr>
        <p:blipFill>
          <a:blip r:embed="rId2"/>
          <a:stretch>
            <a:fillRect/>
          </a:stretch>
        </p:blipFill>
        <p:spPr>
          <a:xfrm>
            <a:off x="1625600" y="2579077"/>
            <a:ext cx="4546600" cy="685800"/>
          </a:xfrm>
          <a:prstGeom prst="rect">
            <a:avLst/>
          </a:prstGeom>
        </p:spPr>
      </p:pic>
      <p:sp>
        <p:nvSpPr>
          <p:cNvPr id="8" name="TextBox 7">
            <a:extLst>
              <a:ext uri="{FF2B5EF4-FFF2-40B4-BE49-F238E27FC236}">
                <a16:creationId xmlns:a16="http://schemas.microsoft.com/office/drawing/2014/main" id="{C77EC242-87C4-6A39-CAD9-C1B807893490}"/>
              </a:ext>
            </a:extLst>
          </p:cNvPr>
          <p:cNvSpPr txBox="1"/>
          <p:nvPr/>
        </p:nvSpPr>
        <p:spPr>
          <a:xfrm>
            <a:off x="6658708" y="6166338"/>
            <a:ext cx="0" cy="0"/>
          </a:xfrm>
          <a:prstGeom prst="rect">
            <a:avLst/>
          </a:prstGeom>
        </p:spPr>
        <p:txBody>
          <a:bodyPr vert="horz" wrap="none" lIns="91440" tIns="45720" rIns="91440" bIns="45720" rtlCol="0">
            <a:noAutofit/>
          </a:bodyPr>
          <a:lstStyle/>
          <a:p>
            <a:pPr algn="l"/>
            <a:endParaRPr lang="en-US" dirty="0"/>
          </a:p>
        </p:txBody>
      </p:sp>
      <p:pic>
        <p:nvPicPr>
          <p:cNvPr id="11" name="Picture 10">
            <a:extLst>
              <a:ext uri="{FF2B5EF4-FFF2-40B4-BE49-F238E27FC236}">
                <a16:creationId xmlns:a16="http://schemas.microsoft.com/office/drawing/2014/main" id="{F8862BAF-0A59-CDC7-367A-8AA41E934B19}"/>
              </a:ext>
            </a:extLst>
          </p:cNvPr>
          <p:cNvPicPr>
            <a:picLocks noChangeAspect="1"/>
          </p:cNvPicPr>
          <p:nvPr/>
        </p:nvPicPr>
        <p:blipFill>
          <a:blip r:embed="rId3"/>
          <a:stretch>
            <a:fillRect/>
          </a:stretch>
        </p:blipFill>
        <p:spPr>
          <a:xfrm>
            <a:off x="2296886" y="4085004"/>
            <a:ext cx="7010400" cy="698500"/>
          </a:xfrm>
          <a:prstGeom prst="rect">
            <a:avLst/>
          </a:prstGeom>
        </p:spPr>
      </p:pic>
      <p:cxnSp>
        <p:nvCxnSpPr>
          <p:cNvPr id="12" name="Straight Arrow Connector 11">
            <a:extLst>
              <a:ext uri="{FF2B5EF4-FFF2-40B4-BE49-F238E27FC236}">
                <a16:creationId xmlns:a16="http://schemas.microsoft.com/office/drawing/2014/main" id="{88E1CE17-836A-114F-15DE-DB79F45CEA50}"/>
              </a:ext>
            </a:extLst>
          </p:cNvPr>
          <p:cNvCxnSpPr>
            <a:cxnSpLocks/>
          </p:cNvCxnSpPr>
          <p:nvPr/>
        </p:nvCxnSpPr>
        <p:spPr>
          <a:xfrm flipV="1">
            <a:off x="4822245" y="3549037"/>
            <a:ext cx="1349955" cy="1770433"/>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54A8D436-BECE-00A7-0A36-D01628A4D30A}"/>
              </a:ext>
            </a:extLst>
          </p:cNvPr>
          <p:cNvSpPr txBox="1"/>
          <p:nvPr/>
        </p:nvSpPr>
        <p:spPr>
          <a:xfrm>
            <a:off x="6302822" y="3298371"/>
            <a:ext cx="0" cy="0"/>
          </a:xfrm>
          <a:prstGeom prst="rect">
            <a:avLst/>
          </a:prstGeom>
        </p:spPr>
        <p:txBody>
          <a:bodyPr vert="horz" wrap="none" lIns="91440" tIns="45720" rIns="91440" bIns="45720" rtlCol="0">
            <a:noAutofit/>
          </a:bodyPr>
          <a:lstStyle/>
          <a:p>
            <a:pPr algn="l"/>
            <a:r>
              <a:rPr lang="en-US" dirty="0"/>
              <a:t>0.0</a:t>
            </a:r>
          </a:p>
        </p:txBody>
      </p:sp>
      <p:pic>
        <p:nvPicPr>
          <p:cNvPr id="17" name="Picture 16">
            <a:extLst>
              <a:ext uri="{FF2B5EF4-FFF2-40B4-BE49-F238E27FC236}">
                <a16:creationId xmlns:a16="http://schemas.microsoft.com/office/drawing/2014/main" id="{76E9F045-70F6-E857-3ED8-86A3743DEF96}"/>
              </a:ext>
            </a:extLst>
          </p:cNvPr>
          <p:cNvPicPr>
            <a:picLocks noChangeAspect="1"/>
          </p:cNvPicPr>
          <p:nvPr/>
        </p:nvPicPr>
        <p:blipFill>
          <a:blip r:embed="rId4"/>
          <a:stretch>
            <a:fillRect/>
          </a:stretch>
        </p:blipFill>
        <p:spPr>
          <a:xfrm>
            <a:off x="5600637" y="5694964"/>
            <a:ext cx="4686300" cy="698500"/>
          </a:xfrm>
          <a:prstGeom prst="rect">
            <a:avLst/>
          </a:prstGeom>
        </p:spPr>
      </p:pic>
      <p:cxnSp>
        <p:nvCxnSpPr>
          <p:cNvPr id="23" name="Straight Arrow Connector 22">
            <a:extLst>
              <a:ext uri="{FF2B5EF4-FFF2-40B4-BE49-F238E27FC236}">
                <a16:creationId xmlns:a16="http://schemas.microsoft.com/office/drawing/2014/main" id="{98AF6118-49BC-6F45-D10F-CC02A449AED6}"/>
              </a:ext>
            </a:extLst>
          </p:cNvPr>
          <p:cNvCxnSpPr>
            <a:cxnSpLocks/>
          </p:cNvCxnSpPr>
          <p:nvPr/>
        </p:nvCxnSpPr>
        <p:spPr>
          <a:xfrm>
            <a:off x="3053317" y="6050223"/>
            <a:ext cx="2193471"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855855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38A9D-24D7-F06D-8886-E73A06A283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2CF54A-93C2-BA21-2D7C-E0FD5746D945}"/>
              </a:ext>
            </a:extLst>
          </p:cNvPr>
          <p:cNvSpPr>
            <a:spLocks noGrp="1"/>
          </p:cNvSpPr>
          <p:nvPr>
            <p:ph type="title"/>
          </p:nvPr>
        </p:nvSpPr>
        <p:spPr/>
        <p:txBody>
          <a:bodyPr/>
          <a:lstStyle/>
          <a:p>
            <a:r>
              <a:rPr lang="en-US" dirty="0"/>
              <a:t>Incompressible Navier Stokes</a:t>
            </a:r>
          </a:p>
        </p:txBody>
      </p:sp>
      <p:sp>
        <p:nvSpPr>
          <p:cNvPr id="3" name="Slide Number Placeholder 2">
            <a:extLst>
              <a:ext uri="{FF2B5EF4-FFF2-40B4-BE49-F238E27FC236}">
                <a16:creationId xmlns:a16="http://schemas.microsoft.com/office/drawing/2014/main" id="{7F48B0C2-AE98-A013-5DE8-F6BB6890A2F1}"/>
              </a:ext>
            </a:extLst>
          </p:cNvPr>
          <p:cNvSpPr>
            <a:spLocks noGrp="1"/>
          </p:cNvSpPr>
          <p:nvPr>
            <p:ph type="sldNum" sz="quarter" idx="10"/>
          </p:nvPr>
        </p:nvSpPr>
        <p:spPr/>
        <p:txBody>
          <a:bodyPr/>
          <a:lstStyle/>
          <a:p>
            <a:fld id="{4FAB73BC-B049-4115-A692-8D63A059BFB8}" type="slidenum">
              <a:rPr lang="en-US" smtClean="0"/>
              <a:pPr/>
              <a:t>9</a:t>
            </a:fld>
            <a:endParaRPr lang="en-US" dirty="0"/>
          </a:p>
        </p:txBody>
      </p:sp>
      <p:sp>
        <p:nvSpPr>
          <p:cNvPr id="4" name="Content Placeholder 3">
            <a:extLst>
              <a:ext uri="{FF2B5EF4-FFF2-40B4-BE49-F238E27FC236}">
                <a16:creationId xmlns:a16="http://schemas.microsoft.com/office/drawing/2014/main" id="{CD2C50A7-111F-75ED-FC7B-1959D07A037E}"/>
              </a:ext>
            </a:extLst>
          </p:cNvPr>
          <p:cNvSpPr>
            <a:spLocks noGrp="1"/>
          </p:cNvSpPr>
          <p:nvPr>
            <p:ph sz="quarter" idx="11"/>
          </p:nvPr>
        </p:nvSpPr>
        <p:spPr/>
        <p:txBody>
          <a:bodyPr/>
          <a:lstStyle/>
          <a:p>
            <a:r>
              <a:rPr lang="en-US" dirty="0"/>
              <a:t>For a constant density and viscosity (in absence of a source term), we revert to the classic form:</a:t>
            </a:r>
            <a:endParaRPr lang="en-US" dirty="0">
              <a:latin typeface="Symbol" pitchFamily="2" charset="2"/>
            </a:endParaRPr>
          </a:p>
        </p:txBody>
      </p:sp>
      <p:sp>
        <p:nvSpPr>
          <p:cNvPr id="8" name="TextBox 7">
            <a:extLst>
              <a:ext uri="{FF2B5EF4-FFF2-40B4-BE49-F238E27FC236}">
                <a16:creationId xmlns:a16="http://schemas.microsoft.com/office/drawing/2014/main" id="{F824B71B-B065-0883-13C7-268439CE4AF6}"/>
              </a:ext>
            </a:extLst>
          </p:cNvPr>
          <p:cNvSpPr txBox="1"/>
          <p:nvPr/>
        </p:nvSpPr>
        <p:spPr>
          <a:xfrm>
            <a:off x="6658708" y="6166338"/>
            <a:ext cx="0" cy="0"/>
          </a:xfrm>
          <a:prstGeom prst="rect">
            <a:avLst/>
          </a:prstGeom>
        </p:spPr>
        <p:txBody>
          <a:bodyPr vert="horz" wrap="none" lIns="91440" tIns="45720" rIns="91440" bIns="45720" rtlCol="0">
            <a:noAutofit/>
          </a:bodyPr>
          <a:lstStyle/>
          <a:p>
            <a:pPr algn="l"/>
            <a:endParaRPr lang="en-US" dirty="0"/>
          </a:p>
        </p:txBody>
      </p:sp>
      <p:pic>
        <p:nvPicPr>
          <p:cNvPr id="6" name="Picture 5">
            <a:extLst>
              <a:ext uri="{FF2B5EF4-FFF2-40B4-BE49-F238E27FC236}">
                <a16:creationId xmlns:a16="http://schemas.microsoft.com/office/drawing/2014/main" id="{837C5157-C9C6-DAE4-DCE5-3104C577996B}"/>
              </a:ext>
            </a:extLst>
          </p:cNvPr>
          <p:cNvPicPr>
            <a:picLocks noChangeAspect="1"/>
          </p:cNvPicPr>
          <p:nvPr/>
        </p:nvPicPr>
        <p:blipFill>
          <a:blip r:embed="rId2"/>
          <a:srcRect r="37306" b="32419"/>
          <a:stretch/>
        </p:blipFill>
        <p:spPr>
          <a:xfrm>
            <a:off x="272584" y="2212528"/>
            <a:ext cx="3662602" cy="1484829"/>
          </a:xfrm>
          <a:prstGeom prst="rect">
            <a:avLst/>
          </a:prstGeom>
        </p:spPr>
      </p:pic>
      <p:cxnSp>
        <p:nvCxnSpPr>
          <p:cNvPr id="7" name="Straight Arrow Connector 6">
            <a:extLst>
              <a:ext uri="{FF2B5EF4-FFF2-40B4-BE49-F238E27FC236}">
                <a16:creationId xmlns:a16="http://schemas.microsoft.com/office/drawing/2014/main" id="{15B94FC0-E3B3-6026-6938-9CFCC448721D}"/>
              </a:ext>
            </a:extLst>
          </p:cNvPr>
          <p:cNvCxnSpPr>
            <a:cxnSpLocks/>
          </p:cNvCxnSpPr>
          <p:nvPr/>
        </p:nvCxnSpPr>
        <p:spPr>
          <a:xfrm flipV="1">
            <a:off x="1495949" y="2067339"/>
            <a:ext cx="558138" cy="667372"/>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2EAF370E-9599-289A-6562-E3024ECAEE55}"/>
              </a:ext>
            </a:extLst>
          </p:cNvPr>
          <p:cNvSpPr txBox="1"/>
          <p:nvPr/>
        </p:nvSpPr>
        <p:spPr>
          <a:xfrm>
            <a:off x="2160104" y="1855305"/>
            <a:ext cx="0" cy="0"/>
          </a:xfrm>
          <a:prstGeom prst="rect">
            <a:avLst/>
          </a:prstGeom>
        </p:spPr>
        <p:txBody>
          <a:bodyPr vert="horz" wrap="none" lIns="91440" tIns="45720" rIns="91440" bIns="45720" rtlCol="0">
            <a:noAutofit/>
          </a:bodyPr>
          <a:lstStyle/>
          <a:p>
            <a:pPr algn="l"/>
            <a:r>
              <a:rPr lang="en-US" dirty="0"/>
              <a:t>0.0</a:t>
            </a:r>
          </a:p>
        </p:txBody>
      </p:sp>
      <p:pic>
        <p:nvPicPr>
          <p:cNvPr id="15" name="Picture 14">
            <a:extLst>
              <a:ext uri="{FF2B5EF4-FFF2-40B4-BE49-F238E27FC236}">
                <a16:creationId xmlns:a16="http://schemas.microsoft.com/office/drawing/2014/main" id="{BD33D65E-B0E8-9282-75B1-D752780CB870}"/>
              </a:ext>
            </a:extLst>
          </p:cNvPr>
          <p:cNvPicPr>
            <a:picLocks noChangeAspect="1"/>
          </p:cNvPicPr>
          <p:nvPr/>
        </p:nvPicPr>
        <p:blipFill>
          <a:blip r:embed="rId3"/>
          <a:srcRect t="30537" b="46267"/>
          <a:stretch/>
        </p:blipFill>
        <p:spPr>
          <a:xfrm>
            <a:off x="5202949" y="2922578"/>
            <a:ext cx="4292600" cy="774779"/>
          </a:xfrm>
          <a:prstGeom prst="rect">
            <a:avLst/>
          </a:prstGeom>
        </p:spPr>
      </p:pic>
      <p:cxnSp>
        <p:nvCxnSpPr>
          <p:cNvPr id="16" name="Straight Arrow Connector 15">
            <a:extLst>
              <a:ext uri="{FF2B5EF4-FFF2-40B4-BE49-F238E27FC236}">
                <a16:creationId xmlns:a16="http://schemas.microsoft.com/office/drawing/2014/main" id="{5EA4D964-082D-A0CF-CC64-C455A862ADF0}"/>
              </a:ext>
            </a:extLst>
          </p:cNvPr>
          <p:cNvCxnSpPr>
            <a:cxnSpLocks/>
          </p:cNvCxnSpPr>
          <p:nvPr/>
        </p:nvCxnSpPr>
        <p:spPr>
          <a:xfrm flipV="1">
            <a:off x="8506587" y="2922578"/>
            <a:ext cx="558138" cy="667372"/>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8FA6DACC-AA84-C34B-D6BC-EB1AE7A9D914}"/>
              </a:ext>
            </a:extLst>
          </p:cNvPr>
          <p:cNvSpPr txBox="1"/>
          <p:nvPr/>
        </p:nvSpPr>
        <p:spPr>
          <a:xfrm>
            <a:off x="9170742" y="2710544"/>
            <a:ext cx="0" cy="0"/>
          </a:xfrm>
          <a:prstGeom prst="rect">
            <a:avLst/>
          </a:prstGeom>
        </p:spPr>
        <p:txBody>
          <a:bodyPr vert="horz" wrap="none" lIns="91440" tIns="45720" rIns="91440" bIns="45720" rtlCol="0">
            <a:noAutofit/>
          </a:bodyPr>
          <a:lstStyle/>
          <a:p>
            <a:pPr algn="l"/>
            <a:r>
              <a:rPr lang="en-US" dirty="0"/>
              <a:t>0.0</a:t>
            </a:r>
          </a:p>
        </p:txBody>
      </p:sp>
      <p:sp>
        <p:nvSpPr>
          <p:cNvPr id="21" name="TextBox 20">
            <a:extLst>
              <a:ext uri="{FF2B5EF4-FFF2-40B4-BE49-F238E27FC236}">
                <a16:creationId xmlns:a16="http://schemas.microsoft.com/office/drawing/2014/main" id="{CA6A96E7-527C-ED0B-7C2F-618CE3F8C173}"/>
              </a:ext>
            </a:extLst>
          </p:cNvPr>
          <p:cNvSpPr txBox="1"/>
          <p:nvPr/>
        </p:nvSpPr>
        <p:spPr>
          <a:xfrm>
            <a:off x="5633357" y="5274129"/>
            <a:ext cx="0" cy="0"/>
          </a:xfrm>
          <a:prstGeom prst="rect">
            <a:avLst/>
          </a:prstGeom>
        </p:spPr>
        <p:txBody>
          <a:bodyPr vert="horz" wrap="none" lIns="91440" tIns="45720" rIns="91440" bIns="45720" rtlCol="0">
            <a:noAutofit/>
          </a:bodyPr>
          <a:lstStyle/>
          <a:p>
            <a:pPr algn="l"/>
            <a:r>
              <a:rPr lang="en-US" dirty="0"/>
              <a:t>(trick)</a:t>
            </a:r>
          </a:p>
        </p:txBody>
      </p:sp>
      <p:pic>
        <p:nvPicPr>
          <p:cNvPr id="25" name="Picture 24">
            <a:extLst>
              <a:ext uri="{FF2B5EF4-FFF2-40B4-BE49-F238E27FC236}">
                <a16:creationId xmlns:a16="http://schemas.microsoft.com/office/drawing/2014/main" id="{69B707FB-D77B-5DF5-0740-938D9B301575}"/>
              </a:ext>
            </a:extLst>
          </p:cNvPr>
          <p:cNvPicPr>
            <a:picLocks noChangeAspect="1"/>
          </p:cNvPicPr>
          <p:nvPr/>
        </p:nvPicPr>
        <p:blipFill>
          <a:blip r:embed="rId4"/>
          <a:stretch>
            <a:fillRect/>
          </a:stretch>
        </p:blipFill>
        <p:spPr>
          <a:xfrm>
            <a:off x="647700" y="4291323"/>
            <a:ext cx="4038600" cy="1473200"/>
          </a:xfrm>
          <a:prstGeom prst="rect">
            <a:avLst/>
          </a:prstGeom>
        </p:spPr>
      </p:pic>
      <p:pic>
        <p:nvPicPr>
          <p:cNvPr id="27" name="Picture 26">
            <a:extLst>
              <a:ext uri="{FF2B5EF4-FFF2-40B4-BE49-F238E27FC236}">
                <a16:creationId xmlns:a16="http://schemas.microsoft.com/office/drawing/2014/main" id="{243384CC-EE66-7FE7-0710-FC657D0E1381}"/>
              </a:ext>
            </a:extLst>
          </p:cNvPr>
          <p:cNvPicPr>
            <a:picLocks noChangeAspect="1"/>
          </p:cNvPicPr>
          <p:nvPr/>
        </p:nvPicPr>
        <p:blipFill>
          <a:blip r:embed="rId5"/>
          <a:stretch>
            <a:fillRect/>
          </a:stretch>
        </p:blipFill>
        <p:spPr>
          <a:xfrm>
            <a:off x="6778542" y="5111750"/>
            <a:ext cx="2654300" cy="673100"/>
          </a:xfrm>
          <a:prstGeom prst="rect">
            <a:avLst/>
          </a:prstGeom>
        </p:spPr>
      </p:pic>
      <p:cxnSp>
        <p:nvCxnSpPr>
          <p:cNvPr id="28" name="Straight Arrow Connector 27">
            <a:extLst>
              <a:ext uri="{FF2B5EF4-FFF2-40B4-BE49-F238E27FC236}">
                <a16:creationId xmlns:a16="http://schemas.microsoft.com/office/drawing/2014/main" id="{A3E9A338-86E3-9420-462C-9A3A576A548A}"/>
              </a:ext>
            </a:extLst>
          </p:cNvPr>
          <p:cNvCxnSpPr>
            <a:cxnSpLocks/>
          </p:cNvCxnSpPr>
          <p:nvPr/>
        </p:nvCxnSpPr>
        <p:spPr>
          <a:xfrm flipV="1">
            <a:off x="8871260" y="5083389"/>
            <a:ext cx="558138" cy="667372"/>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3F50DEB4-BDCA-C603-7520-ED8EBBBF3249}"/>
              </a:ext>
            </a:extLst>
          </p:cNvPr>
          <p:cNvSpPr txBox="1"/>
          <p:nvPr/>
        </p:nvSpPr>
        <p:spPr>
          <a:xfrm>
            <a:off x="9535415" y="4871355"/>
            <a:ext cx="0" cy="0"/>
          </a:xfrm>
          <a:prstGeom prst="rect">
            <a:avLst/>
          </a:prstGeom>
        </p:spPr>
        <p:txBody>
          <a:bodyPr vert="horz" wrap="none" lIns="91440" tIns="45720" rIns="91440" bIns="45720" rtlCol="0">
            <a:noAutofit/>
          </a:bodyPr>
          <a:lstStyle/>
          <a:p>
            <a:pPr algn="l"/>
            <a:r>
              <a:rPr lang="en-US" dirty="0"/>
              <a:t>0.0</a:t>
            </a:r>
          </a:p>
        </p:txBody>
      </p:sp>
    </p:spTree>
    <p:extLst>
      <p:ext uri="{BB962C8B-B14F-4D97-AF65-F5344CB8AC3E}">
        <p14:creationId xmlns:p14="http://schemas.microsoft.com/office/powerpoint/2010/main" val="421574393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Sandia Angles">
  <a:themeElements>
    <a:clrScheme name="SandiaBrandTheme">
      <a:dk1>
        <a:srgbClr val="3C3C3C"/>
      </a:dk1>
      <a:lt1>
        <a:srgbClr val="FFFFFF"/>
      </a:lt1>
      <a:dk2>
        <a:srgbClr val="005376"/>
      </a:dk2>
      <a:lt2>
        <a:srgbClr val="FFFFFF"/>
      </a:lt2>
      <a:accent1>
        <a:srgbClr val="00ADD0"/>
      </a:accent1>
      <a:accent2>
        <a:srgbClr val="6CB312"/>
      </a:accent2>
      <a:accent3>
        <a:srgbClr val="FFA033"/>
      </a:accent3>
      <a:accent4>
        <a:srgbClr val="008E74"/>
      </a:accent4>
      <a:accent5>
        <a:srgbClr val="A92C00"/>
      </a:accent5>
      <a:accent6>
        <a:srgbClr val="7D0D7C"/>
      </a:accent6>
      <a:hlink>
        <a:srgbClr val="27ADCF"/>
      </a:hlink>
      <a:folHlink>
        <a:srgbClr val="2588BA"/>
      </a:folHlink>
    </a:clrScheme>
    <a:fontScheme name="Open Sans Bold &amp; light">
      <a:majorFont>
        <a:latin typeface="Open Sans bold"/>
        <a:ea typeface=""/>
        <a:cs typeface=""/>
      </a:majorFont>
      <a:minorFont>
        <a:latin typeface="Open Sans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oAutofit/>
      </a:bodyPr>
      <a:lstStyle>
        <a:defPPr algn="l">
          <a:defRPr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6910</TotalTime>
  <Words>474</Words>
  <Application>Microsoft Macintosh PowerPoint</Application>
  <PresentationFormat>Widescreen</PresentationFormat>
  <Paragraphs>94</Paragraphs>
  <Slides>9</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Open Sans</vt:lpstr>
      <vt:lpstr>Courier New</vt:lpstr>
      <vt:lpstr>Symbol</vt:lpstr>
      <vt:lpstr>Open Sans bold</vt:lpstr>
      <vt:lpstr>Arial</vt:lpstr>
      <vt:lpstr>Calibri</vt:lpstr>
      <vt:lpstr>Wingdings</vt:lpstr>
      <vt:lpstr>Sandia Angles</vt:lpstr>
      <vt:lpstr>ME469: Review of Partial  Differential Equations</vt:lpstr>
      <vt:lpstr>Equation Review</vt:lpstr>
      <vt:lpstr>Partial Differential Equation:  Transient Evolution of a Scalar with Advection, Diffusion, and Source</vt:lpstr>
      <vt:lpstr>Partial Differential Equation:  Transient Evolution of a Scalar with Advection</vt:lpstr>
      <vt:lpstr>Partial Differential Equation:  Transient Evolution of a Scalar with Diffusion</vt:lpstr>
      <vt:lpstr>Partial Differential Equation:  Transient Heat Conduction</vt:lpstr>
      <vt:lpstr>Variable Density, non-Isothermal Fluid Flow System</vt:lpstr>
      <vt:lpstr>Conserved vs Non-conserved Form</vt:lpstr>
      <vt:lpstr>Incompressible Navier Stokes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Rejeki Lancar</dc:creator>
  <cp:lastModifiedBy>Domino, Stefan Paul</cp:lastModifiedBy>
  <cp:revision>630</cp:revision>
  <cp:lastPrinted>2024-04-01T21:09:09Z</cp:lastPrinted>
  <dcterms:created xsi:type="dcterms:W3CDTF">2018-07-21T13:25:45Z</dcterms:created>
  <dcterms:modified xsi:type="dcterms:W3CDTF">2025-03-26T17:47:55Z</dcterms:modified>
</cp:coreProperties>
</file>